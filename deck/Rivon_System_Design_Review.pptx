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DECK EXISTS
The system design was built on assumptions that had not been tested. Four parallel research threads tested them. Three of the original assumptions turned out to be wrong, and one of my own stated justifications was wrong too.
This deck presents the revised design plus the evidence that changed it. Every design decision has a reason attached - that is what the notes on each slide carry.
THE HONEST FRAME: research that only confirms your plan is not worth commissioning. This research contradicted the plan in four places. That is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one platform, tenant picks a mode at signup - NOT two products.
WHY: the shared foundation (channels, conversations, contact record, tickets, ratings, retention) is identical in both modes. Building it twice would be the classic fork failure - two products and half the engineering time.
BUT THE RESEARCH PUSHED BACK, and it was right: the shared layer is the CHEAP part. The valuable parts - feasibility and quoting on one side, catalogue and orders on the other - share almost nothing. So my earlier "60% is shared" figure was too comfortable.
REVISED DECISION: sequence rather than abandon. Service mode is v1. Product mode stays fully designed - ports, adapters, all diagrams - but moves to phase 2.
FOUR INDEPENDENT REASONS for service-first:
1. Meta launched a free AI agent inside WhatsApp in June 2026 that covers product mode's common case
2. Product mode faces dozens of funded competitors
3. The feasibility differentiator is unoccupied by every product examined
4. A quote is worth hundreds or thousands to an installer; "where is my parcel" is worth a few euros to a shop. Better revenue, lower churn.
WHAT IS NOT SUPPORTED IN V1: a tenant being both modes at once. A solar firm selling panels online AND quoting installations is a real shape, but one conversation needing both paths is a routing problem we are not solving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REASONING BEHIND EACH REVERSAL.
1. SOLAR. Four independent Confirmed reasons: SolarPower Europe (11 Dec 2025) reported the first annual EU decline since 2016, with home solar down from 28% of new capacity in 2023 to 14% in 2025 and decline forecast through 2026 AND 2027. Dutch net metering ends 1 Jan 2027. Dutch installer count fell 17% in one year with named bankruptcies. And eight-plus European solar quoting tools already exist. When four independent lines of evidence point the same way, act on it.
2. ODOO. The decisive framing: Odoo is not merely more onboarding steps - it contains a PURCHASE DECISION. The merchant must upgrade from Standard to Custom, roughly doubling their per-user bill forever, before they can connect at all. No engineering removes that.
3. RAG FOR PRICING. The number that settles it: 46.89% of table-reading errors still produce a correct-LOOKING answer. The failure is silent. You cannot catch it by reviewing outputs.
4. MY OWN ERROR. I justified the never-LLM-pricing rule via EU AI Act risk classification. Wrong - Annex III point 5(c) covers pricing only for life and health insurance. A correct rule resting on a bad argument gets relaxed the first time someone checks it. So the rule stays, the reasoning is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retrieval may read documents during SETUP. It may never produce a price at RUNTIME.
WHY THE RULE STAYS - six reasons in order of force:
1. The failure mode is SILENT. 46.89% of table-reading errors still produce plausible answers, so reviewing outputs cannot catch it.
2. Wrong numbers land in the legally UNESCAPABLE band. The obvious-error escape hatch only covers absurd figures. A 1 euro boiler is escapable. 340 euros for a 480 euro job is not - plausible, accepted in good faith, binding.
3. It is adversarially steerable. Chevrolet Watsonville was prompt-injected into "1 dollar Tahoe, no takesies backsies" and pulled its chatbot.
4. A retrieved chunk cannot express a RULE - minimums, callout fees, out-of-hours multipliers, travel bands.
5. No versioning or effective dates, so it rots silently.
6. Non-reproducible. Six weeks later, "the retriever returned this chunk" is not an audit trail.
WHY THE REASONING CHANGED: I originally justified this via the EU AI Act. That was wrong. Annex III covers pricing only for life and health insurance. The real exposure is ordinary contract law - which is LARGER. Sweden caps overrun at 15% by statute. Moffatt v Air Canada (2024) forced an airline to honour a policy its chatbot invented. A Toronto BMW dealership paid roughly 27,000 dollars in 2026.
WHY NOT OVER-CORRECT: the rule bans the model from producing the number. It does not ban documents from onboarding. Extraction into an owner-confirmed rate card fully honours the rule - a human approved the structured data the code computes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template-first, not upload-first.
WHY: the highest-leverage finding in the whole study. A pre-priced industry library gets a contractor live in ONE DAY with a full price book. One such product ships around 8,500 expert-maintained tasks covering over 90% of common repairs. It is the only mechanism found that collapses pricing setup from months to a day without bespoke human labour.
WHY TEMPLATE BEFORE UPLOAD: extraction cannot help when there is no document. An owner's callout fee often lives in their head, not on paper. A pre-filled form can capture that; a document parser cannot.
WHY THIS IS THE BIGGEST ADOPTION RISK: the consistently cited abandonment reason for trade software is that three afternoons building price books is selling time gone - and the software is already too expensive before the monthly fee hits the card. Acquisition is not the problem. Retention is, and retention fails at onboarding.
WHAT WE INVENTED: step 4 - going live on 3-5 services and escalating real gaps mid-conversation. No product was found doing this. It is also the best-motivated: a real gap encountered in a live conversation beats an empty form field.
PROMISE HONESTLY: 10-15 minutes of careful review on a 40-line rate card, not "done in seconds". Over-promising here is its own abandonment risk.
THE LINK TO VERTICALS: pest control and cleaning have SHORT, already-fixed rate cards. HVAC and general building have enormous ones. That is why vertical choice and onboarding feasibility are the same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ports and adapters - the same rule that makes WhatsApp an adapter makes Shopify one.
WHY: the agent calls search_products(tenant, query). It never knows Shopify exists. A new platform becomes contained work rather than a redesign. THE INTERFACE IS THE PRODUCT; THE ADAPTERS ARE INVENTORY. That is what makes this SaaS rather than consulting.
WHY THE NO-PLATFORM ADAPTER IS BUILT FIRST - four reasons:
1. Universal fallback - no tenant is ever un-onboardable
2. It forces the canonical product model to be defined before any external API shapes it
3. Eurostat 2025: 76.7% of small EU enterprises have a website, so roughly 23% do not. An Instagram shop with stock in a spreadsheet is our IDEAL customer and is structurally invisible to every app-store competitor
4. Cheapest to build
WHY ODOO IS DROPPED: 0.4% of the ecommerce market. Its own docs state external API access is unavailable on Free and Standard plans, so the merchant must roughly double their per-user bill forever. One API call per second, no parallelism. No real webhooks - they need hand-configuring inside each customer's database using a tier-gated feature we are barred from installing on Odoo Online. And the protocol is removed around winter 2027: a 15-month shelf life.
WHY THE READ MODEL IS ALWAYS THE QUERY PATH: consistent latency, identical behaviour across every source, and distance from third-party rate limits. Never call the platform mid-conversation - only at transaction time.
THE HIGHEST-LEVERAGE ENGINEERING DETAIL: WooCommerce ships /wc-auth/v1/authorize, giving a near-OAuth flow - two clicks instead of seven fiddly admin steps. That is what keeps a third of the market self-serve instead of support-heavy.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data age changes what the agent is allowed to say.
WHY: an agent that promises something sold out weeks ago damages the tenant's relationship with their own customer. That is worse than being unhelpful. And the freshness gap between sources is enormous - Shopify webhooks give seconds, a re-uploaded spreadsheet gives days.
WHY THIS IS ALSO A COMPETITIVE POINT: vendors advertise "real-time sync" while their own documentation says hourly intervals. Hourly polling marketed as real-time is the industry norm, and reviews show the cost - purchases of out-of-stock items, quantities wrong for months. Genuine webhooks plus reconciliation beats most products shipping today. THE BAR IS LOWER THAN IT LOOKS.
THE ONE RULE THAT PREVENTS THE WORST OUTCOME: never let stale data close a sale. Fresh data can take payment. Stale data can only reserve.
A CLEVER MECHANISM WE GET AND CONNECTOR-ONLY PRODUCTS CANNOT: let the agent ask the owner on WhatsApp and write the answer back. The conversation becomes the sync mechanism.
AND THE BIGGER OPERATIONAL WARNING FROM THE RESEARCH: the most likely source of a bad customer experience is not a slightly wrong price - it is a booked crew that does not exist or a promised part that is not on the van. Volatile data must never be asserted without a live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UK plus Ireland as one go-to-market.
WHY THE ENGLISH CONSTRAINT DOMINATES: the killer evidence is not a consumer survey - it is businesses' own revealed behaviour. 67.6% of Dutch companies deal with the outside world exclusively in Dutch; 61.3% speak only Dutch with customers. The buyer has ALREADY MADE THIS CHOICE. We would be selling them a tool that does the thing they decided not to do. Supporting: 60% of even the most confident English readers still want customer care in their own language. Finland's consumer authority states English-only service may be misleading unless disclosed.
HONEST CONCLUSION: English-only leaves the British Isles, a small island, and two countries where we would be swimming against the current. That is an English-speaking strategy, not a European one. Legitimate - but make it knowingly.
WHY UK AND IRELAND TOGETHER: it makes Ireland a cheap add-on rather than a separate bet. Largest pool plus sharpest demand signal, and zero language work for either.
IRELAND'S SIGNAL IS THE BEST FOUND ANYWHERE: retrofit applications up 96% in 2026, individual grants up 186%, against 12-24 month waits. That is precisely the ideal customer - a trade getting more enquiries than it can answer.
ACCEPT THIS COST: we enter the UK as a LATE FOLLOWER. Whoza, TalkTrade and Grip sell the same product from 49-59 pounds. That caps entry pricing.
CORRECTING AN EARLIER ERROR: a previous report disqualified Sweden and Denmark on WhatsApp penetration. That reasoning was WRONG. Messenger is the number one messaging app in Denmark and number two in Sweden, used by 65% of Swedes. There is a viable channel mix without WhatsApp. They fail on LANGUAGE, not channels. Lesson: stop scoring countries on WhatsApp penetration.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pest control, cleaning and removals. Not solar, heat pumps, roofing, HVAC or general building.
WHY THE TRAP LIST IS A TRAP: heat pumps, roofing, HVAC and general building all look ideal - high job values, obvious pain, plenty of enquiries. That combination is seductive. But in every one, the price is set by something nobody can see without being there: the heat loss, the battens, the pipe runs, what is behind the wall. High job value is precisely WHY they cannot be quoted remotely.
WHY CLEANING IS THE STRONGEST FIT: instant online quoting is ALREADY normal practice there - one Dutch firm quotes in 30 seconds. That is the strongest possible proof the pricing is computable. Highest enquiry volume studied. Non-urgent, so customers will message rather than phone. AND crew availability is the genuine binding constraint, which means our feasibility check is load-bearing here rather than decorative.
WHY PEST CONTROL FIRST: best pure technical fit. Fixed price per treatment, published openly. The industry itself treats hourly billing for routine work as a red flag. Almost no competing software. If the product does not work in pest control, it will not work anywhere.
THE STRATEGIC INSIGHT THAT OUTRANKS THE VERTICAL PICK - THE BOXT LESSON: boilers were considered unquotable remotely until BOXT and Heatable narrowed the OFFER - defined boiler set, defined install scenarios, fixed price in 90 seconds, next-day fitting. Remote quoting was unlocked by standardising the offering, not by smarter software.
That gives two strategic options: sell to businesses that already have a fixed price list (the recommendation), or build a tool that helps businesses standardise their offer (a bigger company, much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FOUR AND NOT "AI-POWERED": price is not a weapon in this market. ServiceM8 is about 25 pounds a month with unlimited users. The category is affordable - the one-van plumber is not priced out of anything. We must be BETTER, not cheaper.
THE APPROVAL GATE IS THE STRONGEST ITEM, and it earned that from three independent directions:
- Competitive: Blueprint, the closest Dutch competitor, appears to send quotes automatically with no approval gate. No product found lets an AI send a priced quote to a customer unseen.
- Legal: it disposes of GDPR Article 22 - with a human approving, the decision is not "solely automated".
- Practical: it is the only defence against the silent-wrong-number failure mode.
When three separate lines of reasoning converge on one design element, that is the thing to build the marketing around.
THE HONEST CAVEAT, and it must be said out loud: the feasibility gap is confirmed by ABSENCE. An empty column can mean nobody thought of it, or it can mean everybody tried and customers did not care. Desk research cannot distinguish those. That is why the validation calls on the next slide matter more than any further searching.
WHAT WE SHOULD DO DIFFERENTLY: we BUILT the compliance features and did not MARKET them. For a trade choosing between us and a local agency, "this is the one that keeps you legal" is a real reason to pick us - and an agency cannot easily retrofit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RISK 1 IS RANKED FIRST: if customers phone rather than message, the entire product is moot. And the evidence is genuinely contaminated - industry sources claim 78-83% of home-service bookings start with a call, but these trace to vendor marketing with no verifiable primary study, and they are US-based. The counter-claims come from vendor blogs with equal self-interest. Labelled UNCLEAR by the research, honestly.
DO NOT settle this with more desk research. Phone 25-40 target businesses and ask one question: of your last twenty enquiries, how many came by phone, WhatsApp, Instagram DM, web form or email? Two days of work, and it decides whether the product is viable at all.
WHY RISK 2 CANNOT BE MITIGATED BY REVIEW: the failure is silent. Reviewing outputs does not catch a plausible wrong number. The mitigation has to be structural - never price from retrieval.
WHY RISK 3 EXISTS EVEN THOUGH APPROVAL IS OUR STRONGEST FEATURE: case law is explicit that nominal human sign-off does not establish meaningful intervention. If the owner taps Approve without seeing what drove the number, the gate is decorative and the legal protection evaporates. So surface the service matched, the rate applied, the rules triggered, and the rate-card version - and flag quotes that look unusual against the owner's OWN history.
WHY RISK 5 IS URGENT: it is five days away and it changes unit economics. Earlier reasoning in this project relied on inbound messages being free. That may not hold.
ONE ASSUMPTION WE CARRIED THAT WAS WRONG: we assumed trades do not buy software. Contradicted - a Nordic investor paid 550m NOK for trades marketplaces in Dec 2025, calling home improvement large and under-digitalised. Acquisition is not the problem. Retention is, and retention fails at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FIVE, AND WHY IN THIS ORDER.
Items 1 and 2 are ordered by DEADLINE and by DECISIVENESS respectively.
1. THE META CHANGE is first purely because it is five days away. Sources conflict on whether service replies inside the 24-hour window start costing money on 1 October 2026. Vendor analyses say yes; Meta's own documentation says the model is not changing. We cannot price a tier without knowing.
2. THE CUSTOMER CALLS are the most decisive thing on the list. They answer two questions at once: do enquiries arrive by message or by phone (which decides viability), and is the feasibility gap unoccupied because nobody thought of it or because customers do not care (which decides whether our main differentiator is real). Two days of work against months of building the wrong thing.
3. THE SHOPIFY QUESTION is one email and could remove 4-8 weeks from launch. Best return on effort on the list.
4. INSTRUMENTING RATE-CARD REVIEW TIME validates or kills the 15-minute onboarding target, which the research identifies as the biggest adoption risk. Two weeks of work for the single most valuable number we could generate.
5. THE LEGAL OPINION is last because it is external and slow, but it is load-bearing: no source found answers whether owner approval changes the legal character of an automated quote. The whole design leans on that gate.
THE META-POINT TO CLOSE ON: the research contradicted the plan in four places and corrected one of my own stated justifications. Research that only confirms your plan is not worth commissioning. These five items are cheap, and every one of them can still change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9680" y="-1371600"/>
            <a:ext cx="4937760" cy="4937760"/>
          </a:xfrm>
          <a:prstGeom prst="ellipse">
            <a:avLst/>
          </a:prstGeom>
          <a:solidFill>
            <a:srgbClr val="065A82"/>
          </a:solidFill>
          <a:ln/>
        </p:spPr>
      </p:sp>
      <p:sp>
        <p:nvSpPr>
          <p:cNvPr id="3" name="Shape 1"/>
          <p:cNvSpPr/>
          <p:nvPr/>
        </p:nvSpPr>
        <p:spPr>
          <a:xfrm>
            <a:off x="10241280" y="4206240"/>
            <a:ext cx="2926080" cy="2926080"/>
          </a:xfrm>
          <a:prstGeom prst="ellipse">
            <a:avLst/>
          </a:prstGeom>
          <a:solidFill>
            <a:srgbClr val="1C7293"/>
          </a:solidFill>
          <a:ln/>
        </p:spPr>
      </p:sp>
      <p:sp>
        <p:nvSpPr>
          <p:cNvPr id="4" name="Text 2"/>
          <p:cNvSpPr txBox="1"/>
          <p:nvPr/>
        </p:nvSpPr>
        <p:spPr>
          <a:xfrm>
            <a:off x="731520" y="1371600"/>
            <a:ext cx="786384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SYSTEM DESIGN REVIEW  ·  26 SEPT 2026</a:t>
            </a:r>
            <a:endParaRPr lang="en-US" sz="1200" dirty="0"/>
          </a:p>
        </p:txBody>
      </p:sp>
      <p:sp>
        <p:nvSpPr>
          <p:cNvPr id="5" name="Text 3"/>
          <p:cNvSpPr txBox="1"/>
          <p:nvPr/>
        </p:nvSpPr>
        <p:spPr>
          <a:xfrm>
            <a:off x="731520" y="1828800"/>
            <a:ext cx="804672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Unified AI Customer</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Agent Platform</a:t>
            </a:r>
            <a:endParaRPr lang="en-US" sz="4000" dirty="0"/>
          </a:p>
        </p:txBody>
      </p:sp>
      <p:sp>
        <p:nvSpPr>
          <p:cNvPr id="6" name="Text 4"/>
          <p:cNvSpPr txBox="1"/>
          <p:nvPr/>
        </p:nvSpPr>
        <p:spPr>
          <a:xfrm>
            <a:off x="731520" y="3657600"/>
            <a:ext cx="7680960" cy="365760"/>
          </a:xfrm>
          <a:prstGeom prst="rect">
            <a:avLst/>
          </a:prstGeom>
          <a:noFill/>
          <a:ln/>
        </p:spPr>
        <p:txBody>
          <a:bodyPr wrap="square" lIns="0" tIns="0" rIns="0" bIns="0" rtlCol="0" anchor="ctr"/>
          <a:lstStyle/>
          <a:p>
            <a:pPr indent="0" marL="0">
              <a:buNone/>
            </a:pPr>
            <a:r>
              <a:rPr lang="en-US" sz="1600" i="1" dirty="0">
                <a:solidFill>
                  <a:srgbClr val="BFD3E6"/>
                </a:solidFill>
                <a:latin typeface="Calibri" pitchFamily="34" charset="0"/>
                <a:ea typeface="Calibri" pitchFamily="34" charset="-122"/>
                <a:cs typeface="Calibri" pitchFamily="34" charset="-120"/>
              </a:rPr>
              <a:t>Revised design after four independent market research threads</a:t>
            </a:r>
            <a:endParaRPr lang="en-US" sz="1600" dirty="0"/>
          </a:p>
        </p:txBody>
      </p:sp>
      <p:sp>
        <p:nvSpPr>
          <p:cNvPr id="7" name="Text 5"/>
          <p:cNvSpPr txBox="1"/>
          <p:nvPr/>
        </p:nvSpPr>
        <p:spPr>
          <a:xfrm>
            <a:off x="73152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190</a:t>
            </a:r>
            <a:endParaRPr lang="en-US" sz="3400" dirty="0"/>
          </a:p>
        </p:txBody>
      </p:sp>
      <p:sp>
        <p:nvSpPr>
          <p:cNvPr id="8" name="Text 6"/>
          <p:cNvSpPr txBox="1"/>
          <p:nvPr/>
        </p:nvSpPr>
        <p:spPr>
          <a:xfrm>
            <a:off x="73152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searches</a:t>
            </a:r>
            <a:endParaRPr lang="en-US" sz="1100" dirty="0"/>
          </a:p>
        </p:txBody>
      </p:sp>
      <p:sp>
        <p:nvSpPr>
          <p:cNvPr id="9" name="Text 7"/>
          <p:cNvSpPr txBox="1"/>
          <p:nvPr/>
        </p:nvSpPr>
        <p:spPr>
          <a:xfrm>
            <a:off x="265176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340</a:t>
            </a:r>
            <a:endParaRPr lang="en-US" sz="3400" dirty="0"/>
          </a:p>
        </p:txBody>
      </p:sp>
      <p:sp>
        <p:nvSpPr>
          <p:cNvPr id="10" name="Text 8"/>
          <p:cNvSpPr txBox="1"/>
          <p:nvPr/>
        </p:nvSpPr>
        <p:spPr>
          <a:xfrm>
            <a:off x="265176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sources</a:t>
            </a:r>
            <a:endParaRPr lang="en-US" sz="1100" dirty="0"/>
          </a:p>
        </p:txBody>
      </p:sp>
      <p:sp>
        <p:nvSpPr>
          <p:cNvPr id="11" name="Text 9"/>
          <p:cNvSpPr txBox="1"/>
          <p:nvPr/>
        </p:nvSpPr>
        <p:spPr>
          <a:xfrm>
            <a:off x="457200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4</a:t>
            </a:r>
            <a:endParaRPr lang="en-US" sz="3400" dirty="0"/>
          </a:p>
        </p:txBody>
      </p:sp>
      <p:sp>
        <p:nvSpPr>
          <p:cNvPr id="12" name="Text 10"/>
          <p:cNvSpPr txBox="1"/>
          <p:nvPr/>
        </p:nvSpPr>
        <p:spPr>
          <a:xfrm>
            <a:off x="457200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threads</a:t>
            </a:r>
            <a:endParaRPr lang="en-US" sz="1100" dirty="0"/>
          </a:p>
        </p:txBody>
      </p:sp>
      <p:sp>
        <p:nvSpPr>
          <p:cNvPr id="13" name="Text 11"/>
          <p:cNvSpPr txBox="1"/>
          <p:nvPr/>
        </p:nvSpPr>
        <p:spPr>
          <a:xfrm>
            <a:off x="649224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14</a:t>
            </a:r>
            <a:endParaRPr lang="en-US" sz="3400" dirty="0"/>
          </a:p>
        </p:txBody>
      </p:sp>
      <p:sp>
        <p:nvSpPr>
          <p:cNvPr id="14" name="Text 12"/>
          <p:cNvSpPr txBox="1"/>
          <p:nvPr/>
        </p:nvSpPr>
        <p:spPr>
          <a:xfrm>
            <a:off x="649224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risks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PRODUCT</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One platform, two tenant modes</a:t>
            </a:r>
            <a:endParaRPr lang="en-US" sz="3200" dirty="0"/>
          </a:p>
        </p:txBody>
      </p:sp>
      <p:sp>
        <p:nvSpPr>
          <p:cNvPr id="4" name="Shape 2"/>
          <p:cNvSpPr/>
          <p:nvPr/>
        </p:nvSpPr>
        <p:spPr>
          <a:xfrm>
            <a:off x="548640" y="1463040"/>
            <a:ext cx="11064240" cy="1051560"/>
          </a:xfrm>
          <a:prstGeom prst="roundRect">
            <a:avLst>
              <a:gd name="adj" fmla="val 6957"/>
            </a:avLst>
          </a:prstGeom>
          <a:solidFill>
            <a:srgbClr val="065A82"/>
          </a:solidFill>
          <a:ln/>
        </p:spPr>
      </p:sp>
      <p:sp>
        <p:nvSpPr>
          <p:cNvPr id="5" name="Text 3"/>
          <p:cNvSpPr txBox="1"/>
          <p:nvPr/>
        </p:nvSpPr>
        <p:spPr>
          <a:xfrm>
            <a:off x="777240" y="1572768"/>
            <a:ext cx="2926080" cy="237744"/>
          </a:xfrm>
          <a:prstGeom prst="rect">
            <a:avLst/>
          </a:prstGeom>
          <a:noFill/>
          <a:ln/>
        </p:spPr>
        <p:txBody>
          <a:bodyPr wrap="square" lIns="0" tIns="0" rIns="0" bIns="0" rtlCol="0" anchor="ctr"/>
          <a:lstStyle/>
          <a:p>
            <a:pPr indent="0" marL="0">
              <a:buNone/>
            </a:pPr>
            <a:r>
              <a:rPr lang="en-US" sz="1000" b="1" spc="150" kern="0" dirty="0">
                <a:solidFill>
                  <a:srgbClr val="F2A104"/>
                </a:solidFill>
                <a:latin typeface="Calibri" pitchFamily="34" charset="0"/>
                <a:ea typeface="Calibri" pitchFamily="34" charset="-122"/>
                <a:cs typeface="Calibri" pitchFamily="34" charset="-120"/>
              </a:rPr>
              <a:t>SHARED FOUNDATION</a:t>
            </a:r>
            <a:endParaRPr lang="en-US" sz="1000" dirty="0"/>
          </a:p>
        </p:txBody>
      </p:sp>
      <p:sp>
        <p:nvSpPr>
          <p:cNvPr id="6" name="Shape 4"/>
          <p:cNvSpPr/>
          <p:nvPr/>
        </p:nvSpPr>
        <p:spPr>
          <a:xfrm>
            <a:off x="777240" y="1874520"/>
            <a:ext cx="1417320" cy="457200"/>
          </a:xfrm>
          <a:prstGeom prst="roundRect">
            <a:avLst>
              <a:gd name="adj" fmla="val 12000"/>
            </a:avLst>
          </a:prstGeom>
          <a:solidFill>
            <a:srgbClr val="1C7293"/>
          </a:solidFill>
          <a:ln/>
        </p:spPr>
      </p:sp>
      <p:sp>
        <p:nvSpPr>
          <p:cNvPr id="7" name="Text 5"/>
          <p:cNvSpPr txBox="1"/>
          <p:nvPr/>
        </p:nvSpPr>
        <p:spPr>
          <a:xfrm>
            <a:off x="777240"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Channels</a:t>
            </a:r>
            <a:endParaRPr lang="en-US" sz="1000" dirty="0"/>
          </a:p>
        </p:txBody>
      </p:sp>
      <p:sp>
        <p:nvSpPr>
          <p:cNvPr id="8" name="Shape 6"/>
          <p:cNvSpPr/>
          <p:nvPr/>
        </p:nvSpPr>
        <p:spPr>
          <a:xfrm>
            <a:off x="2322576" y="1874520"/>
            <a:ext cx="1417320" cy="457200"/>
          </a:xfrm>
          <a:prstGeom prst="roundRect">
            <a:avLst>
              <a:gd name="adj" fmla="val 12000"/>
            </a:avLst>
          </a:prstGeom>
          <a:solidFill>
            <a:srgbClr val="1C7293"/>
          </a:solidFill>
          <a:ln/>
        </p:spPr>
      </p:sp>
      <p:sp>
        <p:nvSpPr>
          <p:cNvPr id="9" name="Text 7"/>
          <p:cNvSpPr txBox="1"/>
          <p:nvPr/>
        </p:nvSpPr>
        <p:spPr>
          <a:xfrm>
            <a:off x="2322576"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Conversations</a:t>
            </a:r>
            <a:endParaRPr lang="en-US" sz="1000" dirty="0"/>
          </a:p>
        </p:txBody>
      </p:sp>
      <p:sp>
        <p:nvSpPr>
          <p:cNvPr id="10" name="Shape 8"/>
          <p:cNvSpPr/>
          <p:nvPr/>
        </p:nvSpPr>
        <p:spPr>
          <a:xfrm>
            <a:off x="3867912" y="1874520"/>
            <a:ext cx="1417320" cy="457200"/>
          </a:xfrm>
          <a:prstGeom prst="roundRect">
            <a:avLst>
              <a:gd name="adj" fmla="val 12000"/>
            </a:avLst>
          </a:prstGeom>
          <a:solidFill>
            <a:srgbClr val="1C7293"/>
          </a:solidFill>
          <a:ln/>
        </p:spPr>
      </p:sp>
      <p:sp>
        <p:nvSpPr>
          <p:cNvPr id="11" name="Text 9"/>
          <p:cNvSpPr txBox="1"/>
          <p:nvPr/>
        </p:nvSpPr>
        <p:spPr>
          <a:xfrm>
            <a:off x="3867912"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Contacts</a:t>
            </a:r>
            <a:endParaRPr lang="en-US" sz="1000" dirty="0"/>
          </a:p>
        </p:txBody>
      </p:sp>
      <p:sp>
        <p:nvSpPr>
          <p:cNvPr id="12" name="Shape 10"/>
          <p:cNvSpPr/>
          <p:nvPr/>
        </p:nvSpPr>
        <p:spPr>
          <a:xfrm>
            <a:off x="5413248" y="1874520"/>
            <a:ext cx="1417320" cy="457200"/>
          </a:xfrm>
          <a:prstGeom prst="roundRect">
            <a:avLst>
              <a:gd name="adj" fmla="val 12000"/>
            </a:avLst>
          </a:prstGeom>
          <a:solidFill>
            <a:srgbClr val="1C7293"/>
          </a:solidFill>
          <a:ln/>
        </p:spPr>
      </p:sp>
      <p:sp>
        <p:nvSpPr>
          <p:cNvPr id="13" name="Text 11"/>
          <p:cNvSpPr txBox="1"/>
          <p:nvPr/>
        </p:nvSpPr>
        <p:spPr>
          <a:xfrm>
            <a:off x="5413248"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Tickets</a:t>
            </a:r>
            <a:endParaRPr lang="en-US" sz="1000" dirty="0"/>
          </a:p>
        </p:txBody>
      </p:sp>
      <p:sp>
        <p:nvSpPr>
          <p:cNvPr id="14" name="Shape 12"/>
          <p:cNvSpPr/>
          <p:nvPr/>
        </p:nvSpPr>
        <p:spPr>
          <a:xfrm>
            <a:off x="6958584" y="1874520"/>
            <a:ext cx="1417320" cy="457200"/>
          </a:xfrm>
          <a:prstGeom prst="roundRect">
            <a:avLst>
              <a:gd name="adj" fmla="val 12000"/>
            </a:avLst>
          </a:prstGeom>
          <a:solidFill>
            <a:srgbClr val="1C7293"/>
          </a:solidFill>
          <a:ln/>
        </p:spPr>
      </p:sp>
      <p:sp>
        <p:nvSpPr>
          <p:cNvPr id="15" name="Text 13"/>
          <p:cNvSpPr txBox="1"/>
          <p:nvPr/>
        </p:nvSpPr>
        <p:spPr>
          <a:xfrm>
            <a:off x="6958584"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Ratings</a:t>
            </a:r>
            <a:endParaRPr lang="en-US" sz="1000" dirty="0"/>
          </a:p>
        </p:txBody>
      </p:sp>
      <p:sp>
        <p:nvSpPr>
          <p:cNvPr id="16" name="Shape 14"/>
          <p:cNvSpPr/>
          <p:nvPr/>
        </p:nvSpPr>
        <p:spPr>
          <a:xfrm>
            <a:off x="8503920" y="1874520"/>
            <a:ext cx="1417320" cy="457200"/>
          </a:xfrm>
          <a:prstGeom prst="roundRect">
            <a:avLst>
              <a:gd name="adj" fmla="val 12000"/>
            </a:avLst>
          </a:prstGeom>
          <a:solidFill>
            <a:srgbClr val="1C7293"/>
          </a:solidFill>
          <a:ln/>
        </p:spPr>
      </p:sp>
      <p:sp>
        <p:nvSpPr>
          <p:cNvPr id="17" name="Text 15"/>
          <p:cNvSpPr txBox="1"/>
          <p:nvPr/>
        </p:nvSpPr>
        <p:spPr>
          <a:xfrm>
            <a:off x="8503920"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Retention</a:t>
            </a:r>
            <a:endParaRPr lang="en-US" sz="1000" dirty="0"/>
          </a:p>
        </p:txBody>
      </p:sp>
      <p:sp>
        <p:nvSpPr>
          <p:cNvPr id="18" name="Shape 16"/>
          <p:cNvSpPr/>
          <p:nvPr/>
        </p:nvSpPr>
        <p:spPr>
          <a:xfrm>
            <a:off x="10049256" y="1874520"/>
            <a:ext cx="1417320" cy="457200"/>
          </a:xfrm>
          <a:prstGeom prst="roundRect">
            <a:avLst>
              <a:gd name="adj" fmla="val 12000"/>
            </a:avLst>
          </a:prstGeom>
          <a:solidFill>
            <a:srgbClr val="1C7293"/>
          </a:solidFill>
          <a:ln/>
        </p:spPr>
      </p:sp>
      <p:sp>
        <p:nvSpPr>
          <p:cNvPr id="19" name="Text 17"/>
          <p:cNvSpPr txBox="1"/>
          <p:nvPr/>
        </p:nvSpPr>
        <p:spPr>
          <a:xfrm>
            <a:off x="10049256"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Analytics</a:t>
            </a:r>
            <a:endParaRPr lang="en-US" sz="1000" dirty="0"/>
          </a:p>
        </p:txBody>
      </p:sp>
      <p:sp>
        <p:nvSpPr>
          <p:cNvPr id="20" name="Shape 18"/>
          <p:cNvSpPr/>
          <p:nvPr/>
        </p:nvSpPr>
        <p:spPr>
          <a:xfrm>
            <a:off x="2926080" y="2606040"/>
            <a:ext cx="256032" cy="365760"/>
          </a:xfrm>
          <a:prstGeom prst="downArrow">
            <a:avLst/>
          </a:prstGeom>
          <a:solidFill>
            <a:srgbClr val="5A6B7B"/>
          </a:solidFill>
          <a:ln/>
        </p:spPr>
      </p:sp>
      <p:sp>
        <p:nvSpPr>
          <p:cNvPr id="21" name="Shape 19"/>
          <p:cNvSpPr/>
          <p:nvPr/>
        </p:nvSpPr>
        <p:spPr>
          <a:xfrm>
            <a:off x="8961120" y="2606040"/>
            <a:ext cx="256032" cy="365760"/>
          </a:xfrm>
          <a:prstGeom prst="downArrow">
            <a:avLst/>
          </a:prstGeom>
          <a:solidFill>
            <a:srgbClr val="5A6B7B"/>
          </a:solidFill>
          <a:ln/>
        </p:spPr>
      </p:sp>
      <p:sp>
        <p:nvSpPr>
          <p:cNvPr id="22" name="Shape 20"/>
          <p:cNvSpPr/>
          <p:nvPr/>
        </p:nvSpPr>
        <p:spPr>
          <a:xfrm>
            <a:off x="548640" y="3063240"/>
            <a:ext cx="5394960" cy="3200400"/>
          </a:xfrm>
          <a:prstGeom prst="roundRect">
            <a:avLst>
              <a:gd name="adj" fmla="val 2286"/>
            </a:avLst>
          </a:prstGeom>
          <a:solidFill>
            <a:srgbClr val="F4F7FA"/>
          </a:solidFill>
          <a:ln w="12700">
            <a:solidFill>
              <a:srgbClr val="C9D6E2"/>
            </a:solidFill>
            <a:prstDash val="solid"/>
          </a:ln>
        </p:spPr>
      </p:sp>
      <p:sp>
        <p:nvSpPr>
          <p:cNvPr id="23" name="Text 21"/>
          <p:cNvSpPr txBox="1"/>
          <p:nvPr/>
        </p:nvSpPr>
        <p:spPr>
          <a:xfrm>
            <a:off x="777240" y="3200400"/>
            <a:ext cx="2743200" cy="274320"/>
          </a:xfrm>
          <a:prstGeom prst="rect">
            <a:avLst/>
          </a:prstGeom>
          <a:noFill/>
          <a:ln/>
        </p:spPr>
        <p:txBody>
          <a:bodyPr wrap="square" lIns="0" tIns="0" rIns="0" bIns="0" rtlCol="0" anchor="ctr"/>
          <a:lstStyle/>
          <a:p>
            <a:pPr indent="0" marL="0">
              <a:buNone/>
            </a:pPr>
            <a:r>
              <a:rPr lang="en-US" sz="1100" b="1" spc="150" kern="0" dirty="0">
                <a:solidFill>
                  <a:srgbClr val="065A82"/>
                </a:solidFill>
                <a:latin typeface="Calibri" pitchFamily="34" charset="0"/>
                <a:ea typeface="Calibri" pitchFamily="34" charset="-122"/>
                <a:cs typeface="Calibri" pitchFamily="34" charset="-120"/>
              </a:rPr>
              <a:t>SERVICE MODE</a:t>
            </a:r>
            <a:endParaRPr lang="en-US" sz="1100" dirty="0"/>
          </a:p>
        </p:txBody>
      </p:sp>
      <p:sp>
        <p:nvSpPr>
          <p:cNvPr id="24" name="Text 22"/>
          <p:cNvSpPr txBox="1"/>
          <p:nvPr/>
        </p:nvSpPr>
        <p:spPr>
          <a:xfrm>
            <a:off x="4297680" y="3200400"/>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 FIRST</a:t>
            </a:r>
            <a:endParaRPr lang="en-US" sz="900" dirty="0"/>
          </a:p>
        </p:txBody>
      </p:sp>
      <p:sp>
        <p:nvSpPr>
          <p:cNvPr id="25" name="Shape 23"/>
          <p:cNvSpPr/>
          <p:nvPr/>
        </p:nvSpPr>
        <p:spPr>
          <a:xfrm>
            <a:off x="4315968" y="3182112"/>
            <a:ext cx="1417320" cy="292608"/>
          </a:xfrm>
          <a:prstGeom prst="roundRect">
            <a:avLst>
              <a:gd name="adj" fmla="val 31250"/>
            </a:avLst>
          </a:prstGeom>
          <a:solidFill>
            <a:srgbClr val="2E8B57"/>
          </a:solidFill>
          <a:ln/>
        </p:spPr>
      </p:sp>
      <p:sp>
        <p:nvSpPr>
          <p:cNvPr id="26" name="Text 24"/>
          <p:cNvSpPr txBox="1"/>
          <p:nvPr/>
        </p:nvSpPr>
        <p:spPr>
          <a:xfrm>
            <a:off x="4315968" y="3182112"/>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 FIRST</a:t>
            </a:r>
            <a:endParaRPr lang="en-US" sz="900" dirty="0"/>
          </a:p>
        </p:txBody>
      </p:sp>
      <p:sp>
        <p:nvSpPr>
          <p:cNvPr id="27" name="Shape 25"/>
          <p:cNvSpPr/>
          <p:nvPr/>
        </p:nvSpPr>
        <p:spPr>
          <a:xfrm>
            <a:off x="822960" y="3657600"/>
            <a:ext cx="274320" cy="274320"/>
          </a:xfrm>
          <a:prstGeom prst="ellipse">
            <a:avLst/>
          </a:prstGeom>
          <a:solidFill>
            <a:srgbClr val="1C7293"/>
          </a:solidFill>
          <a:ln/>
        </p:spPr>
      </p:sp>
      <p:sp>
        <p:nvSpPr>
          <p:cNvPr id="28" name="Text 26"/>
          <p:cNvSpPr txBox="1"/>
          <p:nvPr/>
        </p:nvSpPr>
        <p:spPr>
          <a:xfrm>
            <a:off x="822960" y="365760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9" name="Text 27"/>
          <p:cNvSpPr txBox="1"/>
          <p:nvPr/>
        </p:nvSpPr>
        <p:spPr>
          <a:xfrm>
            <a:off x="1207008" y="363931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Qualify by conversation</a:t>
            </a:r>
            <a:endParaRPr lang="en-US" sz="1200" dirty="0"/>
          </a:p>
        </p:txBody>
      </p:sp>
      <p:sp>
        <p:nvSpPr>
          <p:cNvPr id="30" name="Shape 28"/>
          <p:cNvSpPr/>
          <p:nvPr/>
        </p:nvSpPr>
        <p:spPr>
          <a:xfrm>
            <a:off x="822960" y="4087368"/>
            <a:ext cx="274320" cy="274320"/>
          </a:xfrm>
          <a:prstGeom prst="ellipse">
            <a:avLst/>
          </a:prstGeom>
          <a:solidFill>
            <a:srgbClr val="1C7293"/>
          </a:solidFill>
          <a:ln/>
        </p:spPr>
      </p:sp>
      <p:sp>
        <p:nvSpPr>
          <p:cNvPr id="31" name="Text 29"/>
          <p:cNvSpPr txBox="1"/>
          <p:nvPr/>
        </p:nvSpPr>
        <p:spPr>
          <a:xfrm>
            <a:off x="822960" y="40873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2" name="Text 30"/>
          <p:cNvSpPr txBox="1"/>
          <p:nvPr/>
        </p:nvSpPr>
        <p:spPr>
          <a:xfrm>
            <a:off x="1207008" y="4069080"/>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Score the lead</a:t>
            </a:r>
            <a:endParaRPr lang="en-US" sz="1200" dirty="0"/>
          </a:p>
        </p:txBody>
      </p:sp>
      <p:sp>
        <p:nvSpPr>
          <p:cNvPr id="33" name="Shape 31"/>
          <p:cNvSpPr/>
          <p:nvPr/>
        </p:nvSpPr>
        <p:spPr>
          <a:xfrm>
            <a:off x="822960" y="4517136"/>
            <a:ext cx="274320" cy="274320"/>
          </a:xfrm>
          <a:prstGeom prst="ellipse">
            <a:avLst/>
          </a:prstGeom>
          <a:solidFill>
            <a:srgbClr val="F2A104"/>
          </a:solidFill>
          <a:ln/>
        </p:spPr>
      </p:sp>
      <p:sp>
        <p:nvSpPr>
          <p:cNvPr id="34" name="Text 32"/>
          <p:cNvSpPr txBox="1"/>
          <p:nvPr/>
        </p:nvSpPr>
        <p:spPr>
          <a:xfrm>
            <a:off x="822960" y="4517136"/>
            <a:ext cx="274320" cy="27432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35" name="Text 33"/>
          <p:cNvSpPr txBox="1"/>
          <p:nvPr/>
        </p:nvSpPr>
        <p:spPr>
          <a:xfrm>
            <a:off x="1207008" y="4498848"/>
            <a:ext cx="457200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FEASIBILITY: parts · crew · area</a:t>
            </a:r>
            <a:endParaRPr lang="en-US" sz="1200" dirty="0"/>
          </a:p>
        </p:txBody>
      </p:sp>
      <p:sp>
        <p:nvSpPr>
          <p:cNvPr id="36" name="Shape 34"/>
          <p:cNvSpPr/>
          <p:nvPr/>
        </p:nvSpPr>
        <p:spPr>
          <a:xfrm>
            <a:off x="822960" y="4946904"/>
            <a:ext cx="274320" cy="274320"/>
          </a:xfrm>
          <a:prstGeom prst="ellipse">
            <a:avLst/>
          </a:prstGeom>
          <a:solidFill>
            <a:srgbClr val="1C7293"/>
          </a:solidFill>
          <a:ln/>
        </p:spPr>
      </p:sp>
      <p:sp>
        <p:nvSpPr>
          <p:cNvPr id="37" name="Text 35"/>
          <p:cNvSpPr txBox="1"/>
          <p:nvPr/>
        </p:nvSpPr>
        <p:spPr>
          <a:xfrm>
            <a:off x="822960" y="494690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8" name="Text 36"/>
          <p:cNvSpPr txBox="1"/>
          <p:nvPr/>
        </p:nvSpPr>
        <p:spPr>
          <a:xfrm>
            <a:off x="1207008" y="4928616"/>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Price deterministically</a:t>
            </a:r>
            <a:endParaRPr lang="en-US" sz="1200" dirty="0"/>
          </a:p>
        </p:txBody>
      </p:sp>
      <p:sp>
        <p:nvSpPr>
          <p:cNvPr id="39" name="Shape 37"/>
          <p:cNvSpPr/>
          <p:nvPr/>
        </p:nvSpPr>
        <p:spPr>
          <a:xfrm>
            <a:off x="822960" y="5376672"/>
            <a:ext cx="274320" cy="274320"/>
          </a:xfrm>
          <a:prstGeom prst="ellipse">
            <a:avLst/>
          </a:prstGeom>
          <a:solidFill>
            <a:srgbClr val="F2A104"/>
          </a:solidFill>
          <a:ln/>
        </p:spPr>
      </p:sp>
      <p:sp>
        <p:nvSpPr>
          <p:cNvPr id="40" name="Text 38"/>
          <p:cNvSpPr txBox="1"/>
          <p:nvPr/>
        </p:nvSpPr>
        <p:spPr>
          <a:xfrm>
            <a:off x="822960" y="5376672"/>
            <a:ext cx="274320" cy="27432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5</a:t>
            </a:r>
            <a:endParaRPr lang="en-US" sz="1300" dirty="0"/>
          </a:p>
        </p:txBody>
      </p:sp>
      <p:sp>
        <p:nvSpPr>
          <p:cNvPr id="41" name="Text 39"/>
          <p:cNvSpPr txBox="1"/>
          <p:nvPr/>
        </p:nvSpPr>
        <p:spPr>
          <a:xfrm>
            <a:off x="1207008" y="5358384"/>
            <a:ext cx="457200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OWNER APPROVES</a:t>
            </a:r>
            <a:endParaRPr lang="en-US" sz="1200" dirty="0"/>
          </a:p>
        </p:txBody>
      </p:sp>
      <p:sp>
        <p:nvSpPr>
          <p:cNvPr id="42" name="Shape 40"/>
          <p:cNvSpPr/>
          <p:nvPr/>
        </p:nvSpPr>
        <p:spPr>
          <a:xfrm>
            <a:off x="822960" y="5806440"/>
            <a:ext cx="274320" cy="274320"/>
          </a:xfrm>
          <a:prstGeom prst="ellipse">
            <a:avLst/>
          </a:prstGeom>
          <a:solidFill>
            <a:srgbClr val="1C7293"/>
          </a:solidFill>
          <a:ln/>
        </p:spPr>
      </p:sp>
      <p:sp>
        <p:nvSpPr>
          <p:cNvPr id="43" name="Text 41"/>
          <p:cNvSpPr txBox="1"/>
          <p:nvPr/>
        </p:nvSpPr>
        <p:spPr>
          <a:xfrm>
            <a:off x="822960" y="58064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4" name="Text 42"/>
          <p:cNvSpPr txBox="1"/>
          <p:nvPr/>
        </p:nvSpPr>
        <p:spPr>
          <a:xfrm>
            <a:off x="1207008" y="578815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Job created</a:t>
            </a:r>
            <a:endParaRPr lang="en-US" sz="1200" dirty="0"/>
          </a:p>
        </p:txBody>
      </p:sp>
      <p:sp>
        <p:nvSpPr>
          <p:cNvPr id="45" name="Shape 43"/>
          <p:cNvSpPr/>
          <p:nvPr/>
        </p:nvSpPr>
        <p:spPr>
          <a:xfrm>
            <a:off x="6217920" y="3063240"/>
            <a:ext cx="5394960" cy="3200400"/>
          </a:xfrm>
          <a:prstGeom prst="roundRect">
            <a:avLst>
              <a:gd name="adj" fmla="val 2286"/>
            </a:avLst>
          </a:prstGeom>
          <a:solidFill>
            <a:srgbClr val="F4F7FA"/>
          </a:solidFill>
          <a:ln w="12700">
            <a:solidFill>
              <a:srgbClr val="C9D6E2"/>
            </a:solidFill>
            <a:prstDash val="solid"/>
          </a:ln>
        </p:spPr>
      </p:sp>
      <p:sp>
        <p:nvSpPr>
          <p:cNvPr id="46" name="Text 44"/>
          <p:cNvSpPr txBox="1"/>
          <p:nvPr/>
        </p:nvSpPr>
        <p:spPr>
          <a:xfrm>
            <a:off x="6446520" y="3200400"/>
            <a:ext cx="2743200" cy="274320"/>
          </a:xfrm>
          <a:prstGeom prst="rect">
            <a:avLst/>
          </a:prstGeom>
          <a:noFill/>
          <a:ln/>
        </p:spPr>
        <p:txBody>
          <a:bodyPr wrap="square" lIns="0" tIns="0" rIns="0" bIns="0" rtlCol="0" anchor="ctr"/>
          <a:lstStyle/>
          <a:p>
            <a:pPr indent="0" marL="0">
              <a:buNone/>
            </a:pPr>
            <a:r>
              <a:rPr lang="en-US" sz="1100" b="1" spc="150" kern="0" dirty="0">
                <a:solidFill>
                  <a:srgbClr val="065A82"/>
                </a:solidFill>
                <a:latin typeface="Calibri" pitchFamily="34" charset="0"/>
                <a:ea typeface="Calibri" pitchFamily="34" charset="-122"/>
                <a:cs typeface="Calibri" pitchFamily="34" charset="-120"/>
              </a:rPr>
              <a:t>PRODUCT MODE</a:t>
            </a:r>
            <a:endParaRPr lang="en-US" sz="1100" dirty="0"/>
          </a:p>
        </p:txBody>
      </p:sp>
      <p:sp>
        <p:nvSpPr>
          <p:cNvPr id="47" name="Shape 45"/>
          <p:cNvSpPr/>
          <p:nvPr/>
        </p:nvSpPr>
        <p:spPr>
          <a:xfrm>
            <a:off x="9966960" y="3182112"/>
            <a:ext cx="1417320" cy="292608"/>
          </a:xfrm>
          <a:prstGeom prst="roundRect">
            <a:avLst>
              <a:gd name="adj" fmla="val 31250"/>
            </a:avLst>
          </a:prstGeom>
          <a:solidFill>
            <a:srgbClr val="5A6B7B"/>
          </a:solidFill>
          <a:ln/>
        </p:spPr>
      </p:sp>
      <p:sp>
        <p:nvSpPr>
          <p:cNvPr id="48" name="Text 46"/>
          <p:cNvSpPr txBox="1"/>
          <p:nvPr/>
        </p:nvSpPr>
        <p:spPr>
          <a:xfrm>
            <a:off x="9966960" y="3182112"/>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2</a:t>
            </a:r>
            <a:endParaRPr lang="en-US" sz="900" dirty="0"/>
          </a:p>
        </p:txBody>
      </p:sp>
      <p:sp>
        <p:nvSpPr>
          <p:cNvPr id="49" name="Shape 47"/>
          <p:cNvSpPr/>
          <p:nvPr/>
        </p:nvSpPr>
        <p:spPr>
          <a:xfrm>
            <a:off x="6492240" y="3657600"/>
            <a:ext cx="274320" cy="274320"/>
          </a:xfrm>
          <a:prstGeom prst="ellipse">
            <a:avLst/>
          </a:prstGeom>
          <a:solidFill>
            <a:srgbClr val="1C7293"/>
          </a:solidFill>
          <a:ln/>
        </p:spPr>
      </p:sp>
      <p:sp>
        <p:nvSpPr>
          <p:cNvPr id="50" name="Text 48"/>
          <p:cNvSpPr txBox="1"/>
          <p:nvPr/>
        </p:nvSpPr>
        <p:spPr>
          <a:xfrm>
            <a:off x="6492240" y="365760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1" name="Text 49"/>
          <p:cNvSpPr txBox="1"/>
          <p:nvPr/>
        </p:nvSpPr>
        <p:spPr>
          <a:xfrm>
            <a:off x="6876288" y="363931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Search real catalogue</a:t>
            </a:r>
            <a:endParaRPr lang="en-US" sz="1200" dirty="0"/>
          </a:p>
        </p:txBody>
      </p:sp>
      <p:sp>
        <p:nvSpPr>
          <p:cNvPr id="52" name="Shape 50"/>
          <p:cNvSpPr/>
          <p:nvPr/>
        </p:nvSpPr>
        <p:spPr>
          <a:xfrm>
            <a:off x="6492240" y="4087368"/>
            <a:ext cx="274320" cy="274320"/>
          </a:xfrm>
          <a:prstGeom prst="ellipse">
            <a:avLst/>
          </a:prstGeom>
          <a:solidFill>
            <a:srgbClr val="1C7293"/>
          </a:solidFill>
          <a:ln/>
        </p:spPr>
      </p:sp>
      <p:sp>
        <p:nvSpPr>
          <p:cNvPr id="53" name="Text 51"/>
          <p:cNvSpPr txBox="1"/>
          <p:nvPr/>
        </p:nvSpPr>
        <p:spPr>
          <a:xfrm>
            <a:off x="6492240" y="40873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4" name="Text 52"/>
          <p:cNvSpPr txBox="1"/>
          <p:nvPr/>
        </p:nvSpPr>
        <p:spPr>
          <a:xfrm>
            <a:off x="6876288" y="4069080"/>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Check live stock</a:t>
            </a:r>
            <a:endParaRPr lang="en-US" sz="1200" dirty="0"/>
          </a:p>
        </p:txBody>
      </p:sp>
      <p:sp>
        <p:nvSpPr>
          <p:cNvPr id="55" name="Shape 53"/>
          <p:cNvSpPr/>
          <p:nvPr/>
        </p:nvSpPr>
        <p:spPr>
          <a:xfrm>
            <a:off x="6492240" y="4517136"/>
            <a:ext cx="274320" cy="274320"/>
          </a:xfrm>
          <a:prstGeom prst="ellipse">
            <a:avLst/>
          </a:prstGeom>
          <a:solidFill>
            <a:srgbClr val="1C7293"/>
          </a:solidFill>
          <a:ln/>
        </p:spPr>
      </p:sp>
      <p:sp>
        <p:nvSpPr>
          <p:cNvPr id="56" name="Text 54"/>
          <p:cNvSpPr txBox="1"/>
          <p:nvPr/>
        </p:nvSpPr>
        <p:spPr>
          <a:xfrm>
            <a:off x="6492240" y="45171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7" name="Text 55"/>
          <p:cNvSpPr txBox="1"/>
          <p:nvPr/>
        </p:nvSpPr>
        <p:spPr>
          <a:xfrm>
            <a:off x="6876288" y="4498848"/>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Build cart</a:t>
            </a:r>
            <a:endParaRPr lang="en-US" sz="1200" dirty="0"/>
          </a:p>
        </p:txBody>
      </p:sp>
      <p:sp>
        <p:nvSpPr>
          <p:cNvPr id="58" name="Shape 56"/>
          <p:cNvSpPr/>
          <p:nvPr/>
        </p:nvSpPr>
        <p:spPr>
          <a:xfrm>
            <a:off x="6492240" y="4946904"/>
            <a:ext cx="274320" cy="274320"/>
          </a:xfrm>
          <a:prstGeom prst="ellipse">
            <a:avLst/>
          </a:prstGeom>
          <a:solidFill>
            <a:srgbClr val="1C7293"/>
          </a:solidFill>
          <a:ln/>
        </p:spPr>
      </p:sp>
      <p:sp>
        <p:nvSpPr>
          <p:cNvPr id="59" name="Text 57"/>
          <p:cNvSpPr txBox="1"/>
          <p:nvPr/>
        </p:nvSpPr>
        <p:spPr>
          <a:xfrm>
            <a:off x="6492240" y="494690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0" name="Text 58"/>
          <p:cNvSpPr txBox="1"/>
          <p:nvPr/>
        </p:nvSpPr>
        <p:spPr>
          <a:xfrm>
            <a:off x="6876288" y="4928616"/>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Place order</a:t>
            </a:r>
            <a:endParaRPr lang="en-US" sz="1200" dirty="0"/>
          </a:p>
        </p:txBody>
      </p:sp>
      <p:sp>
        <p:nvSpPr>
          <p:cNvPr id="61" name="Shape 59"/>
          <p:cNvSpPr/>
          <p:nvPr/>
        </p:nvSpPr>
        <p:spPr>
          <a:xfrm>
            <a:off x="6492240" y="5376672"/>
            <a:ext cx="274320" cy="274320"/>
          </a:xfrm>
          <a:prstGeom prst="ellipse">
            <a:avLst/>
          </a:prstGeom>
          <a:solidFill>
            <a:srgbClr val="1C7293"/>
          </a:solidFill>
          <a:ln/>
        </p:spPr>
      </p:sp>
      <p:sp>
        <p:nvSpPr>
          <p:cNvPr id="62" name="Text 60"/>
          <p:cNvSpPr txBox="1"/>
          <p:nvPr/>
        </p:nvSpPr>
        <p:spPr>
          <a:xfrm>
            <a:off x="6492240" y="5376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3" name="Text 61"/>
          <p:cNvSpPr txBox="1"/>
          <p:nvPr/>
        </p:nvSpPr>
        <p:spPr>
          <a:xfrm>
            <a:off x="6876288" y="5358384"/>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Delivery · cancel · refund</a:t>
            </a:r>
            <a:endParaRPr lang="en-US" sz="1200" dirty="0"/>
          </a:p>
        </p:txBody>
      </p:sp>
      <p:sp>
        <p:nvSpPr>
          <p:cNvPr id="64" name="Shape 62"/>
          <p:cNvSpPr/>
          <p:nvPr/>
        </p:nvSpPr>
        <p:spPr>
          <a:xfrm>
            <a:off x="6492240" y="5806440"/>
            <a:ext cx="274320" cy="274320"/>
          </a:xfrm>
          <a:prstGeom prst="ellipse">
            <a:avLst/>
          </a:prstGeom>
          <a:solidFill>
            <a:srgbClr val="1C7293"/>
          </a:solidFill>
          <a:ln/>
        </p:spPr>
      </p:sp>
      <p:sp>
        <p:nvSpPr>
          <p:cNvPr id="65" name="Text 63"/>
          <p:cNvSpPr txBox="1"/>
          <p:nvPr/>
        </p:nvSpPr>
        <p:spPr>
          <a:xfrm>
            <a:off x="6492240" y="58064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6" name="Text 64"/>
          <p:cNvSpPr txBox="1"/>
          <p:nvPr/>
        </p:nvSpPr>
        <p:spPr>
          <a:xfrm>
            <a:off x="6876288" y="578815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Review request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FINDINGS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Four things the research changed</a:t>
            </a:r>
            <a:endParaRPr lang="en-US" sz="3200" dirty="0"/>
          </a:p>
        </p:txBody>
      </p:sp>
      <p:sp>
        <p:nvSpPr>
          <p:cNvPr id="4" name="Shape 2"/>
          <p:cNvSpPr/>
          <p:nvPr/>
        </p:nvSpPr>
        <p:spPr>
          <a:xfrm>
            <a:off x="548640" y="1481328"/>
            <a:ext cx="11064240" cy="1078992"/>
          </a:xfrm>
          <a:prstGeom prst="roundRect">
            <a:avLst>
              <a:gd name="adj" fmla="val 6780"/>
            </a:avLst>
          </a:prstGeom>
          <a:solidFill>
            <a:srgbClr val="FFFFFF"/>
          </a:solidFill>
          <a:ln w="12700">
            <a:solidFill>
              <a:srgbClr val="DCE5EE"/>
            </a:solidFill>
            <a:prstDash val="solid"/>
          </a:ln>
        </p:spPr>
      </p:sp>
      <p:sp>
        <p:nvSpPr>
          <p:cNvPr id="5" name="Text 3"/>
          <p:cNvSpPr txBox="1"/>
          <p:nvPr/>
        </p:nvSpPr>
        <p:spPr>
          <a:xfrm>
            <a:off x="777240" y="160020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6" name="Text 4"/>
          <p:cNvSpPr txBox="1"/>
          <p:nvPr/>
        </p:nvSpPr>
        <p:spPr>
          <a:xfrm>
            <a:off x="777240" y="178308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Solar first</a:t>
            </a:r>
            <a:endParaRPr lang="en-US" sz="1300" dirty="0"/>
          </a:p>
        </p:txBody>
      </p:sp>
      <p:sp>
        <p:nvSpPr>
          <p:cNvPr id="7" name="Shape 5"/>
          <p:cNvSpPr/>
          <p:nvPr/>
        </p:nvSpPr>
        <p:spPr>
          <a:xfrm>
            <a:off x="3703320" y="1865376"/>
            <a:ext cx="457200" cy="201168"/>
          </a:xfrm>
          <a:prstGeom prst="rightArrow">
            <a:avLst/>
          </a:prstGeom>
          <a:solidFill>
            <a:srgbClr val="F2A104"/>
          </a:solidFill>
          <a:ln/>
        </p:spPr>
      </p:sp>
      <p:sp>
        <p:nvSpPr>
          <p:cNvPr id="8" name="Text 6"/>
          <p:cNvSpPr txBox="1"/>
          <p:nvPr/>
        </p:nvSpPr>
        <p:spPr>
          <a:xfrm>
            <a:off x="4343400" y="160020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9" name="Text 7"/>
          <p:cNvSpPr txBox="1"/>
          <p:nvPr/>
        </p:nvSpPr>
        <p:spPr>
          <a:xfrm>
            <a:off x="4343400" y="176479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Pest control, cleaning, removals</a:t>
            </a:r>
            <a:endParaRPr lang="en-US" sz="1300" dirty="0"/>
          </a:p>
        </p:txBody>
      </p:sp>
      <p:sp>
        <p:nvSpPr>
          <p:cNvPr id="10" name="Text 8"/>
          <p:cNvSpPr txBox="1"/>
          <p:nvPr/>
        </p:nvSpPr>
        <p:spPr>
          <a:xfrm>
            <a:off x="7863840" y="166420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EU market fell 0.7% in 2025 - first decline since 2016. Dutch installers down 17% in a year. Most software-saturated trade on the list.</a:t>
            </a:r>
            <a:endParaRPr lang="en-US" sz="1050" dirty="0"/>
          </a:p>
        </p:txBody>
      </p:sp>
      <p:sp>
        <p:nvSpPr>
          <p:cNvPr id="11" name="Shape 9"/>
          <p:cNvSpPr/>
          <p:nvPr/>
        </p:nvSpPr>
        <p:spPr>
          <a:xfrm>
            <a:off x="548640" y="2715768"/>
            <a:ext cx="11064240" cy="1078992"/>
          </a:xfrm>
          <a:prstGeom prst="roundRect">
            <a:avLst>
              <a:gd name="adj" fmla="val 6780"/>
            </a:avLst>
          </a:prstGeom>
          <a:solidFill>
            <a:srgbClr val="F4F7FA"/>
          </a:solidFill>
          <a:ln w="12700">
            <a:solidFill>
              <a:srgbClr val="DCE5EE"/>
            </a:solidFill>
            <a:prstDash val="solid"/>
          </a:ln>
        </p:spPr>
      </p:sp>
      <p:sp>
        <p:nvSpPr>
          <p:cNvPr id="12" name="Text 10"/>
          <p:cNvSpPr txBox="1"/>
          <p:nvPr/>
        </p:nvSpPr>
        <p:spPr>
          <a:xfrm>
            <a:off x="777240" y="283464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13" name="Text 11"/>
          <p:cNvSpPr txBox="1"/>
          <p:nvPr/>
        </p:nvSpPr>
        <p:spPr>
          <a:xfrm>
            <a:off x="777240" y="301752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Odoo as a connector</a:t>
            </a:r>
            <a:endParaRPr lang="en-US" sz="1300" dirty="0"/>
          </a:p>
        </p:txBody>
      </p:sp>
      <p:sp>
        <p:nvSpPr>
          <p:cNvPr id="14" name="Shape 12"/>
          <p:cNvSpPr/>
          <p:nvPr/>
        </p:nvSpPr>
        <p:spPr>
          <a:xfrm>
            <a:off x="3703320" y="3099816"/>
            <a:ext cx="457200" cy="201168"/>
          </a:xfrm>
          <a:prstGeom prst="rightArrow">
            <a:avLst/>
          </a:prstGeom>
          <a:solidFill>
            <a:srgbClr val="F2A104"/>
          </a:solidFill>
          <a:ln/>
        </p:spPr>
      </p:sp>
      <p:sp>
        <p:nvSpPr>
          <p:cNvPr id="15" name="Text 13"/>
          <p:cNvSpPr txBox="1"/>
          <p:nvPr/>
        </p:nvSpPr>
        <p:spPr>
          <a:xfrm>
            <a:off x="4343400" y="283464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16" name="Text 14"/>
          <p:cNvSpPr txBox="1"/>
          <p:nvPr/>
        </p:nvSpPr>
        <p:spPr>
          <a:xfrm>
            <a:off x="4343400" y="299923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Shopify + WooCommerce + no-platform fallback</a:t>
            </a:r>
            <a:endParaRPr lang="en-US" sz="1300" dirty="0"/>
          </a:p>
        </p:txBody>
      </p:sp>
      <p:sp>
        <p:nvSpPr>
          <p:cNvPr id="17" name="Text 15"/>
          <p:cNvSpPr txBox="1"/>
          <p:nvPr/>
        </p:nvSpPr>
        <p:spPr>
          <a:xfrm>
            <a:off x="7863840" y="289864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Odoo is 0.4% of the market, API is paywalled, 1 call/second, protocol expires winter 2027.</a:t>
            </a:r>
            <a:endParaRPr lang="en-US" sz="1050" dirty="0"/>
          </a:p>
        </p:txBody>
      </p:sp>
      <p:sp>
        <p:nvSpPr>
          <p:cNvPr id="18" name="Shape 16"/>
          <p:cNvSpPr/>
          <p:nvPr/>
        </p:nvSpPr>
        <p:spPr>
          <a:xfrm>
            <a:off x="548640" y="3950208"/>
            <a:ext cx="11064240" cy="1078992"/>
          </a:xfrm>
          <a:prstGeom prst="roundRect">
            <a:avLst>
              <a:gd name="adj" fmla="val 6780"/>
            </a:avLst>
          </a:prstGeom>
          <a:solidFill>
            <a:srgbClr val="FFFFFF"/>
          </a:solidFill>
          <a:ln w="12700">
            <a:solidFill>
              <a:srgbClr val="DCE5EE"/>
            </a:solidFill>
            <a:prstDash val="solid"/>
          </a:ln>
        </p:spPr>
      </p:sp>
      <p:sp>
        <p:nvSpPr>
          <p:cNvPr id="19" name="Text 17"/>
          <p:cNvSpPr txBox="1"/>
          <p:nvPr/>
        </p:nvSpPr>
        <p:spPr>
          <a:xfrm>
            <a:off x="777240" y="406908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20" name="Text 18"/>
          <p:cNvSpPr txBox="1"/>
          <p:nvPr/>
        </p:nvSpPr>
        <p:spPr>
          <a:xfrm>
            <a:off x="777240" y="425196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RAG reads the price list</a:t>
            </a:r>
            <a:endParaRPr lang="en-US" sz="1300" dirty="0"/>
          </a:p>
        </p:txBody>
      </p:sp>
      <p:sp>
        <p:nvSpPr>
          <p:cNvPr id="21" name="Shape 19"/>
          <p:cNvSpPr/>
          <p:nvPr/>
        </p:nvSpPr>
        <p:spPr>
          <a:xfrm>
            <a:off x="3703320" y="4334256"/>
            <a:ext cx="457200" cy="201168"/>
          </a:xfrm>
          <a:prstGeom prst="rightArrow">
            <a:avLst/>
          </a:prstGeom>
          <a:solidFill>
            <a:srgbClr val="F2A104"/>
          </a:solidFill>
          <a:ln/>
        </p:spPr>
      </p:sp>
      <p:sp>
        <p:nvSpPr>
          <p:cNvPr id="22" name="Text 20"/>
          <p:cNvSpPr txBox="1"/>
          <p:nvPr/>
        </p:nvSpPr>
        <p:spPr>
          <a:xfrm>
            <a:off x="4343400" y="406908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23" name="Text 21"/>
          <p:cNvSpPr txBox="1"/>
          <p:nvPr/>
        </p:nvSpPr>
        <p:spPr>
          <a:xfrm>
            <a:off x="4343400" y="423367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Extract, owner confirms, code computes</a:t>
            </a:r>
            <a:endParaRPr lang="en-US" sz="1300" dirty="0"/>
          </a:p>
        </p:txBody>
      </p:sp>
      <p:sp>
        <p:nvSpPr>
          <p:cNvPr id="24" name="Text 22"/>
          <p:cNvSpPr txBox="1"/>
          <p:nvPr/>
        </p:nvSpPr>
        <p:spPr>
          <a:xfrm>
            <a:off x="7863840" y="413308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Whole-document extraction accuracy 28-77%. 46.89% of table errors still look correct.</a:t>
            </a:r>
            <a:endParaRPr lang="en-US" sz="1050" dirty="0"/>
          </a:p>
        </p:txBody>
      </p:sp>
      <p:sp>
        <p:nvSpPr>
          <p:cNvPr id="25" name="Shape 23"/>
          <p:cNvSpPr/>
          <p:nvPr/>
        </p:nvSpPr>
        <p:spPr>
          <a:xfrm>
            <a:off x="548640" y="5184648"/>
            <a:ext cx="11064240" cy="1078992"/>
          </a:xfrm>
          <a:prstGeom prst="roundRect">
            <a:avLst>
              <a:gd name="adj" fmla="val 6780"/>
            </a:avLst>
          </a:prstGeom>
          <a:solidFill>
            <a:srgbClr val="F4F7FA"/>
          </a:solidFill>
          <a:ln w="12700">
            <a:solidFill>
              <a:srgbClr val="DCE5EE"/>
            </a:solidFill>
            <a:prstDash val="solid"/>
          </a:ln>
        </p:spPr>
      </p:sp>
      <p:sp>
        <p:nvSpPr>
          <p:cNvPr id="26" name="Text 24"/>
          <p:cNvSpPr txBox="1"/>
          <p:nvPr/>
        </p:nvSpPr>
        <p:spPr>
          <a:xfrm>
            <a:off x="777240" y="530352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27" name="Text 25"/>
          <p:cNvSpPr txBox="1"/>
          <p:nvPr/>
        </p:nvSpPr>
        <p:spPr>
          <a:xfrm>
            <a:off x="777240" y="548640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Pricing rule justified by AI Act</a:t>
            </a:r>
            <a:endParaRPr lang="en-US" sz="1300" dirty="0"/>
          </a:p>
        </p:txBody>
      </p:sp>
      <p:sp>
        <p:nvSpPr>
          <p:cNvPr id="28" name="Shape 26"/>
          <p:cNvSpPr/>
          <p:nvPr/>
        </p:nvSpPr>
        <p:spPr>
          <a:xfrm>
            <a:off x="3703320" y="5568696"/>
            <a:ext cx="457200" cy="201168"/>
          </a:xfrm>
          <a:prstGeom prst="rightArrow">
            <a:avLst/>
          </a:prstGeom>
          <a:solidFill>
            <a:srgbClr val="F2A104"/>
          </a:solidFill>
          <a:ln/>
        </p:spPr>
      </p:sp>
      <p:sp>
        <p:nvSpPr>
          <p:cNvPr id="29" name="Text 27"/>
          <p:cNvSpPr txBox="1"/>
          <p:nvPr/>
        </p:nvSpPr>
        <p:spPr>
          <a:xfrm>
            <a:off x="4343400" y="530352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30" name="Text 28"/>
          <p:cNvSpPr txBox="1"/>
          <p:nvPr/>
        </p:nvSpPr>
        <p:spPr>
          <a:xfrm>
            <a:off x="4343400" y="546811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Justified by contract law</a:t>
            </a:r>
            <a:endParaRPr lang="en-US" sz="1300" dirty="0"/>
          </a:p>
        </p:txBody>
      </p:sp>
      <p:sp>
        <p:nvSpPr>
          <p:cNvPr id="31" name="Text 29"/>
          <p:cNvSpPr txBox="1"/>
          <p:nvPr/>
        </p:nvSpPr>
        <p:spPr>
          <a:xfrm>
            <a:off x="7863840" y="536752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Annex III covers pricing only for life and health insurance. The real exposure is bigger, not smaller.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ARCHITECTURE RULE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pricing boundary - kept, re-justified</a:t>
            </a:r>
            <a:endParaRPr lang="en-US" sz="3200" dirty="0"/>
          </a:p>
        </p:txBody>
      </p:sp>
      <p:sp>
        <p:nvSpPr>
          <p:cNvPr id="4" name="Shape 2"/>
          <p:cNvSpPr/>
          <p:nvPr/>
        </p:nvSpPr>
        <p:spPr>
          <a:xfrm>
            <a:off x="548640" y="1417320"/>
            <a:ext cx="11064240" cy="566928"/>
          </a:xfrm>
          <a:prstGeom prst="roundRect">
            <a:avLst>
              <a:gd name="adj" fmla="val 12903"/>
            </a:avLst>
          </a:prstGeom>
          <a:solidFill>
            <a:srgbClr val="21295C"/>
          </a:solidFill>
          <a:ln/>
        </p:spPr>
      </p:sp>
      <p:sp>
        <p:nvSpPr>
          <p:cNvPr id="5" name="Text 3"/>
          <p:cNvSpPr txBox="1"/>
          <p:nvPr/>
        </p:nvSpPr>
        <p:spPr>
          <a:xfrm>
            <a:off x="777240" y="1417320"/>
            <a:ext cx="1060704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language model never produces a number. Code computes it from structured data a human approved.</a:t>
            </a:r>
            <a:endParaRPr lang="en-US" sz="1400" dirty="0"/>
          </a:p>
        </p:txBody>
      </p:sp>
      <p:sp>
        <p:nvSpPr>
          <p:cNvPr id="6" name="Shape 4"/>
          <p:cNvSpPr/>
          <p:nvPr/>
        </p:nvSpPr>
        <p:spPr>
          <a:xfrm>
            <a:off x="548640" y="2240280"/>
            <a:ext cx="1645920" cy="914400"/>
          </a:xfrm>
          <a:prstGeom prst="roundRect">
            <a:avLst>
              <a:gd name="adj" fmla="val 8000"/>
            </a:avLst>
          </a:prstGeom>
          <a:solidFill>
            <a:srgbClr val="5A6B7B"/>
          </a:solidFill>
          <a:ln/>
        </p:spPr>
      </p:sp>
      <p:sp>
        <p:nvSpPr>
          <p:cNvPr id="7" name="Text 5"/>
          <p:cNvSpPr txBox="1"/>
          <p:nvPr/>
        </p:nvSpPr>
        <p:spPr>
          <a:xfrm>
            <a:off x="54864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Documents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uploaded</a:t>
            </a:r>
            <a:endParaRPr lang="en-US" sz="1150" dirty="0"/>
          </a:p>
        </p:txBody>
      </p:sp>
      <p:sp>
        <p:nvSpPr>
          <p:cNvPr id="8" name="Shape 6"/>
          <p:cNvSpPr/>
          <p:nvPr/>
        </p:nvSpPr>
        <p:spPr>
          <a:xfrm>
            <a:off x="2249424" y="2596896"/>
            <a:ext cx="182880" cy="201168"/>
          </a:xfrm>
          <a:prstGeom prst="rightArrow">
            <a:avLst/>
          </a:prstGeom>
          <a:solidFill>
            <a:srgbClr val="AAB8C4"/>
          </a:solidFill>
          <a:ln/>
        </p:spPr>
      </p:sp>
      <p:sp>
        <p:nvSpPr>
          <p:cNvPr id="9" name="Shape 7"/>
          <p:cNvSpPr/>
          <p:nvPr/>
        </p:nvSpPr>
        <p:spPr>
          <a:xfrm>
            <a:off x="2468880" y="2240280"/>
            <a:ext cx="1645920" cy="914400"/>
          </a:xfrm>
          <a:prstGeom prst="roundRect">
            <a:avLst>
              <a:gd name="adj" fmla="val 8000"/>
            </a:avLst>
          </a:prstGeom>
          <a:solidFill>
            <a:srgbClr val="1C7293"/>
          </a:solidFill>
          <a:ln/>
        </p:spPr>
      </p:sp>
      <p:sp>
        <p:nvSpPr>
          <p:cNvPr id="10" name="Text 8"/>
          <p:cNvSpPr txBox="1"/>
          <p:nvPr/>
        </p:nvSpPr>
        <p:spPr>
          <a:xfrm>
            <a:off x="246888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drafts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rate card</a:t>
            </a:r>
            <a:endParaRPr lang="en-US" sz="1150" dirty="0"/>
          </a:p>
        </p:txBody>
      </p:sp>
      <p:sp>
        <p:nvSpPr>
          <p:cNvPr id="11" name="Shape 9"/>
          <p:cNvSpPr/>
          <p:nvPr/>
        </p:nvSpPr>
        <p:spPr>
          <a:xfrm>
            <a:off x="4169664" y="2596896"/>
            <a:ext cx="182880" cy="201168"/>
          </a:xfrm>
          <a:prstGeom prst="rightArrow">
            <a:avLst/>
          </a:prstGeom>
          <a:solidFill>
            <a:srgbClr val="AAB8C4"/>
          </a:solidFill>
          <a:ln/>
        </p:spPr>
      </p:sp>
      <p:sp>
        <p:nvSpPr>
          <p:cNvPr id="12" name="Shape 10"/>
          <p:cNvSpPr/>
          <p:nvPr/>
        </p:nvSpPr>
        <p:spPr>
          <a:xfrm>
            <a:off x="4389120" y="2240280"/>
            <a:ext cx="1645920" cy="914400"/>
          </a:xfrm>
          <a:prstGeom prst="roundRect">
            <a:avLst>
              <a:gd name="adj" fmla="val 8000"/>
            </a:avLst>
          </a:prstGeom>
          <a:solidFill>
            <a:srgbClr val="F2A104"/>
          </a:solidFill>
          <a:ln/>
        </p:spPr>
      </p:sp>
      <p:sp>
        <p:nvSpPr>
          <p:cNvPr id="13" name="Text 11"/>
          <p:cNvSpPr txBox="1"/>
          <p:nvPr/>
        </p:nvSpPr>
        <p:spPr>
          <a:xfrm>
            <a:off x="4389120" y="2240280"/>
            <a:ext cx="1645920" cy="914400"/>
          </a:xfrm>
          <a:prstGeom prst="rect">
            <a:avLst/>
          </a:prstGeom>
          <a:noFill/>
          <a:ln/>
        </p:spPr>
        <p:txBody>
          <a:bodyPr wrap="square" lIns="0" tIns="0" rIns="0" bIns="0" rtlCol="0" anchor="ctr"/>
          <a:lstStyle/>
          <a:p>
            <a:pPr algn="ctr" indent="0" marL="0">
              <a:buNone/>
            </a:pPr>
            <a:r>
              <a:rPr lang="en-US" sz="1150" b="1" dirty="0">
                <a:solidFill>
                  <a:srgbClr val="1A2733"/>
                </a:solidFill>
                <a:latin typeface="Calibri" pitchFamily="34" charset="0"/>
                <a:ea typeface="Calibri" pitchFamily="34" charset="-122"/>
                <a:cs typeface="Calibri" pitchFamily="34" charset="-120"/>
              </a:rPr>
              <a:t>OWNER</a:t>
            </a:r>
            <a:endParaRPr lang="en-US" sz="1150" dirty="0"/>
          </a:p>
          <a:p>
            <a:pPr algn="ctr" indent="0" marL="0">
              <a:buNone/>
            </a:pPr>
            <a:r>
              <a:rPr lang="en-US" sz="1150" b="1" dirty="0">
                <a:solidFill>
                  <a:srgbClr val="1A2733"/>
                </a:solidFill>
                <a:latin typeface="Calibri" pitchFamily="34" charset="0"/>
                <a:ea typeface="Calibri" pitchFamily="34" charset="-122"/>
                <a:cs typeface="Calibri" pitchFamily="34" charset="-120"/>
              </a:rPr>
              <a:t>CONFIRMS</a:t>
            </a:r>
            <a:endParaRPr lang="en-US" sz="1150" dirty="0"/>
          </a:p>
        </p:txBody>
      </p:sp>
      <p:sp>
        <p:nvSpPr>
          <p:cNvPr id="14" name="Shape 12"/>
          <p:cNvSpPr/>
          <p:nvPr/>
        </p:nvSpPr>
        <p:spPr>
          <a:xfrm>
            <a:off x="6089904" y="2596896"/>
            <a:ext cx="182880" cy="201168"/>
          </a:xfrm>
          <a:prstGeom prst="rightArrow">
            <a:avLst/>
          </a:prstGeom>
          <a:solidFill>
            <a:srgbClr val="AAB8C4"/>
          </a:solidFill>
          <a:ln/>
        </p:spPr>
      </p:sp>
      <p:sp>
        <p:nvSpPr>
          <p:cNvPr id="15" name="Shape 13"/>
          <p:cNvSpPr/>
          <p:nvPr/>
        </p:nvSpPr>
        <p:spPr>
          <a:xfrm>
            <a:off x="6309360" y="2240280"/>
            <a:ext cx="1645920" cy="914400"/>
          </a:xfrm>
          <a:prstGeom prst="roundRect">
            <a:avLst>
              <a:gd name="adj" fmla="val 8000"/>
            </a:avLst>
          </a:prstGeom>
          <a:solidFill>
            <a:srgbClr val="065A82"/>
          </a:solidFill>
          <a:ln/>
        </p:spPr>
      </p:sp>
      <p:sp>
        <p:nvSpPr>
          <p:cNvPr id="16" name="Text 14"/>
          <p:cNvSpPr txBox="1"/>
          <p:nvPr/>
        </p:nvSpPr>
        <p:spPr>
          <a:xfrm>
            <a:off x="630936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Code computes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the price</a:t>
            </a:r>
            <a:endParaRPr lang="en-US" sz="1150" dirty="0"/>
          </a:p>
        </p:txBody>
      </p:sp>
      <p:sp>
        <p:nvSpPr>
          <p:cNvPr id="17" name="Shape 15"/>
          <p:cNvSpPr/>
          <p:nvPr/>
        </p:nvSpPr>
        <p:spPr>
          <a:xfrm>
            <a:off x="8010144" y="2596896"/>
            <a:ext cx="182880" cy="201168"/>
          </a:xfrm>
          <a:prstGeom prst="rightArrow">
            <a:avLst/>
          </a:prstGeom>
          <a:solidFill>
            <a:srgbClr val="AAB8C4"/>
          </a:solidFill>
          <a:ln/>
        </p:spPr>
      </p:sp>
      <p:sp>
        <p:nvSpPr>
          <p:cNvPr id="18" name="Shape 16"/>
          <p:cNvSpPr/>
          <p:nvPr/>
        </p:nvSpPr>
        <p:spPr>
          <a:xfrm>
            <a:off x="8229600" y="2240280"/>
            <a:ext cx="1645920" cy="914400"/>
          </a:xfrm>
          <a:prstGeom prst="roundRect">
            <a:avLst>
              <a:gd name="adj" fmla="val 8000"/>
            </a:avLst>
          </a:prstGeom>
          <a:solidFill>
            <a:srgbClr val="1C7293"/>
          </a:solidFill>
          <a:ln/>
        </p:spPr>
      </p:sp>
      <p:sp>
        <p:nvSpPr>
          <p:cNvPr id="19" name="Text 17"/>
          <p:cNvSpPr txBox="1"/>
          <p:nvPr/>
        </p:nvSpPr>
        <p:spPr>
          <a:xfrm>
            <a:off x="822960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LLM writes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prose only</a:t>
            </a:r>
            <a:endParaRPr lang="en-US" sz="1150" dirty="0"/>
          </a:p>
        </p:txBody>
      </p:sp>
      <p:sp>
        <p:nvSpPr>
          <p:cNvPr id="20" name="Shape 18"/>
          <p:cNvSpPr/>
          <p:nvPr/>
        </p:nvSpPr>
        <p:spPr>
          <a:xfrm>
            <a:off x="9930384" y="2596896"/>
            <a:ext cx="182880" cy="201168"/>
          </a:xfrm>
          <a:prstGeom prst="rightArrow">
            <a:avLst/>
          </a:prstGeom>
          <a:solidFill>
            <a:srgbClr val="AAB8C4"/>
          </a:solidFill>
          <a:ln/>
        </p:spPr>
      </p:sp>
      <p:sp>
        <p:nvSpPr>
          <p:cNvPr id="21" name="Shape 19"/>
          <p:cNvSpPr/>
          <p:nvPr/>
        </p:nvSpPr>
        <p:spPr>
          <a:xfrm>
            <a:off x="10149840" y="2240280"/>
            <a:ext cx="1645920" cy="914400"/>
          </a:xfrm>
          <a:prstGeom prst="roundRect">
            <a:avLst>
              <a:gd name="adj" fmla="val 8000"/>
            </a:avLst>
          </a:prstGeom>
          <a:solidFill>
            <a:srgbClr val="F2A104"/>
          </a:solidFill>
          <a:ln/>
        </p:spPr>
      </p:sp>
      <p:sp>
        <p:nvSpPr>
          <p:cNvPr id="22" name="Text 20"/>
          <p:cNvSpPr txBox="1"/>
          <p:nvPr/>
        </p:nvSpPr>
        <p:spPr>
          <a:xfrm>
            <a:off x="10149840" y="2240280"/>
            <a:ext cx="1645920" cy="914400"/>
          </a:xfrm>
          <a:prstGeom prst="rect">
            <a:avLst/>
          </a:prstGeom>
          <a:noFill/>
          <a:ln/>
        </p:spPr>
        <p:txBody>
          <a:bodyPr wrap="square" lIns="0" tIns="0" rIns="0" bIns="0" rtlCol="0" anchor="ctr"/>
          <a:lstStyle/>
          <a:p>
            <a:pPr algn="ctr" indent="0" marL="0">
              <a:buNone/>
            </a:pPr>
            <a:r>
              <a:rPr lang="en-US" sz="1150" b="1" dirty="0">
                <a:solidFill>
                  <a:srgbClr val="1A2733"/>
                </a:solidFill>
                <a:latin typeface="Calibri" pitchFamily="34" charset="0"/>
                <a:ea typeface="Calibri" pitchFamily="34" charset="-122"/>
                <a:cs typeface="Calibri" pitchFamily="34" charset="-120"/>
              </a:rPr>
              <a:t>OWNER</a:t>
            </a:r>
            <a:endParaRPr lang="en-US" sz="1150" dirty="0"/>
          </a:p>
          <a:p>
            <a:pPr algn="ctr" indent="0" marL="0">
              <a:buNone/>
            </a:pPr>
            <a:r>
              <a:rPr lang="en-US" sz="1150" b="1" dirty="0">
                <a:solidFill>
                  <a:srgbClr val="1A2733"/>
                </a:solidFill>
                <a:latin typeface="Calibri" pitchFamily="34" charset="0"/>
                <a:ea typeface="Calibri" pitchFamily="34" charset="-122"/>
                <a:cs typeface="Calibri" pitchFamily="34" charset="-120"/>
              </a:rPr>
              <a:t>APPROVES</a:t>
            </a:r>
            <a:endParaRPr lang="en-US" sz="1150" dirty="0"/>
          </a:p>
        </p:txBody>
      </p:sp>
      <p:sp>
        <p:nvSpPr>
          <p:cNvPr id="23" name="Text 21"/>
          <p:cNvSpPr txBox="1"/>
          <p:nvPr/>
        </p:nvSpPr>
        <p:spPr>
          <a:xfrm>
            <a:off x="548640" y="3218688"/>
            <a:ext cx="3657600" cy="237744"/>
          </a:xfrm>
          <a:prstGeom prst="rect">
            <a:avLst/>
          </a:prstGeom>
          <a:noFill/>
          <a:ln/>
        </p:spPr>
        <p:txBody>
          <a:bodyPr wrap="square" lIns="0" tIns="0" rIns="0" bIns="0" rtlCol="0" anchor="ctr"/>
          <a:lstStyle/>
          <a:p>
            <a:pPr indent="0" marL="0">
              <a:buNone/>
            </a:pPr>
            <a:r>
              <a:rPr lang="en-US" sz="950" b="1" spc="100" kern="0" dirty="0">
                <a:solidFill>
                  <a:srgbClr val="5A6B7B"/>
                </a:solidFill>
                <a:latin typeface="Calibri" pitchFamily="34" charset="0"/>
                <a:ea typeface="Calibri" pitchFamily="34" charset="-122"/>
                <a:cs typeface="Calibri" pitchFamily="34" charset="-120"/>
              </a:rPr>
              <a:t>SETUP  (once, ~15 min)</a:t>
            </a:r>
            <a:endParaRPr lang="en-US" sz="950" dirty="0"/>
          </a:p>
        </p:txBody>
      </p:sp>
      <p:sp>
        <p:nvSpPr>
          <p:cNvPr id="24" name="Text 22"/>
          <p:cNvSpPr txBox="1"/>
          <p:nvPr/>
        </p:nvSpPr>
        <p:spPr>
          <a:xfrm>
            <a:off x="6309360" y="3218688"/>
            <a:ext cx="5029200" cy="237744"/>
          </a:xfrm>
          <a:prstGeom prst="rect">
            <a:avLst/>
          </a:prstGeom>
          <a:noFill/>
          <a:ln/>
        </p:spPr>
        <p:txBody>
          <a:bodyPr wrap="square" lIns="0" tIns="0" rIns="0" bIns="0" rtlCol="0" anchor="ctr"/>
          <a:lstStyle/>
          <a:p>
            <a:pPr indent="0" marL="0">
              <a:buNone/>
            </a:pPr>
            <a:r>
              <a:rPr lang="en-US" sz="950" b="1" spc="100" kern="0" dirty="0">
                <a:solidFill>
                  <a:srgbClr val="5A6B7B"/>
                </a:solidFill>
                <a:latin typeface="Calibri" pitchFamily="34" charset="0"/>
                <a:ea typeface="Calibri" pitchFamily="34" charset="-122"/>
                <a:cs typeface="Calibri" pitchFamily="34" charset="-120"/>
              </a:rPr>
              <a:t>EVERY QUOTE  (deterministic, auditable)</a:t>
            </a:r>
            <a:endParaRPr lang="en-US" sz="950" dirty="0"/>
          </a:p>
        </p:txBody>
      </p:sp>
      <p:sp>
        <p:nvSpPr>
          <p:cNvPr id="25" name="Shape 23"/>
          <p:cNvSpPr/>
          <p:nvPr/>
        </p:nvSpPr>
        <p:spPr>
          <a:xfrm>
            <a:off x="548640" y="3794760"/>
            <a:ext cx="2651760" cy="1371600"/>
          </a:xfrm>
          <a:prstGeom prst="roundRect">
            <a:avLst>
              <a:gd name="adj" fmla="val 5333"/>
            </a:avLst>
          </a:prstGeom>
          <a:solidFill>
            <a:srgbClr val="FFFFFF"/>
          </a:solidFill>
          <a:ln w="12700">
            <a:solidFill>
              <a:srgbClr val="DCE5EE"/>
            </a:solidFill>
            <a:prstDash val="solid"/>
          </a:ln>
        </p:spPr>
      </p:sp>
      <p:sp>
        <p:nvSpPr>
          <p:cNvPr id="26" name="Text 24"/>
          <p:cNvSpPr txBox="1"/>
          <p:nvPr/>
        </p:nvSpPr>
        <p:spPr>
          <a:xfrm>
            <a:off x="731520" y="3931920"/>
            <a:ext cx="2286000" cy="548640"/>
          </a:xfrm>
          <a:prstGeom prst="rect">
            <a:avLst/>
          </a:prstGeom>
          <a:noFill/>
          <a:ln/>
        </p:spPr>
        <p:txBody>
          <a:bodyPr wrap="square" lIns="0" tIns="0" rIns="0" bIns="0" rtlCol="0" anchor="ctr"/>
          <a:lstStyle/>
          <a:p>
            <a:pPr indent="0" marL="0">
              <a:buNone/>
            </a:pPr>
            <a:r>
              <a:rPr lang="en-US" sz="3000" b="1" dirty="0">
                <a:solidFill>
                  <a:srgbClr val="B23A48"/>
                </a:solidFill>
                <a:latin typeface="Cambria" pitchFamily="34" charset="0"/>
                <a:ea typeface="Cambria" pitchFamily="34" charset="-122"/>
                <a:cs typeface="Cambria" pitchFamily="34" charset="-120"/>
              </a:rPr>
              <a:t>28-77%</a:t>
            </a:r>
            <a:endParaRPr lang="en-US" sz="3000" dirty="0"/>
          </a:p>
        </p:txBody>
      </p:sp>
      <p:sp>
        <p:nvSpPr>
          <p:cNvPr id="27" name="Text 25"/>
          <p:cNvSpPr txBox="1"/>
          <p:nvPr/>
        </p:nvSpPr>
        <p:spPr>
          <a:xfrm>
            <a:off x="73152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whole-document</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extraction accuracy</a:t>
            </a:r>
            <a:endParaRPr lang="en-US" sz="1050" dirty="0"/>
          </a:p>
        </p:txBody>
      </p:sp>
      <p:sp>
        <p:nvSpPr>
          <p:cNvPr id="28" name="Shape 26"/>
          <p:cNvSpPr/>
          <p:nvPr/>
        </p:nvSpPr>
        <p:spPr>
          <a:xfrm>
            <a:off x="3383280" y="3794760"/>
            <a:ext cx="2651760" cy="1371600"/>
          </a:xfrm>
          <a:prstGeom prst="roundRect">
            <a:avLst>
              <a:gd name="adj" fmla="val 5333"/>
            </a:avLst>
          </a:prstGeom>
          <a:solidFill>
            <a:srgbClr val="FFFFFF"/>
          </a:solidFill>
          <a:ln w="12700">
            <a:solidFill>
              <a:srgbClr val="DCE5EE"/>
            </a:solidFill>
            <a:prstDash val="solid"/>
          </a:ln>
        </p:spPr>
      </p:sp>
      <p:sp>
        <p:nvSpPr>
          <p:cNvPr id="29" name="Text 27"/>
          <p:cNvSpPr txBox="1"/>
          <p:nvPr/>
        </p:nvSpPr>
        <p:spPr>
          <a:xfrm>
            <a:off x="3566160" y="3931920"/>
            <a:ext cx="2286000" cy="548640"/>
          </a:xfrm>
          <a:prstGeom prst="rect">
            <a:avLst/>
          </a:prstGeom>
          <a:noFill/>
          <a:ln/>
        </p:spPr>
        <p:txBody>
          <a:bodyPr wrap="square" lIns="0" tIns="0" rIns="0" bIns="0" rtlCol="0" anchor="ctr"/>
          <a:lstStyle/>
          <a:p>
            <a:pPr indent="0" marL="0">
              <a:buNone/>
            </a:pPr>
            <a:r>
              <a:rPr lang="en-US" sz="3000" b="1" dirty="0">
                <a:solidFill>
                  <a:srgbClr val="B23A48"/>
                </a:solidFill>
                <a:latin typeface="Cambria" pitchFamily="34" charset="0"/>
                <a:ea typeface="Cambria" pitchFamily="34" charset="-122"/>
                <a:cs typeface="Cambria" pitchFamily="34" charset="-120"/>
              </a:rPr>
              <a:t>46.89%</a:t>
            </a:r>
            <a:endParaRPr lang="en-US" sz="3000" dirty="0"/>
          </a:p>
        </p:txBody>
      </p:sp>
      <p:sp>
        <p:nvSpPr>
          <p:cNvPr id="30" name="Text 28"/>
          <p:cNvSpPr txBox="1"/>
          <p:nvPr/>
        </p:nvSpPr>
        <p:spPr>
          <a:xfrm>
            <a:off x="356616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of table errors look</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correct anyway</a:t>
            </a:r>
            <a:endParaRPr lang="en-US" sz="1050" dirty="0"/>
          </a:p>
        </p:txBody>
      </p:sp>
      <p:sp>
        <p:nvSpPr>
          <p:cNvPr id="31" name="Shape 29"/>
          <p:cNvSpPr/>
          <p:nvPr/>
        </p:nvSpPr>
        <p:spPr>
          <a:xfrm>
            <a:off x="6217920" y="3794760"/>
            <a:ext cx="2651760" cy="1371600"/>
          </a:xfrm>
          <a:prstGeom prst="roundRect">
            <a:avLst>
              <a:gd name="adj" fmla="val 5333"/>
            </a:avLst>
          </a:prstGeom>
          <a:solidFill>
            <a:srgbClr val="FFFFFF"/>
          </a:solidFill>
          <a:ln w="12700">
            <a:solidFill>
              <a:srgbClr val="DCE5EE"/>
            </a:solidFill>
            <a:prstDash val="solid"/>
          </a:ln>
        </p:spPr>
      </p:sp>
      <p:sp>
        <p:nvSpPr>
          <p:cNvPr id="32" name="Text 30"/>
          <p:cNvSpPr txBox="1"/>
          <p:nvPr/>
        </p:nvSpPr>
        <p:spPr>
          <a:xfrm>
            <a:off x="6400800" y="3931920"/>
            <a:ext cx="2286000" cy="5486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15%</a:t>
            </a:r>
            <a:endParaRPr lang="en-US" sz="3000" dirty="0"/>
          </a:p>
        </p:txBody>
      </p:sp>
      <p:sp>
        <p:nvSpPr>
          <p:cNvPr id="33" name="Text 31"/>
          <p:cNvSpPr txBox="1"/>
          <p:nvPr/>
        </p:nvSpPr>
        <p:spPr>
          <a:xfrm>
            <a:off x="640080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Swedish statutory cap</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on quote overrun</a:t>
            </a:r>
            <a:endParaRPr lang="en-US" sz="1050" dirty="0"/>
          </a:p>
        </p:txBody>
      </p:sp>
      <p:sp>
        <p:nvSpPr>
          <p:cNvPr id="34" name="Shape 32"/>
          <p:cNvSpPr/>
          <p:nvPr/>
        </p:nvSpPr>
        <p:spPr>
          <a:xfrm>
            <a:off x="9052560" y="3794760"/>
            <a:ext cx="2651760" cy="1371600"/>
          </a:xfrm>
          <a:prstGeom prst="roundRect">
            <a:avLst>
              <a:gd name="adj" fmla="val 5333"/>
            </a:avLst>
          </a:prstGeom>
          <a:solidFill>
            <a:srgbClr val="FFFFFF"/>
          </a:solidFill>
          <a:ln w="12700">
            <a:solidFill>
              <a:srgbClr val="DCE5EE"/>
            </a:solidFill>
            <a:prstDash val="solid"/>
          </a:ln>
        </p:spPr>
      </p:sp>
      <p:sp>
        <p:nvSpPr>
          <p:cNvPr id="35" name="Text 33"/>
          <p:cNvSpPr txBox="1"/>
          <p:nvPr/>
        </p:nvSpPr>
        <p:spPr>
          <a:xfrm>
            <a:off x="9235440" y="3931920"/>
            <a:ext cx="2286000" cy="548640"/>
          </a:xfrm>
          <a:prstGeom prst="rect">
            <a:avLst/>
          </a:prstGeom>
          <a:noFill/>
          <a:ln/>
        </p:spPr>
        <p:txBody>
          <a:bodyPr wrap="square" lIns="0" tIns="0" rIns="0" bIns="0" rtlCol="0" anchor="ctr"/>
          <a:lstStyle/>
          <a:p>
            <a:pPr indent="0" marL="0">
              <a:buNone/>
            </a:pPr>
            <a:r>
              <a:rPr lang="en-US" sz="3000" b="1" dirty="0">
                <a:solidFill>
                  <a:srgbClr val="B23A48"/>
                </a:solidFill>
                <a:latin typeface="Cambria" pitchFamily="34" charset="0"/>
                <a:ea typeface="Cambria" pitchFamily="34" charset="-122"/>
                <a:cs typeface="Cambria" pitchFamily="34" charset="-120"/>
              </a:rPr>
              <a:t>~$27k</a:t>
            </a:r>
            <a:endParaRPr lang="en-US" sz="3000" dirty="0"/>
          </a:p>
        </p:txBody>
      </p:sp>
      <p:sp>
        <p:nvSpPr>
          <p:cNvPr id="36" name="Text 34"/>
          <p:cNvSpPr txBox="1"/>
          <p:nvPr/>
        </p:nvSpPr>
        <p:spPr>
          <a:xfrm>
            <a:off x="923544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paid by a dealership on</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an AI-quoted price</a:t>
            </a:r>
            <a:endParaRPr lang="en-US" sz="1050" dirty="0"/>
          </a:p>
        </p:txBody>
      </p:sp>
      <p:sp>
        <p:nvSpPr>
          <p:cNvPr id="37" name="Text 35"/>
          <p:cNvSpPr txBox="1"/>
          <p:nvPr/>
        </p:nvSpPr>
        <p:spPr>
          <a:xfrm>
            <a:off x="548640" y="5440680"/>
            <a:ext cx="11064240" cy="36576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model generates text — it does not enforce policy.”   OWASP RAG guidance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Onboarding is the adoption risk</a:t>
            </a:r>
            <a:endParaRPr lang="en-US" sz="3200" dirty="0"/>
          </a:p>
        </p:txBody>
      </p:sp>
      <p:sp>
        <p:nvSpPr>
          <p:cNvPr id="4" name="Shape 2"/>
          <p:cNvSpPr/>
          <p:nvPr/>
        </p:nvSpPr>
        <p:spPr>
          <a:xfrm>
            <a:off x="548640" y="1417320"/>
            <a:ext cx="5349240" cy="1371600"/>
          </a:xfrm>
          <a:prstGeom prst="roundRect">
            <a:avLst>
              <a:gd name="adj" fmla="val 5333"/>
            </a:avLst>
          </a:prstGeom>
          <a:solidFill>
            <a:srgbClr val="B23A48"/>
          </a:solidFill>
          <a:ln/>
        </p:spPr>
      </p:sp>
      <p:sp>
        <p:nvSpPr>
          <p:cNvPr id="5" name="Text 3"/>
          <p:cNvSpPr txBox="1"/>
          <p:nvPr/>
        </p:nvSpPr>
        <p:spPr>
          <a:xfrm>
            <a:off x="777240" y="1517904"/>
            <a:ext cx="164592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42%</a:t>
            </a:r>
            <a:endParaRPr lang="en-US" sz="4000" dirty="0"/>
          </a:p>
        </p:txBody>
      </p:sp>
      <p:sp>
        <p:nvSpPr>
          <p:cNvPr id="6" name="Text 4"/>
          <p:cNvSpPr txBox="1"/>
          <p:nvPr/>
        </p:nvSpPr>
        <p:spPr>
          <a:xfrm>
            <a:off x="2377440" y="1572768"/>
            <a:ext cx="3383280" cy="10058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surveyed users of a major field-service product still had NO working price book after three months.</a:t>
            </a:r>
            <a:endParaRPr lang="en-US" sz="1200" dirty="0"/>
          </a:p>
        </p:txBody>
      </p:sp>
      <p:sp>
        <p:nvSpPr>
          <p:cNvPr id="7" name="Shape 5"/>
          <p:cNvSpPr/>
          <p:nvPr/>
        </p:nvSpPr>
        <p:spPr>
          <a:xfrm>
            <a:off x="6263640" y="1417320"/>
            <a:ext cx="5349240" cy="1371600"/>
          </a:xfrm>
          <a:prstGeom prst="roundRect">
            <a:avLst>
              <a:gd name="adj" fmla="val 5333"/>
            </a:avLst>
          </a:prstGeom>
          <a:solidFill>
            <a:srgbClr val="2E8B57"/>
          </a:solidFill>
          <a:ln/>
        </p:spPr>
      </p:sp>
      <p:sp>
        <p:nvSpPr>
          <p:cNvPr id="8" name="Text 6"/>
          <p:cNvSpPr txBox="1"/>
          <p:nvPr/>
        </p:nvSpPr>
        <p:spPr>
          <a:xfrm>
            <a:off x="6492240" y="1517904"/>
            <a:ext cx="210312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15 min</a:t>
            </a:r>
            <a:endParaRPr lang="en-US" sz="3400" dirty="0"/>
          </a:p>
        </p:txBody>
      </p:sp>
      <p:sp>
        <p:nvSpPr>
          <p:cNvPr id="9" name="Text 7"/>
          <p:cNvSpPr txBox="1"/>
          <p:nvPr/>
        </p:nvSpPr>
        <p:spPr>
          <a:xfrm>
            <a:off x="8503920" y="1572768"/>
            <a:ext cx="2926080" cy="10058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target to first quote, live on 3-5 services. Achievable only with short rate cards.</a:t>
            </a:r>
            <a:endParaRPr lang="en-US" sz="1200" dirty="0"/>
          </a:p>
        </p:txBody>
      </p:sp>
      <p:sp>
        <p:nvSpPr>
          <p:cNvPr id="10" name="Text 8"/>
          <p:cNvSpPr txBox="1"/>
          <p:nvPr/>
        </p:nvSpPr>
        <p:spPr>
          <a:xfrm>
            <a:off x="548640" y="3017520"/>
            <a:ext cx="11064240" cy="274320"/>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THE SEQUENCE - each step solves what the previous cannot</a:t>
            </a:r>
            <a:endParaRPr lang="en-US" sz="1100" dirty="0"/>
          </a:p>
        </p:txBody>
      </p:sp>
      <p:sp>
        <p:nvSpPr>
          <p:cNvPr id="11" name="Shape 9"/>
          <p:cNvSpPr/>
          <p:nvPr/>
        </p:nvSpPr>
        <p:spPr>
          <a:xfrm>
            <a:off x="548640" y="3383280"/>
            <a:ext cx="2651760" cy="2148840"/>
          </a:xfrm>
          <a:prstGeom prst="roundRect">
            <a:avLst>
              <a:gd name="adj" fmla="val 3404"/>
            </a:avLst>
          </a:prstGeom>
          <a:solidFill>
            <a:srgbClr val="F4F7FA"/>
          </a:solidFill>
          <a:ln w="12700">
            <a:solidFill>
              <a:srgbClr val="F2A104"/>
            </a:solidFill>
            <a:prstDash val="solid"/>
          </a:ln>
        </p:spPr>
      </p:sp>
      <p:sp>
        <p:nvSpPr>
          <p:cNvPr id="12" name="Shape 10"/>
          <p:cNvSpPr/>
          <p:nvPr/>
        </p:nvSpPr>
        <p:spPr>
          <a:xfrm>
            <a:off x="749808" y="3584448"/>
            <a:ext cx="384048" cy="384048"/>
          </a:xfrm>
          <a:prstGeom prst="ellipse">
            <a:avLst/>
          </a:prstGeom>
          <a:solidFill>
            <a:srgbClr val="F2A104"/>
          </a:solidFill>
          <a:ln/>
        </p:spPr>
      </p:sp>
      <p:sp>
        <p:nvSpPr>
          <p:cNvPr id="13" name="Text 11"/>
          <p:cNvSpPr txBox="1"/>
          <p:nvPr/>
        </p:nvSpPr>
        <p:spPr>
          <a:xfrm>
            <a:off x="749808" y="3584448"/>
            <a:ext cx="384048" cy="384048"/>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74980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Industry template</a:t>
            </a:r>
            <a:endParaRPr lang="en-US" sz="1300" dirty="0"/>
          </a:p>
        </p:txBody>
      </p:sp>
      <p:sp>
        <p:nvSpPr>
          <p:cNvPr id="15" name="Text 13"/>
          <p:cNvSpPr txBox="1"/>
          <p:nvPr/>
        </p:nvSpPr>
        <p:spPr>
          <a:xfrm>
            <a:off x="74980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Pre-priced defaults. Owner CORRECTS rather than creates. Works when there is no document at all.</a:t>
            </a:r>
            <a:endParaRPr lang="en-US" sz="1050" dirty="0"/>
          </a:p>
        </p:txBody>
      </p:sp>
      <p:sp>
        <p:nvSpPr>
          <p:cNvPr id="16" name="Shape 14"/>
          <p:cNvSpPr/>
          <p:nvPr/>
        </p:nvSpPr>
        <p:spPr>
          <a:xfrm>
            <a:off x="3255264" y="4389120"/>
            <a:ext cx="109728" cy="201168"/>
          </a:xfrm>
          <a:prstGeom prst="rightArrow">
            <a:avLst/>
          </a:prstGeom>
          <a:solidFill>
            <a:srgbClr val="AAB8C4"/>
          </a:solidFill>
          <a:ln/>
        </p:spPr>
      </p:sp>
      <p:sp>
        <p:nvSpPr>
          <p:cNvPr id="17" name="Shape 15"/>
          <p:cNvSpPr/>
          <p:nvPr/>
        </p:nvSpPr>
        <p:spPr>
          <a:xfrm>
            <a:off x="3383280" y="3383280"/>
            <a:ext cx="2651760" cy="2148840"/>
          </a:xfrm>
          <a:prstGeom prst="roundRect">
            <a:avLst>
              <a:gd name="adj" fmla="val 3404"/>
            </a:avLst>
          </a:prstGeom>
          <a:solidFill>
            <a:srgbClr val="FFFFFF"/>
          </a:solidFill>
          <a:ln w="12700">
            <a:solidFill>
              <a:srgbClr val="DCE5EE"/>
            </a:solidFill>
            <a:prstDash val="solid"/>
          </a:ln>
        </p:spPr>
      </p:sp>
      <p:sp>
        <p:nvSpPr>
          <p:cNvPr id="18" name="Shape 16"/>
          <p:cNvSpPr/>
          <p:nvPr/>
        </p:nvSpPr>
        <p:spPr>
          <a:xfrm>
            <a:off x="3584448" y="3584448"/>
            <a:ext cx="384048" cy="384048"/>
          </a:xfrm>
          <a:prstGeom prst="ellipse">
            <a:avLst/>
          </a:prstGeom>
          <a:solidFill>
            <a:srgbClr val="1C7293"/>
          </a:solidFill>
          <a:ln/>
        </p:spPr>
      </p:sp>
      <p:sp>
        <p:nvSpPr>
          <p:cNvPr id="19" name="Text 17"/>
          <p:cNvSpPr txBox="1"/>
          <p:nvPr/>
        </p:nvSpPr>
        <p:spPr>
          <a:xfrm>
            <a:off x="3584448"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358444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Import existing</a:t>
            </a:r>
            <a:endParaRPr lang="en-US" sz="1300" dirty="0"/>
          </a:p>
        </p:txBody>
      </p:sp>
      <p:sp>
        <p:nvSpPr>
          <p:cNvPr id="21" name="Text 19"/>
          <p:cNvSpPr txBox="1"/>
          <p:nvPr/>
        </p:nvSpPr>
        <p:spPr>
          <a:xfrm>
            <a:off x="358444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CSV, accounting tools. Best data quality, narrowest reach.</a:t>
            </a:r>
            <a:endParaRPr lang="en-US" sz="1050" dirty="0"/>
          </a:p>
        </p:txBody>
      </p:sp>
      <p:sp>
        <p:nvSpPr>
          <p:cNvPr id="22" name="Shape 20"/>
          <p:cNvSpPr/>
          <p:nvPr/>
        </p:nvSpPr>
        <p:spPr>
          <a:xfrm>
            <a:off x="6089904" y="4389120"/>
            <a:ext cx="109728" cy="201168"/>
          </a:xfrm>
          <a:prstGeom prst="rightArrow">
            <a:avLst/>
          </a:prstGeom>
          <a:solidFill>
            <a:srgbClr val="AAB8C4"/>
          </a:solidFill>
          <a:ln/>
        </p:spPr>
      </p:sp>
      <p:sp>
        <p:nvSpPr>
          <p:cNvPr id="23" name="Shape 21"/>
          <p:cNvSpPr/>
          <p:nvPr/>
        </p:nvSpPr>
        <p:spPr>
          <a:xfrm>
            <a:off x="6217920" y="3383280"/>
            <a:ext cx="2651760" cy="2148840"/>
          </a:xfrm>
          <a:prstGeom prst="roundRect">
            <a:avLst>
              <a:gd name="adj" fmla="val 3404"/>
            </a:avLst>
          </a:prstGeom>
          <a:solidFill>
            <a:srgbClr val="FFFFFF"/>
          </a:solidFill>
          <a:ln w="12700">
            <a:solidFill>
              <a:srgbClr val="DCE5EE"/>
            </a:solidFill>
            <a:prstDash val="solid"/>
          </a:ln>
        </p:spPr>
      </p:sp>
      <p:sp>
        <p:nvSpPr>
          <p:cNvPr id="24" name="Shape 22"/>
          <p:cNvSpPr/>
          <p:nvPr/>
        </p:nvSpPr>
        <p:spPr>
          <a:xfrm>
            <a:off x="6419088" y="3584448"/>
            <a:ext cx="384048" cy="384048"/>
          </a:xfrm>
          <a:prstGeom prst="ellipse">
            <a:avLst/>
          </a:prstGeom>
          <a:solidFill>
            <a:srgbClr val="1C7293"/>
          </a:solidFill>
          <a:ln/>
        </p:spPr>
      </p:sp>
      <p:sp>
        <p:nvSpPr>
          <p:cNvPr id="25" name="Text 23"/>
          <p:cNvSpPr txBox="1"/>
          <p:nvPr/>
        </p:nvSpPr>
        <p:spPr>
          <a:xfrm>
            <a:off x="6419088"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641908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Document upload</a:t>
            </a:r>
            <a:endParaRPr lang="en-US" sz="1300" dirty="0"/>
          </a:p>
        </p:txBody>
      </p:sp>
      <p:sp>
        <p:nvSpPr>
          <p:cNvPr id="27" name="Text 25"/>
          <p:cNvSpPr txBox="1"/>
          <p:nvPr/>
        </p:nvSpPr>
        <p:spPr>
          <a:xfrm>
            <a:off x="641908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Drafts the rate card. Owner confirms. ~10-15 min review.</a:t>
            </a:r>
            <a:endParaRPr lang="en-US" sz="1050" dirty="0"/>
          </a:p>
        </p:txBody>
      </p:sp>
      <p:sp>
        <p:nvSpPr>
          <p:cNvPr id="28" name="Shape 26"/>
          <p:cNvSpPr/>
          <p:nvPr/>
        </p:nvSpPr>
        <p:spPr>
          <a:xfrm>
            <a:off x="8924544" y="4389120"/>
            <a:ext cx="109728" cy="201168"/>
          </a:xfrm>
          <a:prstGeom prst="rightArrow">
            <a:avLst/>
          </a:prstGeom>
          <a:solidFill>
            <a:srgbClr val="AAB8C4"/>
          </a:solidFill>
          <a:ln/>
        </p:spPr>
      </p:sp>
      <p:sp>
        <p:nvSpPr>
          <p:cNvPr id="29" name="Shape 27"/>
          <p:cNvSpPr/>
          <p:nvPr/>
        </p:nvSpPr>
        <p:spPr>
          <a:xfrm>
            <a:off x="9052560" y="3383280"/>
            <a:ext cx="2651760" cy="2148840"/>
          </a:xfrm>
          <a:prstGeom prst="roundRect">
            <a:avLst>
              <a:gd name="adj" fmla="val 3404"/>
            </a:avLst>
          </a:prstGeom>
          <a:solidFill>
            <a:srgbClr val="FFFFFF"/>
          </a:solidFill>
          <a:ln w="12700">
            <a:solidFill>
              <a:srgbClr val="DCE5EE"/>
            </a:solidFill>
            <a:prstDash val="solid"/>
          </a:ln>
        </p:spPr>
      </p:sp>
      <p:sp>
        <p:nvSpPr>
          <p:cNvPr id="30" name="Shape 28"/>
          <p:cNvSpPr/>
          <p:nvPr/>
        </p:nvSpPr>
        <p:spPr>
          <a:xfrm>
            <a:off x="9253728" y="3584448"/>
            <a:ext cx="384048" cy="384048"/>
          </a:xfrm>
          <a:prstGeom prst="ellipse">
            <a:avLst/>
          </a:prstGeom>
          <a:solidFill>
            <a:srgbClr val="1C7293"/>
          </a:solidFill>
          <a:ln/>
        </p:spPr>
      </p:sp>
      <p:sp>
        <p:nvSpPr>
          <p:cNvPr id="31" name="Text 29"/>
          <p:cNvSpPr txBox="1"/>
          <p:nvPr/>
        </p:nvSpPr>
        <p:spPr>
          <a:xfrm>
            <a:off x="9253728"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925372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Go live on 3-5</a:t>
            </a:r>
            <a:endParaRPr lang="en-US" sz="1300" dirty="0"/>
          </a:p>
        </p:txBody>
      </p:sp>
      <p:sp>
        <p:nvSpPr>
          <p:cNvPr id="33" name="Text 31"/>
          <p:cNvSpPr txBox="1"/>
          <p:nvPr/>
        </p:nvSpPr>
        <p:spPr>
          <a:xfrm>
            <a:off x="925372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Escalate real gaps mid-conversation. Nobody else does this.</a:t>
            </a:r>
            <a:endParaRPr lang="en-US" sz="1050" dirty="0"/>
          </a:p>
        </p:txBody>
      </p:sp>
      <p:sp>
        <p:nvSpPr>
          <p:cNvPr id="34" name="Text 32"/>
          <p:cNvSpPr txBox="1"/>
          <p:nvPr/>
        </p:nvSpPr>
        <p:spPr>
          <a:xfrm>
            <a:off x="548640" y="5715000"/>
            <a:ext cx="11064240" cy="320040"/>
          </a:xfrm>
          <a:prstGeom prst="rect">
            <a:avLst/>
          </a:prstGeom>
          <a:noFill/>
          <a:ln/>
        </p:spPr>
        <p:txBody>
          <a:bodyPr wrap="square" lIns="0" tIns="0" rIns="0" bIns="0" rtlCol="0" anchor="ctr"/>
          <a:lstStyle/>
          <a:p>
            <a:pPr indent="0" marL="0">
              <a:buNone/>
            </a:pPr>
            <a:r>
              <a:rPr lang="en-US" sz="1250" b="1" i="1" dirty="0">
                <a:solidFill>
                  <a:srgbClr val="065A82"/>
                </a:solidFill>
                <a:latin typeface="Calibri" pitchFamily="34" charset="0"/>
                <a:ea typeface="Calibri" pitchFamily="34" charset="-122"/>
                <a:cs typeface="Calibri" pitchFamily="34" charset="-120"/>
              </a:rPr>
              <a:t>Vertical choice and onboarding feasibility are ONE decision - short rate cards make 15 minutes possible.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PRODUCT MODE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Catalogue connection: the interface is the product</a:t>
            </a:r>
            <a:endParaRPr lang="en-US" sz="3200" dirty="0"/>
          </a:p>
        </p:txBody>
      </p:sp>
      <p:sp>
        <p:nvSpPr>
          <p:cNvPr id="4" name="Shape 2"/>
          <p:cNvSpPr/>
          <p:nvPr/>
        </p:nvSpPr>
        <p:spPr>
          <a:xfrm>
            <a:off x="3931920" y="1371600"/>
            <a:ext cx="4297680" cy="502920"/>
          </a:xfrm>
          <a:prstGeom prst="roundRect">
            <a:avLst>
              <a:gd name="adj" fmla="val 14545"/>
            </a:avLst>
          </a:prstGeom>
          <a:solidFill>
            <a:srgbClr val="21295C"/>
          </a:solidFill>
          <a:ln/>
        </p:spPr>
      </p:sp>
      <p:sp>
        <p:nvSpPr>
          <p:cNvPr id="5" name="Text 3"/>
          <p:cNvSpPr txBox="1"/>
          <p:nvPr/>
        </p:nvSpPr>
        <p:spPr>
          <a:xfrm>
            <a:off x="3931920" y="1371600"/>
            <a:ext cx="4297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Agent tools</a:t>
            </a:r>
            <a:endParaRPr lang="en-US" sz="1300" dirty="0"/>
          </a:p>
        </p:txBody>
      </p:sp>
      <p:sp>
        <p:nvSpPr>
          <p:cNvPr id="6" name="Shape 4"/>
          <p:cNvSpPr/>
          <p:nvPr/>
        </p:nvSpPr>
        <p:spPr>
          <a:xfrm>
            <a:off x="5943600" y="1938528"/>
            <a:ext cx="274320" cy="292608"/>
          </a:xfrm>
          <a:prstGeom prst="downArrow">
            <a:avLst/>
          </a:prstGeom>
          <a:solidFill>
            <a:srgbClr val="5A6B7B"/>
          </a:solidFill>
          <a:ln/>
        </p:spPr>
      </p:sp>
      <p:sp>
        <p:nvSpPr>
          <p:cNvPr id="7" name="Shape 5"/>
          <p:cNvSpPr/>
          <p:nvPr/>
        </p:nvSpPr>
        <p:spPr>
          <a:xfrm>
            <a:off x="2926080" y="2286000"/>
            <a:ext cx="6309360" cy="566928"/>
          </a:xfrm>
          <a:prstGeom prst="roundRect">
            <a:avLst>
              <a:gd name="adj" fmla="val 12903"/>
            </a:avLst>
          </a:prstGeom>
          <a:solidFill>
            <a:srgbClr val="065A82"/>
          </a:solidFill>
          <a:ln/>
        </p:spPr>
      </p:sp>
      <p:sp>
        <p:nvSpPr>
          <p:cNvPr id="8" name="Text 6"/>
          <p:cNvSpPr txBox="1"/>
          <p:nvPr/>
        </p:nvSpPr>
        <p:spPr>
          <a:xfrm>
            <a:off x="2926080" y="2286000"/>
            <a:ext cx="630936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CatalogPort  ·  OrdersPort      the standardised contract</a:t>
            </a:r>
            <a:endParaRPr lang="en-US" sz="1250" dirty="0"/>
          </a:p>
        </p:txBody>
      </p:sp>
      <p:sp>
        <p:nvSpPr>
          <p:cNvPr id="9" name="Shape 7"/>
          <p:cNvSpPr/>
          <p:nvPr/>
        </p:nvSpPr>
        <p:spPr>
          <a:xfrm>
            <a:off x="5943600" y="2916936"/>
            <a:ext cx="274320" cy="292608"/>
          </a:xfrm>
          <a:prstGeom prst="downArrow">
            <a:avLst/>
          </a:prstGeom>
          <a:solidFill>
            <a:srgbClr val="5A6B7B"/>
          </a:solidFill>
          <a:ln/>
        </p:spPr>
      </p:sp>
      <p:sp>
        <p:nvSpPr>
          <p:cNvPr id="10" name="Shape 8"/>
          <p:cNvSpPr/>
          <p:nvPr/>
        </p:nvSpPr>
        <p:spPr>
          <a:xfrm>
            <a:off x="3566160" y="3264408"/>
            <a:ext cx="5029200" cy="502920"/>
          </a:xfrm>
          <a:prstGeom prst="roundRect">
            <a:avLst>
              <a:gd name="adj" fmla="val 14545"/>
            </a:avLst>
          </a:prstGeom>
          <a:solidFill>
            <a:srgbClr val="1C7293"/>
          </a:solidFill>
          <a:ln/>
        </p:spPr>
      </p:sp>
      <p:sp>
        <p:nvSpPr>
          <p:cNvPr id="11" name="Text 9"/>
          <p:cNvSpPr txBox="1"/>
          <p:nvPr/>
        </p:nvSpPr>
        <p:spPr>
          <a:xfrm>
            <a:off x="3566160" y="3264408"/>
            <a:ext cx="50292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 model  —  ALWAYS queried here</a:t>
            </a:r>
            <a:endParaRPr lang="en-US" sz="1200" dirty="0"/>
          </a:p>
        </p:txBody>
      </p:sp>
      <p:sp>
        <p:nvSpPr>
          <p:cNvPr id="12" name="Shape 10"/>
          <p:cNvSpPr/>
          <p:nvPr/>
        </p:nvSpPr>
        <p:spPr>
          <a:xfrm>
            <a:off x="548640" y="4206240"/>
            <a:ext cx="2651760" cy="1417320"/>
          </a:xfrm>
          <a:prstGeom prst="roundRect">
            <a:avLst>
              <a:gd name="adj" fmla="val 5161"/>
            </a:avLst>
          </a:prstGeom>
          <a:solidFill>
            <a:srgbClr val="F4F7FA"/>
          </a:solidFill>
          <a:ln w="12700">
            <a:solidFill>
              <a:srgbClr val="C9D6E2"/>
            </a:solidFill>
            <a:prstDash val="solid"/>
          </a:ln>
        </p:spPr>
      </p:sp>
      <p:sp>
        <p:nvSpPr>
          <p:cNvPr id="13" name="Text 11"/>
          <p:cNvSpPr txBox="1"/>
          <p:nvPr/>
        </p:nvSpPr>
        <p:spPr>
          <a:xfrm>
            <a:off x="731520" y="4352544"/>
            <a:ext cx="2286000" cy="29260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No platform</a:t>
            </a:r>
            <a:endParaRPr lang="en-US" sz="1350" dirty="0"/>
          </a:p>
        </p:txBody>
      </p:sp>
      <p:sp>
        <p:nvSpPr>
          <p:cNvPr id="14" name="Text 12"/>
          <p:cNvSpPr txBox="1"/>
          <p:nvPr/>
        </p:nvSpPr>
        <p:spPr>
          <a:xfrm>
            <a:off x="73152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sheet / CSV</a:t>
            </a:r>
            <a:endParaRPr lang="en-US" sz="1050" dirty="0"/>
          </a:p>
        </p:txBody>
      </p:sp>
      <p:sp>
        <p:nvSpPr>
          <p:cNvPr id="15" name="Shape 13"/>
          <p:cNvSpPr/>
          <p:nvPr/>
        </p:nvSpPr>
        <p:spPr>
          <a:xfrm>
            <a:off x="731520" y="5029200"/>
            <a:ext cx="1188720" cy="274320"/>
          </a:xfrm>
          <a:prstGeom prst="roundRect">
            <a:avLst>
              <a:gd name="adj" fmla="val 33333"/>
            </a:avLst>
          </a:prstGeom>
          <a:solidFill>
            <a:srgbClr val="2E8B57"/>
          </a:solidFill>
          <a:ln/>
        </p:spPr>
      </p:sp>
      <p:sp>
        <p:nvSpPr>
          <p:cNvPr id="16" name="Text 14"/>
          <p:cNvSpPr txBox="1"/>
          <p:nvPr/>
        </p:nvSpPr>
        <p:spPr>
          <a:xfrm>
            <a:off x="73152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1st</a:t>
            </a:r>
            <a:endParaRPr lang="en-US" sz="850" dirty="0"/>
          </a:p>
        </p:txBody>
      </p:sp>
      <p:sp>
        <p:nvSpPr>
          <p:cNvPr id="17" name="Shape 15"/>
          <p:cNvSpPr/>
          <p:nvPr/>
        </p:nvSpPr>
        <p:spPr>
          <a:xfrm>
            <a:off x="3383280" y="4206240"/>
            <a:ext cx="2651760" cy="1417320"/>
          </a:xfrm>
          <a:prstGeom prst="roundRect">
            <a:avLst>
              <a:gd name="adj" fmla="val 5161"/>
            </a:avLst>
          </a:prstGeom>
          <a:solidFill>
            <a:srgbClr val="F4F7FA"/>
          </a:solidFill>
          <a:ln w="12700">
            <a:solidFill>
              <a:srgbClr val="C9D6E2"/>
            </a:solidFill>
            <a:prstDash val="solid"/>
          </a:ln>
        </p:spPr>
      </p:sp>
      <p:sp>
        <p:nvSpPr>
          <p:cNvPr id="18" name="Text 16"/>
          <p:cNvSpPr txBox="1"/>
          <p:nvPr/>
        </p:nvSpPr>
        <p:spPr>
          <a:xfrm>
            <a:off x="3566160" y="4352544"/>
            <a:ext cx="2286000" cy="29260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Shopify</a:t>
            </a:r>
            <a:endParaRPr lang="en-US" sz="1350" dirty="0"/>
          </a:p>
        </p:txBody>
      </p:sp>
      <p:sp>
        <p:nvSpPr>
          <p:cNvPr id="19" name="Text 17"/>
          <p:cNvSpPr txBox="1"/>
          <p:nvPr/>
        </p:nvSpPr>
        <p:spPr>
          <a:xfrm>
            <a:off x="356616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2 clicks, OAuth</a:t>
            </a:r>
            <a:endParaRPr lang="en-US" sz="1050" dirty="0"/>
          </a:p>
        </p:txBody>
      </p:sp>
      <p:sp>
        <p:nvSpPr>
          <p:cNvPr id="20" name="Shape 18"/>
          <p:cNvSpPr/>
          <p:nvPr/>
        </p:nvSpPr>
        <p:spPr>
          <a:xfrm>
            <a:off x="3566160" y="5029200"/>
            <a:ext cx="1188720" cy="274320"/>
          </a:xfrm>
          <a:prstGeom prst="roundRect">
            <a:avLst>
              <a:gd name="adj" fmla="val 33333"/>
            </a:avLst>
          </a:prstGeom>
          <a:solidFill>
            <a:srgbClr val="2E8B57"/>
          </a:solidFill>
          <a:ln/>
        </p:spPr>
      </p:sp>
      <p:sp>
        <p:nvSpPr>
          <p:cNvPr id="21" name="Text 19"/>
          <p:cNvSpPr txBox="1"/>
          <p:nvPr/>
        </p:nvSpPr>
        <p:spPr>
          <a:xfrm>
            <a:off x="356616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2nd</a:t>
            </a:r>
            <a:endParaRPr lang="en-US" sz="850" dirty="0"/>
          </a:p>
        </p:txBody>
      </p:sp>
      <p:sp>
        <p:nvSpPr>
          <p:cNvPr id="22" name="Shape 20"/>
          <p:cNvSpPr/>
          <p:nvPr/>
        </p:nvSpPr>
        <p:spPr>
          <a:xfrm>
            <a:off x="6217920" y="4206240"/>
            <a:ext cx="2651760" cy="1417320"/>
          </a:xfrm>
          <a:prstGeom prst="roundRect">
            <a:avLst>
              <a:gd name="adj" fmla="val 5161"/>
            </a:avLst>
          </a:prstGeom>
          <a:solidFill>
            <a:srgbClr val="F4F7FA"/>
          </a:solidFill>
          <a:ln w="12700">
            <a:solidFill>
              <a:srgbClr val="C9D6E2"/>
            </a:solidFill>
            <a:prstDash val="solid"/>
          </a:ln>
        </p:spPr>
      </p:sp>
      <p:sp>
        <p:nvSpPr>
          <p:cNvPr id="23" name="Text 21"/>
          <p:cNvSpPr txBox="1"/>
          <p:nvPr/>
        </p:nvSpPr>
        <p:spPr>
          <a:xfrm>
            <a:off x="6400800" y="4352544"/>
            <a:ext cx="2286000" cy="29260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WooCommerce</a:t>
            </a:r>
            <a:endParaRPr lang="en-US" sz="1350" dirty="0"/>
          </a:p>
        </p:txBody>
      </p:sp>
      <p:sp>
        <p:nvSpPr>
          <p:cNvPr id="24" name="Text 22"/>
          <p:cNvSpPr txBox="1"/>
          <p:nvPr/>
        </p:nvSpPr>
        <p:spPr>
          <a:xfrm>
            <a:off x="640080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wc-auth endpoint</a:t>
            </a:r>
            <a:endParaRPr lang="en-US" sz="1050" dirty="0"/>
          </a:p>
        </p:txBody>
      </p:sp>
      <p:sp>
        <p:nvSpPr>
          <p:cNvPr id="25" name="Shape 23"/>
          <p:cNvSpPr/>
          <p:nvPr/>
        </p:nvSpPr>
        <p:spPr>
          <a:xfrm>
            <a:off x="6400800" y="5029200"/>
            <a:ext cx="1188720" cy="274320"/>
          </a:xfrm>
          <a:prstGeom prst="roundRect">
            <a:avLst>
              <a:gd name="adj" fmla="val 33333"/>
            </a:avLst>
          </a:prstGeom>
          <a:solidFill>
            <a:srgbClr val="2E8B57"/>
          </a:solidFill>
          <a:ln/>
        </p:spPr>
      </p:sp>
      <p:sp>
        <p:nvSpPr>
          <p:cNvPr id="26" name="Text 24"/>
          <p:cNvSpPr txBox="1"/>
          <p:nvPr/>
        </p:nvSpPr>
        <p:spPr>
          <a:xfrm>
            <a:off x="640080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3rd</a:t>
            </a:r>
            <a:endParaRPr lang="en-US" sz="850" dirty="0"/>
          </a:p>
        </p:txBody>
      </p:sp>
      <p:sp>
        <p:nvSpPr>
          <p:cNvPr id="27" name="Shape 25"/>
          <p:cNvSpPr/>
          <p:nvPr/>
        </p:nvSpPr>
        <p:spPr>
          <a:xfrm>
            <a:off x="9052560" y="4206240"/>
            <a:ext cx="2651760" cy="1417320"/>
          </a:xfrm>
          <a:prstGeom prst="roundRect">
            <a:avLst>
              <a:gd name="adj" fmla="val 5161"/>
            </a:avLst>
          </a:prstGeom>
          <a:solidFill>
            <a:srgbClr val="F7EDEE"/>
          </a:solidFill>
          <a:ln w="12700">
            <a:solidFill>
              <a:srgbClr val="B23A48"/>
            </a:solidFill>
            <a:prstDash val="solid"/>
          </a:ln>
        </p:spPr>
      </p:sp>
      <p:sp>
        <p:nvSpPr>
          <p:cNvPr id="28" name="Text 26"/>
          <p:cNvSpPr txBox="1"/>
          <p:nvPr/>
        </p:nvSpPr>
        <p:spPr>
          <a:xfrm>
            <a:off x="9235440" y="4352544"/>
            <a:ext cx="2286000" cy="292608"/>
          </a:xfrm>
          <a:prstGeom prst="rect">
            <a:avLst/>
          </a:prstGeom>
          <a:noFill/>
          <a:ln/>
        </p:spPr>
        <p:txBody>
          <a:bodyPr wrap="square" lIns="0" tIns="0" rIns="0" bIns="0" rtlCol="0" anchor="ctr"/>
          <a:lstStyle/>
          <a:p>
            <a:pPr indent="0" marL="0">
              <a:buNone/>
            </a:pPr>
            <a:r>
              <a:rPr lang="en-US" sz="1350" b="1" strike="sngStrike" dirty="0">
                <a:solidFill>
                  <a:srgbClr val="B23A48"/>
                </a:solidFill>
                <a:latin typeface="Calibri" pitchFamily="34" charset="0"/>
                <a:ea typeface="Calibri" pitchFamily="34" charset="-122"/>
                <a:cs typeface="Calibri" pitchFamily="34" charset="-120"/>
              </a:rPr>
              <a:t>Odoo</a:t>
            </a:r>
            <a:endParaRPr lang="en-US" sz="1350" dirty="0"/>
          </a:p>
        </p:txBody>
      </p:sp>
      <p:sp>
        <p:nvSpPr>
          <p:cNvPr id="29" name="Text 27"/>
          <p:cNvSpPr txBox="1"/>
          <p:nvPr/>
        </p:nvSpPr>
        <p:spPr>
          <a:xfrm>
            <a:off x="923544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paywalled API</a:t>
            </a:r>
            <a:endParaRPr lang="en-US" sz="1050" dirty="0"/>
          </a:p>
        </p:txBody>
      </p:sp>
      <p:sp>
        <p:nvSpPr>
          <p:cNvPr id="30" name="Shape 28"/>
          <p:cNvSpPr/>
          <p:nvPr/>
        </p:nvSpPr>
        <p:spPr>
          <a:xfrm>
            <a:off x="9235440" y="5029200"/>
            <a:ext cx="1188720" cy="274320"/>
          </a:xfrm>
          <a:prstGeom prst="roundRect">
            <a:avLst>
              <a:gd name="adj" fmla="val 33333"/>
            </a:avLst>
          </a:prstGeom>
          <a:solidFill>
            <a:srgbClr val="B23A48"/>
          </a:solidFill>
          <a:ln/>
        </p:spPr>
      </p:sp>
      <p:sp>
        <p:nvSpPr>
          <p:cNvPr id="31" name="Text 29"/>
          <p:cNvSpPr txBox="1"/>
          <p:nvPr/>
        </p:nvSpPr>
        <p:spPr>
          <a:xfrm>
            <a:off x="923544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DROPPED</a:t>
            </a:r>
            <a:endParaRPr lang="en-US" sz="850" dirty="0"/>
          </a:p>
        </p:txBody>
      </p:sp>
      <p:sp>
        <p:nvSpPr>
          <p:cNvPr id="32" name="Text 30"/>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Shopify + WooCommerce = 66-72% of shops in every target country.   No-platform fallback reaches the rest.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DATA FRESHNESS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What the agent may promise</a:t>
            </a:r>
            <a:endParaRPr lang="en-US" sz="3200" dirty="0"/>
          </a:p>
        </p:txBody>
      </p:sp>
      <p:sp>
        <p:nvSpPr>
          <p:cNvPr id="4" name="Text 2"/>
          <p:cNvSpPr txBox="1"/>
          <p:nvPr/>
        </p:nvSpPr>
        <p:spPr>
          <a:xfrm>
            <a:off x="548640" y="1371600"/>
            <a:ext cx="11064240" cy="32004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No engineering makes a spreadsheet fresh. So manage the promise instead.</a:t>
            </a:r>
            <a:endParaRPr lang="en-US" sz="1400" dirty="0"/>
          </a:p>
        </p:txBody>
      </p:sp>
      <p:sp>
        <p:nvSpPr>
          <p:cNvPr id="5" name="Shape 3"/>
          <p:cNvSpPr/>
          <p:nvPr/>
        </p:nvSpPr>
        <p:spPr>
          <a:xfrm>
            <a:off x="548640" y="1920240"/>
            <a:ext cx="11064240" cy="1051560"/>
          </a:xfrm>
          <a:prstGeom prst="roundRect">
            <a:avLst>
              <a:gd name="adj" fmla="val 6957"/>
            </a:avLst>
          </a:prstGeom>
          <a:solidFill>
            <a:srgbClr val="FFFFFF"/>
          </a:solidFill>
          <a:ln w="12700">
            <a:solidFill>
              <a:srgbClr val="DCE5EE"/>
            </a:solidFill>
            <a:prstDash val="solid"/>
          </a:ln>
        </p:spPr>
      </p:sp>
      <p:sp>
        <p:nvSpPr>
          <p:cNvPr id="6" name="Shape 4"/>
          <p:cNvSpPr/>
          <p:nvPr/>
        </p:nvSpPr>
        <p:spPr>
          <a:xfrm>
            <a:off x="777240" y="2176272"/>
            <a:ext cx="1737360" cy="530352"/>
          </a:xfrm>
          <a:prstGeom prst="roundRect">
            <a:avLst>
              <a:gd name="adj" fmla="val 13793"/>
            </a:avLst>
          </a:prstGeom>
          <a:solidFill>
            <a:srgbClr val="2E8B57"/>
          </a:solidFill>
          <a:ln/>
        </p:spPr>
      </p:sp>
      <p:sp>
        <p:nvSpPr>
          <p:cNvPr id="7" name="Text 5"/>
          <p:cNvSpPr txBox="1"/>
          <p:nvPr/>
        </p:nvSpPr>
        <p:spPr>
          <a:xfrm>
            <a:off x="777240" y="2176272"/>
            <a:ext cx="173736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&lt; 24 hours</a:t>
            </a:r>
            <a:endParaRPr lang="en-US" sz="1200" dirty="0"/>
          </a:p>
        </p:txBody>
      </p:sp>
      <p:sp>
        <p:nvSpPr>
          <p:cNvPr id="8" name="Text 6"/>
          <p:cNvSpPr txBox="1"/>
          <p:nvPr/>
        </p:nvSpPr>
        <p:spPr>
          <a:xfrm>
            <a:off x="2834640" y="2194560"/>
            <a:ext cx="4754880" cy="502920"/>
          </a:xfrm>
          <a:prstGeom prst="rect">
            <a:avLst/>
          </a:prstGeom>
          <a:noFill/>
          <a:ln/>
        </p:spPr>
        <p:txBody>
          <a:bodyPr wrap="square" lIns="0" tIns="0" rIns="0" bIns="0" rtlCol="0" anchor="ctr"/>
          <a:lstStyle/>
          <a:p>
            <a:pPr indent="0" marL="0">
              <a:buNone/>
            </a:pPr>
            <a:r>
              <a:rPr lang="en-US" sz="1700" dirty="0">
                <a:solidFill>
                  <a:srgbClr val="21295C"/>
                </a:solidFill>
                <a:latin typeface="Cambria" pitchFamily="34" charset="0"/>
                <a:ea typeface="Cambria" pitchFamily="34" charset="-122"/>
                <a:cs typeface="Cambria" pitchFamily="34" charset="-120"/>
              </a:rPr>
              <a:t>“Yes, in stock.”</a:t>
            </a:r>
            <a:endParaRPr lang="en-US" sz="1700" dirty="0"/>
          </a:p>
        </p:txBody>
      </p:sp>
      <p:sp>
        <p:nvSpPr>
          <p:cNvPr id="9" name="Text 7"/>
          <p:cNvSpPr txBox="1"/>
          <p:nvPr/>
        </p:nvSpPr>
        <p:spPr>
          <a:xfrm>
            <a:off x="7863840" y="2194560"/>
            <a:ext cx="3566160" cy="502920"/>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Can take payment</a:t>
            </a:r>
            <a:endParaRPr lang="en-US" sz="1250" dirty="0"/>
          </a:p>
        </p:txBody>
      </p:sp>
      <p:sp>
        <p:nvSpPr>
          <p:cNvPr id="10" name="Shape 8"/>
          <p:cNvSpPr/>
          <p:nvPr/>
        </p:nvSpPr>
        <p:spPr>
          <a:xfrm>
            <a:off x="548640" y="3127248"/>
            <a:ext cx="11064240" cy="1051560"/>
          </a:xfrm>
          <a:prstGeom prst="roundRect">
            <a:avLst>
              <a:gd name="adj" fmla="val 6957"/>
            </a:avLst>
          </a:prstGeom>
          <a:solidFill>
            <a:srgbClr val="FFFFFF"/>
          </a:solidFill>
          <a:ln w="12700">
            <a:solidFill>
              <a:srgbClr val="DCE5EE"/>
            </a:solidFill>
            <a:prstDash val="solid"/>
          </a:ln>
        </p:spPr>
      </p:sp>
      <p:sp>
        <p:nvSpPr>
          <p:cNvPr id="11" name="Shape 9"/>
          <p:cNvSpPr/>
          <p:nvPr/>
        </p:nvSpPr>
        <p:spPr>
          <a:xfrm>
            <a:off x="777240" y="3383280"/>
            <a:ext cx="1737360" cy="530352"/>
          </a:xfrm>
          <a:prstGeom prst="roundRect">
            <a:avLst>
              <a:gd name="adj" fmla="val 13793"/>
            </a:avLst>
          </a:prstGeom>
          <a:solidFill>
            <a:srgbClr val="F2A104"/>
          </a:solidFill>
          <a:ln/>
        </p:spPr>
      </p:sp>
      <p:sp>
        <p:nvSpPr>
          <p:cNvPr id="12" name="Text 10"/>
          <p:cNvSpPr txBox="1"/>
          <p:nvPr/>
        </p:nvSpPr>
        <p:spPr>
          <a:xfrm>
            <a:off x="777240" y="3383280"/>
            <a:ext cx="173736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&lt; 2 weeks</a:t>
            </a:r>
            <a:endParaRPr lang="en-US" sz="1200" dirty="0"/>
          </a:p>
        </p:txBody>
      </p:sp>
      <p:sp>
        <p:nvSpPr>
          <p:cNvPr id="13" name="Text 11"/>
          <p:cNvSpPr txBox="1"/>
          <p:nvPr/>
        </p:nvSpPr>
        <p:spPr>
          <a:xfrm>
            <a:off x="2834640" y="3401568"/>
            <a:ext cx="4754880" cy="502920"/>
          </a:xfrm>
          <a:prstGeom prst="rect">
            <a:avLst/>
          </a:prstGeom>
          <a:noFill/>
          <a:ln/>
        </p:spPr>
        <p:txBody>
          <a:bodyPr wrap="square" lIns="0" tIns="0" rIns="0" bIns="0" rtlCol="0" anchor="ctr"/>
          <a:lstStyle/>
          <a:p>
            <a:pPr indent="0" marL="0">
              <a:buNone/>
            </a:pPr>
            <a:r>
              <a:rPr lang="en-US" sz="1700" dirty="0">
                <a:solidFill>
                  <a:srgbClr val="21295C"/>
                </a:solidFill>
                <a:latin typeface="Cambria" pitchFamily="34" charset="0"/>
                <a:ea typeface="Cambria" pitchFamily="34" charset="-122"/>
                <a:cs typeface="Cambria" pitchFamily="34" charset="-120"/>
              </a:rPr>
              <a:t>“Let me confirm that.”</a:t>
            </a:r>
            <a:endParaRPr lang="en-US" sz="1700" dirty="0"/>
          </a:p>
        </p:txBody>
      </p:sp>
      <p:sp>
        <p:nvSpPr>
          <p:cNvPr id="14" name="Text 12"/>
          <p:cNvSpPr txBox="1"/>
          <p:nvPr/>
        </p:nvSpPr>
        <p:spPr>
          <a:xfrm>
            <a:off x="7863840" y="3401568"/>
            <a:ext cx="3566160" cy="502920"/>
          </a:xfrm>
          <a:prstGeom prst="rect">
            <a:avLst/>
          </a:prstGeom>
          <a:noFill/>
          <a:ln/>
        </p:spPr>
        <p:txBody>
          <a:bodyPr wrap="square" lIns="0" tIns="0" rIns="0" bIns="0" rtlCol="0" anchor="ctr"/>
          <a:lstStyle/>
          <a:p>
            <a:pPr indent="0" marL="0">
              <a:buNone/>
            </a:pPr>
            <a:r>
              <a:rPr lang="en-US" sz="1250" b="1" dirty="0">
                <a:solidFill>
                  <a:srgbClr val="F2A104"/>
                </a:solidFill>
                <a:latin typeface="Calibri" pitchFamily="34" charset="0"/>
                <a:ea typeface="Calibri" pitchFamily="34" charset="-122"/>
                <a:cs typeface="Calibri" pitchFamily="34" charset="-120"/>
              </a:rPr>
              <a:t>Reserve only</a:t>
            </a:r>
            <a:endParaRPr lang="en-US" sz="1250" dirty="0"/>
          </a:p>
        </p:txBody>
      </p:sp>
      <p:sp>
        <p:nvSpPr>
          <p:cNvPr id="15" name="Shape 13"/>
          <p:cNvSpPr/>
          <p:nvPr/>
        </p:nvSpPr>
        <p:spPr>
          <a:xfrm>
            <a:off x="548640" y="4334256"/>
            <a:ext cx="11064240" cy="1051560"/>
          </a:xfrm>
          <a:prstGeom prst="roundRect">
            <a:avLst>
              <a:gd name="adj" fmla="val 6957"/>
            </a:avLst>
          </a:prstGeom>
          <a:solidFill>
            <a:srgbClr val="FFFFFF"/>
          </a:solidFill>
          <a:ln w="12700">
            <a:solidFill>
              <a:srgbClr val="DCE5EE"/>
            </a:solidFill>
            <a:prstDash val="solid"/>
          </a:ln>
        </p:spPr>
      </p:sp>
      <p:sp>
        <p:nvSpPr>
          <p:cNvPr id="16" name="Shape 14"/>
          <p:cNvSpPr/>
          <p:nvPr/>
        </p:nvSpPr>
        <p:spPr>
          <a:xfrm>
            <a:off x="777240" y="4590288"/>
            <a:ext cx="1737360" cy="530352"/>
          </a:xfrm>
          <a:prstGeom prst="roundRect">
            <a:avLst>
              <a:gd name="adj" fmla="val 13793"/>
            </a:avLst>
          </a:prstGeom>
          <a:solidFill>
            <a:srgbClr val="B23A48"/>
          </a:solidFill>
          <a:ln/>
        </p:spPr>
      </p:sp>
      <p:sp>
        <p:nvSpPr>
          <p:cNvPr id="17" name="Text 15"/>
          <p:cNvSpPr txBox="1"/>
          <p:nvPr/>
        </p:nvSpPr>
        <p:spPr>
          <a:xfrm>
            <a:off x="777240" y="4590288"/>
            <a:ext cx="173736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&gt; 60 days</a:t>
            </a:r>
            <a:endParaRPr lang="en-US" sz="1200" dirty="0"/>
          </a:p>
        </p:txBody>
      </p:sp>
      <p:sp>
        <p:nvSpPr>
          <p:cNvPr id="18" name="Text 16"/>
          <p:cNvSpPr txBox="1"/>
          <p:nvPr/>
        </p:nvSpPr>
        <p:spPr>
          <a:xfrm>
            <a:off x="2834640" y="4608576"/>
            <a:ext cx="4754880" cy="502920"/>
          </a:xfrm>
          <a:prstGeom prst="rect">
            <a:avLst/>
          </a:prstGeom>
          <a:noFill/>
          <a:ln/>
        </p:spPr>
        <p:txBody>
          <a:bodyPr wrap="square" lIns="0" tIns="0" rIns="0" bIns="0" rtlCol="0" anchor="ctr"/>
          <a:lstStyle/>
          <a:p>
            <a:pPr indent="0" marL="0">
              <a:buNone/>
            </a:pPr>
            <a:r>
              <a:rPr lang="en-US" sz="1700" dirty="0">
                <a:solidFill>
                  <a:srgbClr val="21295C"/>
                </a:solidFill>
                <a:latin typeface="Cambria" pitchFamily="34" charset="0"/>
                <a:ea typeface="Cambria" pitchFamily="34" charset="-122"/>
                <a:cs typeface="Cambria" pitchFamily="34" charset="-120"/>
              </a:rPr>
              <a:t>Stops asserting stock</a:t>
            </a:r>
            <a:endParaRPr lang="en-US" sz="1700" dirty="0"/>
          </a:p>
        </p:txBody>
      </p:sp>
      <p:sp>
        <p:nvSpPr>
          <p:cNvPr id="19" name="Text 17"/>
          <p:cNvSpPr txBox="1"/>
          <p:nvPr/>
        </p:nvSpPr>
        <p:spPr>
          <a:xfrm>
            <a:off x="7863840" y="4608576"/>
            <a:ext cx="3566160" cy="502920"/>
          </a:xfrm>
          <a:prstGeom prst="rect">
            <a:avLst/>
          </a:prstGeom>
          <a:noFill/>
          <a:ln/>
        </p:spPr>
        <p:txBody>
          <a:bodyPr wrap="square" lIns="0" tIns="0" rIns="0" bIns="0" rtlCol="0" anchor="ctr"/>
          <a:lstStyle/>
          <a:p>
            <a:pPr indent="0" marL="0">
              <a:buNone/>
            </a:pPr>
            <a:r>
              <a:rPr lang="en-US" sz="1250" b="1" dirty="0">
                <a:solidFill>
                  <a:srgbClr val="B23A48"/>
                </a:solidFill>
                <a:latin typeface="Calibri" pitchFamily="34" charset="0"/>
                <a:ea typeface="Calibri" pitchFamily="34" charset="-122"/>
                <a:cs typeface="Calibri" pitchFamily="34" charset="-120"/>
              </a:rPr>
              <a:t>Escalate to owner</a:t>
            </a:r>
            <a:endParaRPr lang="en-US" sz="1250" dirty="0"/>
          </a:p>
        </p:txBody>
      </p:sp>
      <p:sp>
        <p:nvSpPr>
          <p:cNvPr id="20" name="Shape 18"/>
          <p:cNvSpPr/>
          <p:nvPr/>
        </p:nvSpPr>
        <p:spPr>
          <a:xfrm>
            <a:off x="548640" y="5532120"/>
            <a:ext cx="11064240" cy="658368"/>
          </a:xfrm>
          <a:prstGeom prst="roundRect">
            <a:avLst>
              <a:gd name="adj" fmla="val 11111"/>
            </a:avLst>
          </a:prstGeom>
          <a:solidFill>
            <a:srgbClr val="21295C"/>
          </a:solidFill>
          <a:ln/>
        </p:spPr>
      </p:sp>
      <p:sp>
        <p:nvSpPr>
          <p:cNvPr id="21" name="Text 19"/>
          <p:cNvSpPr txBox="1"/>
          <p:nvPr/>
        </p:nvSpPr>
        <p:spPr>
          <a:xfrm>
            <a:off x="777240" y="5532120"/>
            <a:ext cx="106070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NEVER let stale data close a sale.  Fresh data can take payment; stale data can only reserve.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MARKET</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Where to launch</a:t>
            </a:r>
            <a:endParaRPr lang="en-US" sz="3200" dirty="0"/>
          </a:p>
        </p:txBody>
      </p:sp>
      <p:sp>
        <p:nvSpPr>
          <p:cNvPr id="4" name="Shape 2"/>
          <p:cNvSpPr/>
          <p:nvPr/>
        </p:nvSpPr>
        <p:spPr>
          <a:xfrm>
            <a:off x="548640" y="1371600"/>
            <a:ext cx="11064240" cy="868680"/>
          </a:xfrm>
          <a:prstGeom prst="roundRect">
            <a:avLst>
              <a:gd name="adj" fmla="val 8421"/>
            </a:avLst>
          </a:prstGeom>
          <a:solidFill>
            <a:srgbClr val="B23A48"/>
          </a:solidFill>
          <a:ln/>
        </p:spPr>
      </p:sp>
      <p:sp>
        <p:nvSpPr>
          <p:cNvPr id="5" name="Text 3"/>
          <p:cNvSpPr txBox="1"/>
          <p:nvPr/>
        </p:nvSpPr>
        <p:spPr>
          <a:xfrm>
            <a:off x="777240" y="1463040"/>
            <a:ext cx="13716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67.6%</a:t>
            </a:r>
            <a:endParaRPr lang="en-US" sz="3200" dirty="0"/>
          </a:p>
        </p:txBody>
      </p:sp>
      <p:sp>
        <p:nvSpPr>
          <p:cNvPr id="6" name="Text 4"/>
          <p:cNvSpPr txBox="1"/>
          <p:nvPr/>
        </p:nvSpPr>
        <p:spPr>
          <a:xfrm>
            <a:off x="2148840" y="1481328"/>
            <a:ext cx="923544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of Dutch companies communicate with the outside world in Dutch ONLY. English-only is a market-defining constraint, not a technical preference.</a:t>
            </a:r>
            <a:endParaRPr lang="en-US" sz="1300" dirty="0"/>
          </a:p>
        </p:txBody>
      </p:sp>
      <p:sp>
        <p:nvSpPr>
          <p:cNvPr id="7" name="Shape 5"/>
          <p:cNvSpPr/>
          <p:nvPr/>
        </p:nvSpPr>
        <p:spPr>
          <a:xfrm>
            <a:off x="548640" y="2450592"/>
            <a:ext cx="11064240" cy="658368"/>
          </a:xfrm>
          <a:prstGeom prst="roundRect">
            <a:avLst>
              <a:gd name="adj" fmla="val 11111"/>
            </a:avLst>
          </a:prstGeom>
          <a:solidFill>
            <a:srgbClr val="F4F7FA"/>
          </a:solidFill>
          <a:ln w="12700">
            <a:solidFill>
              <a:srgbClr val="2E8B57"/>
            </a:solidFill>
            <a:prstDash val="solid"/>
          </a:ln>
        </p:spPr>
      </p:sp>
      <p:sp>
        <p:nvSpPr>
          <p:cNvPr id="8" name="Shape 6"/>
          <p:cNvSpPr/>
          <p:nvPr/>
        </p:nvSpPr>
        <p:spPr>
          <a:xfrm>
            <a:off x="731520" y="2615184"/>
            <a:ext cx="329184" cy="329184"/>
          </a:xfrm>
          <a:prstGeom prst="ellipse">
            <a:avLst/>
          </a:prstGeom>
          <a:solidFill>
            <a:srgbClr val="2E8B57"/>
          </a:solidFill>
          <a:ln/>
        </p:spPr>
      </p:sp>
      <p:sp>
        <p:nvSpPr>
          <p:cNvPr id="9" name="Text 7"/>
          <p:cNvSpPr txBox="1"/>
          <p:nvPr/>
        </p:nvSpPr>
        <p:spPr>
          <a:xfrm>
            <a:off x="731520" y="26151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188720" y="2624328"/>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United Kingdom</a:t>
            </a:r>
            <a:endParaRPr lang="en-US" sz="1350" dirty="0"/>
          </a:p>
        </p:txBody>
      </p:sp>
      <p:sp>
        <p:nvSpPr>
          <p:cNvPr id="11" name="Text 9"/>
          <p:cNvSpPr txBox="1"/>
          <p:nvPr/>
        </p:nvSpPr>
        <p:spPr>
          <a:xfrm>
            <a:off x="3337560" y="2523744"/>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~883k construction SMEs · WhatsApp 90%, Instagram 94% · heat pumps +112% · no AI Act</a:t>
            </a:r>
            <a:endParaRPr lang="en-US" sz="1000" dirty="0"/>
          </a:p>
        </p:txBody>
      </p:sp>
      <p:sp>
        <p:nvSpPr>
          <p:cNvPr id="12" name="Text 10"/>
          <p:cNvSpPr txBox="1"/>
          <p:nvPr/>
        </p:nvSpPr>
        <p:spPr>
          <a:xfrm>
            <a:off x="8549640" y="2523744"/>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Whoza, TalkTrade, Grip already at £49-59</a:t>
            </a:r>
            <a:endParaRPr lang="en-US" sz="1000" dirty="0"/>
          </a:p>
        </p:txBody>
      </p:sp>
      <p:sp>
        <p:nvSpPr>
          <p:cNvPr id="13" name="Shape 11"/>
          <p:cNvSpPr/>
          <p:nvPr/>
        </p:nvSpPr>
        <p:spPr>
          <a:xfrm>
            <a:off x="548640" y="3209544"/>
            <a:ext cx="11064240" cy="658368"/>
          </a:xfrm>
          <a:prstGeom prst="roundRect">
            <a:avLst>
              <a:gd name="adj" fmla="val 11111"/>
            </a:avLst>
          </a:prstGeom>
          <a:solidFill>
            <a:srgbClr val="F4F7FA"/>
          </a:solidFill>
          <a:ln w="12700">
            <a:solidFill>
              <a:srgbClr val="2E8B57"/>
            </a:solidFill>
            <a:prstDash val="solid"/>
          </a:ln>
        </p:spPr>
      </p:sp>
      <p:sp>
        <p:nvSpPr>
          <p:cNvPr id="14" name="Shape 12"/>
          <p:cNvSpPr/>
          <p:nvPr/>
        </p:nvSpPr>
        <p:spPr>
          <a:xfrm>
            <a:off x="731520" y="3374136"/>
            <a:ext cx="329184" cy="329184"/>
          </a:xfrm>
          <a:prstGeom prst="ellipse">
            <a:avLst/>
          </a:prstGeom>
          <a:solidFill>
            <a:srgbClr val="2E8B57"/>
          </a:solidFill>
          <a:ln/>
        </p:spPr>
      </p:sp>
      <p:sp>
        <p:nvSpPr>
          <p:cNvPr id="15" name="Text 13"/>
          <p:cNvSpPr txBox="1"/>
          <p:nvPr/>
        </p:nvSpPr>
        <p:spPr>
          <a:xfrm>
            <a:off x="731520" y="33741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188720" y="3383280"/>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Ireland</a:t>
            </a:r>
            <a:endParaRPr lang="en-US" sz="1350" dirty="0"/>
          </a:p>
        </p:txBody>
      </p:sp>
      <p:sp>
        <p:nvSpPr>
          <p:cNvPr id="17" name="Text 15"/>
          <p:cNvSpPr txBox="1"/>
          <p:nvPr/>
        </p:nvSpPr>
        <p:spPr>
          <a:xfrm>
            <a:off x="3337560" y="3282696"/>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Retrofit applications +96%, grants +186% · 12-24 month waits · highest EU own-site share</a:t>
            </a:r>
            <a:endParaRPr lang="en-US" sz="1000" dirty="0"/>
          </a:p>
        </p:txBody>
      </p:sp>
      <p:sp>
        <p:nvSpPr>
          <p:cNvPr id="18" name="Text 16"/>
          <p:cNvSpPr txBox="1"/>
          <p:nvPr/>
        </p:nvSpPr>
        <p:spPr>
          <a:xfrm>
            <a:off x="8549640" y="3282696"/>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Small - 81k construction firms</a:t>
            </a:r>
            <a:endParaRPr lang="en-US" sz="1000" dirty="0"/>
          </a:p>
        </p:txBody>
      </p:sp>
      <p:sp>
        <p:nvSpPr>
          <p:cNvPr id="19" name="Shape 17"/>
          <p:cNvSpPr/>
          <p:nvPr/>
        </p:nvSpPr>
        <p:spPr>
          <a:xfrm>
            <a:off x="548640" y="3968496"/>
            <a:ext cx="11064240" cy="658368"/>
          </a:xfrm>
          <a:prstGeom prst="roundRect">
            <a:avLst>
              <a:gd name="adj" fmla="val 11111"/>
            </a:avLst>
          </a:prstGeom>
          <a:solidFill>
            <a:srgbClr val="FFFFFF"/>
          </a:solidFill>
          <a:ln w="12700">
            <a:solidFill>
              <a:srgbClr val="DCE5EE"/>
            </a:solidFill>
            <a:prstDash val="solid"/>
          </a:ln>
        </p:spPr>
      </p:sp>
      <p:sp>
        <p:nvSpPr>
          <p:cNvPr id="20" name="Shape 18"/>
          <p:cNvSpPr/>
          <p:nvPr/>
        </p:nvSpPr>
        <p:spPr>
          <a:xfrm>
            <a:off x="731520" y="4133088"/>
            <a:ext cx="329184" cy="329184"/>
          </a:xfrm>
          <a:prstGeom prst="ellipse">
            <a:avLst/>
          </a:prstGeom>
          <a:solidFill>
            <a:srgbClr val="F2A104"/>
          </a:solidFill>
          <a:ln/>
        </p:spPr>
      </p:sp>
      <p:sp>
        <p:nvSpPr>
          <p:cNvPr id="21" name="Text 19"/>
          <p:cNvSpPr txBox="1"/>
          <p:nvPr/>
        </p:nvSpPr>
        <p:spPr>
          <a:xfrm>
            <a:off x="731520" y="4133088"/>
            <a:ext cx="329184" cy="329184"/>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1188720" y="4142232"/>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Malta</a:t>
            </a:r>
            <a:endParaRPr lang="en-US" sz="1350" dirty="0"/>
          </a:p>
        </p:txBody>
      </p:sp>
      <p:sp>
        <p:nvSpPr>
          <p:cNvPr id="23" name="Text 21"/>
          <p:cNvSpPr txBox="1"/>
          <p:nvPr/>
        </p:nvSpPr>
        <p:spPr>
          <a:xfrm>
            <a:off x="3337560" y="4041648"/>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Only other English co-official country</a:t>
            </a:r>
            <a:endParaRPr lang="en-US" sz="1000" dirty="0"/>
          </a:p>
        </p:txBody>
      </p:sp>
      <p:sp>
        <p:nvSpPr>
          <p:cNvPr id="24" name="Text 22"/>
          <p:cNvSpPr txBox="1"/>
          <p:nvPr/>
        </p:nvSpPr>
        <p:spPr>
          <a:xfrm>
            <a:off x="8549640" y="4041648"/>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Tiny - 5,869 construction firms</a:t>
            </a:r>
            <a:endParaRPr lang="en-US" sz="1000" dirty="0"/>
          </a:p>
        </p:txBody>
      </p:sp>
      <p:sp>
        <p:nvSpPr>
          <p:cNvPr id="25" name="Shape 23"/>
          <p:cNvSpPr/>
          <p:nvPr/>
        </p:nvSpPr>
        <p:spPr>
          <a:xfrm>
            <a:off x="548640" y="4727448"/>
            <a:ext cx="11064240" cy="658368"/>
          </a:xfrm>
          <a:prstGeom prst="roundRect">
            <a:avLst>
              <a:gd name="adj" fmla="val 11111"/>
            </a:avLst>
          </a:prstGeom>
          <a:solidFill>
            <a:srgbClr val="FFFFFF"/>
          </a:solidFill>
          <a:ln w="12700">
            <a:solidFill>
              <a:srgbClr val="DCE5EE"/>
            </a:solidFill>
            <a:prstDash val="solid"/>
          </a:ln>
        </p:spPr>
      </p:sp>
      <p:sp>
        <p:nvSpPr>
          <p:cNvPr id="26" name="Shape 24"/>
          <p:cNvSpPr/>
          <p:nvPr/>
        </p:nvSpPr>
        <p:spPr>
          <a:xfrm>
            <a:off x="731520" y="4892040"/>
            <a:ext cx="329184" cy="329184"/>
          </a:xfrm>
          <a:prstGeom prst="ellipse">
            <a:avLst/>
          </a:prstGeom>
          <a:solidFill>
            <a:srgbClr val="B23A48"/>
          </a:solidFill>
          <a:ln/>
        </p:spPr>
      </p:sp>
      <p:sp>
        <p:nvSpPr>
          <p:cNvPr id="27" name="Text 25"/>
          <p:cNvSpPr txBox="1"/>
          <p:nvPr/>
        </p:nvSpPr>
        <p:spPr>
          <a:xfrm>
            <a:off x="731520" y="4892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1188720" y="4901184"/>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Netherlands</a:t>
            </a:r>
            <a:endParaRPr lang="en-US" sz="1350" dirty="0"/>
          </a:p>
        </p:txBody>
      </p:sp>
      <p:sp>
        <p:nvSpPr>
          <p:cNvPr id="29" name="Text 27"/>
          <p:cNvSpPr txBox="1"/>
          <p:nvPr/>
        </p:nvSpPr>
        <p:spPr>
          <a:xfrm>
            <a:off x="3337560" y="4800600"/>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Best raw numbers: 268k micro firms, ~103k webshops</a:t>
            </a:r>
            <a:endParaRPr lang="en-US" sz="1000" dirty="0"/>
          </a:p>
        </p:txBody>
      </p:sp>
      <p:sp>
        <p:nvSpPr>
          <p:cNvPr id="30" name="Text 28"/>
          <p:cNvSpPr txBox="1"/>
          <p:nvPr/>
        </p:nvSpPr>
        <p:spPr>
          <a:xfrm>
            <a:off x="8549640" y="4800600"/>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The language finding. Blueprint ships this in Dutch</a:t>
            </a:r>
            <a:endParaRPr lang="en-US" sz="1000" dirty="0"/>
          </a:p>
        </p:txBody>
      </p:sp>
      <p:sp>
        <p:nvSpPr>
          <p:cNvPr id="31" name="Shape 29"/>
          <p:cNvSpPr/>
          <p:nvPr/>
        </p:nvSpPr>
        <p:spPr>
          <a:xfrm>
            <a:off x="548640" y="5486400"/>
            <a:ext cx="11064240" cy="658368"/>
          </a:xfrm>
          <a:prstGeom prst="roundRect">
            <a:avLst>
              <a:gd name="adj" fmla="val 11111"/>
            </a:avLst>
          </a:prstGeom>
          <a:solidFill>
            <a:srgbClr val="FFFFFF"/>
          </a:solidFill>
          <a:ln w="12700">
            <a:solidFill>
              <a:srgbClr val="DCE5EE"/>
            </a:solidFill>
            <a:prstDash val="solid"/>
          </a:ln>
        </p:spPr>
      </p:sp>
      <p:sp>
        <p:nvSpPr>
          <p:cNvPr id="32" name="Shape 30"/>
          <p:cNvSpPr/>
          <p:nvPr/>
        </p:nvSpPr>
        <p:spPr>
          <a:xfrm>
            <a:off x="731520" y="5650992"/>
            <a:ext cx="329184" cy="329184"/>
          </a:xfrm>
          <a:prstGeom prst="ellipse">
            <a:avLst/>
          </a:prstGeom>
          <a:solidFill>
            <a:srgbClr val="B23A48"/>
          </a:solidFill>
          <a:ln/>
        </p:spPr>
      </p:sp>
      <p:sp>
        <p:nvSpPr>
          <p:cNvPr id="33" name="Text 31"/>
          <p:cNvSpPr txBox="1"/>
          <p:nvPr/>
        </p:nvSpPr>
        <p:spPr>
          <a:xfrm>
            <a:off x="731520" y="56509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2"/>
          <p:cNvSpPr txBox="1"/>
          <p:nvPr/>
        </p:nvSpPr>
        <p:spPr>
          <a:xfrm>
            <a:off x="1188720" y="5660136"/>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Sweden</a:t>
            </a:r>
            <a:endParaRPr lang="en-US" sz="1350" dirty="0"/>
          </a:p>
        </p:txBody>
      </p:sp>
      <p:sp>
        <p:nvSpPr>
          <p:cNvPr id="35" name="Text 33"/>
          <p:cNvSpPr txBox="1"/>
          <p:nvPr/>
        </p:nvSpPr>
        <p:spPr>
          <a:xfrm>
            <a:off x="3337560" y="5559552"/>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Messenger #2 at 65%, Instagram 65% - channels are FINE</a:t>
            </a:r>
            <a:endParaRPr lang="en-US" sz="1000" dirty="0"/>
          </a:p>
        </p:txBody>
      </p:sp>
      <p:sp>
        <p:nvSpPr>
          <p:cNvPr id="36" name="Text 34"/>
          <p:cNvSpPr txBox="1"/>
          <p:nvPr/>
        </p:nvSpPr>
        <p:spPr>
          <a:xfrm>
            <a:off x="8549640" y="5559552"/>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Fails on language only</a:t>
            </a:r>
            <a:endParaRPr lang="en-US" sz="1000" dirty="0"/>
          </a:p>
        </p:txBody>
      </p:sp>
      <p:sp>
        <p:nvSpPr>
          <p:cNvPr id="37" name="Text 35"/>
          <p:cNvSpPr txBox="1"/>
          <p:nvPr/>
        </p:nvSpPr>
        <p:spPr>
          <a:xfrm>
            <a:off x="548640" y="6309360"/>
            <a:ext cx="110642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Recommended: UK + Ireland as ONE English-language market.  Language is the first expansion lever, not a launch requirement.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VERTICALS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Which industries can actually be served</a:t>
            </a:r>
            <a:endParaRPr lang="en-US" sz="3200" dirty="0"/>
          </a:p>
        </p:txBody>
      </p:sp>
      <p:sp>
        <p:nvSpPr>
          <p:cNvPr id="4" name="Shape 2"/>
          <p:cNvSpPr/>
          <p:nvPr/>
        </p:nvSpPr>
        <p:spPr>
          <a:xfrm>
            <a:off x="548640" y="1417320"/>
            <a:ext cx="5394960" cy="3657600"/>
          </a:xfrm>
          <a:prstGeom prst="roundRect">
            <a:avLst>
              <a:gd name="adj" fmla="val 2000"/>
            </a:avLst>
          </a:prstGeom>
          <a:solidFill>
            <a:srgbClr val="F4F7FA"/>
          </a:solidFill>
          <a:ln w="12700">
            <a:solidFill>
              <a:srgbClr val="2E8B57"/>
            </a:solidFill>
            <a:prstDash val="solid"/>
          </a:ln>
        </p:spPr>
      </p:sp>
      <p:sp>
        <p:nvSpPr>
          <p:cNvPr id="5" name="Text 3"/>
          <p:cNvSpPr txBox="1"/>
          <p:nvPr/>
        </p:nvSpPr>
        <p:spPr>
          <a:xfrm>
            <a:off x="777240" y="1554480"/>
            <a:ext cx="2743200" cy="274320"/>
          </a:xfrm>
          <a:prstGeom prst="rect">
            <a:avLst/>
          </a:prstGeom>
          <a:noFill/>
          <a:ln/>
        </p:spPr>
        <p:txBody>
          <a:bodyPr wrap="square" lIns="0" tIns="0" rIns="0" bIns="0" rtlCol="0" anchor="ctr"/>
          <a:lstStyle/>
          <a:p>
            <a:pPr indent="0" marL="0">
              <a:buNone/>
            </a:pPr>
            <a:r>
              <a:rPr lang="en-US" sz="1100" b="1" spc="150" kern="0" dirty="0">
                <a:solidFill>
                  <a:srgbClr val="2E8B57"/>
                </a:solidFill>
                <a:latin typeface="Calibri" pitchFamily="34" charset="0"/>
                <a:ea typeface="Calibri" pitchFamily="34" charset="-122"/>
                <a:cs typeface="Calibri" pitchFamily="34" charset="-120"/>
              </a:rPr>
              <a:t>START HERE</a:t>
            </a:r>
            <a:endParaRPr lang="en-US" sz="1100" dirty="0"/>
          </a:p>
        </p:txBody>
      </p:sp>
      <p:sp>
        <p:nvSpPr>
          <p:cNvPr id="6" name="Shape 4"/>
          <p:cNvSpPr/>
          <p:nvPr/>
        </p:nvSpPr>
        <p:spPr>
          <a:xfrm>
            <a:off x="822960" y="1975104"/>
            <a:ext cx="182880" cy="182880"/>
          </a:xfrm>
          <a:prstGeom prst="ellipse">
            <a:avLst/>
          </a:prstGeom>
          <a:solidFill>
            <a:srgbClr val="2E8B57"/>
          </a:solidFill>
          <a:ln/>
        </p:spPr>
      </p:sp>
      <p:sp>
        <p:nvSpPr>
          <p:cNvPr id="7" name="Text 5"/>
          <p:cNvSpPr txBox="1"/>
          <p:nvPr/>
        </p:nvSpPr>
        <p:spPr>
          <a:xfrm>
            <a:off x="1143000" y="192024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Pest control</a:t>
            </a:r>
            <a:endParaRPr lang="en-US" sz="1300" dirty="0"/>
          </a:p>
        </p:txBody>
      </p:sp>
      <p:sp>
        <p:nvSpPr>
          <p:cNvPr id="8" name="Text 6"/>
          <p:cNvSpPr txBox="1"/>
          <p:nvPr/>
        </p:nvSpPr>
        <p:spPr>
          <a:xfrm>
            <a:off x="1143000" y="218541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Fixed price per treatment, published openly. Industry treats hourly billing as a red flag.</a:t>
            </a:r>
            <a:endParaRPr lang="en-US" sz="1000" dirty="0"/>
          </a:p>
        </p:txBody>
      </p:sp>
      <p:sp>
        <p:nvSpPr>
          <p:cNvPr id="9" name="Shape 7"/>
          <p:cNvSpPr/>
          <p:nvPr/>
        </p:nvSpPr>
        <p:spPr>
          <a:xfrm>
            <a:off x="822960" y="2752344"/>
            <a:ext cx="182880" cy="182880"/>
          </a:xfrm>
          <a:prstGeom prst="ellipse">
            <a:avLst/>
          </a:prstGeom>
          <a:solidFill>
            <a:srgbClr val="2E8B57"/>
          </a:solidFill>
          <a:ln/>
        </p:spPr>
      </p:sp>
      <p:sp>
        <p:nvSpPr>
          <p:cNvPr id="10" name="Text 8"/>
          <p:cNvSpPr txBox="1"/>
          <p:nvPr/>
        </p:nvSpPr>
        <p:spPr>
          <a:xfrm>
            <a:off x="1143000" y="269748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Cleaning</a:t>
            </a:r>
            <a:endParaRPr lang="en-US" sz="1300" dirty="0"/>
          </a:p>
        </p:txBody>
      </p:sp>
      <p:sp>
        <p:nvSpPr>
          <p:cNvPr id="11" name="Text 9"/>
          <p:cNvSpPr txBox="1"/>
          <p:nvPr/>
        </p:nvSpPr>
        <p:spPr>
          <a:xfrm>
            <a:off x="1143000" y="296265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Instant online quoting ALREADY normal - proof the pricing is computable. Crew availability is the binding constraint.</a:t>
            </a:r>
            <a:endParaRPr lang="en-US" sz="1000" dirty="0"/>
          </a:p>
        </p:txBody>
      </p:sp>
      <p:sp>
        <p:nvSpPr>
          <p:cNvPr id="12" name="Shape 10"/>
          <p:cNvSpPr/>
          <p:nvPr/>
        </p:nvSpPr>
        <p:spPr>
          <a:xfrm>
            <a:off x="822960" y="3529584"/>
            <a:ext cx="182880" cy="182880"/>
          </a:xfrm>
          <a:prstGeom prst="ellipse">
            <a:avLst/>
          </a:prstGeom>
          <a:solidFill>
            <a:srgbClr val="2E8B57"/>
          </a:solidFill>
          <a:ln/>
        </p:spPr>
      </p:sp>
      <p:sp>
        <p:nvSpPr>
          <p:cNvPr id="13" name="Text 11"/>
          <p:cNvSpPr txBox="1"/>
          <p:nvPr/>
        </p:nvSpPr>
        <p:spPr>
          <a:xfrm>
            <a:off x="1143000" y="347472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Removals</a:t>
            </a:r>
            <a:endParaRPr lang="en-US" sz="1300" dirty="0"/>
          </a:p>
        </p:txBody>
      </p:sp>
      <p:sp>
        <p:nvSpPr>
          <p:cNvPr id="14" name="Text 12"/>
          <p:cNvSpPr txBox="1"/>
          <p:nvPr/>
        </p:nvSpPr>
        <p:spPr>
          <a:xfrm>
            <a:off x="1143000" y="373989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m³ + distance calculators standard. Jobs €600-1,500+.</a:t>
            </a:r>
            <a:endParaRPr lang="en-US" sz="1000" dirty="0"/>
          </a:p>
        </p:txBody>
      </p:sp>
      <p:sp>
        <p:nvSpPr>
          <p:cNvPr id="15" name="Shape 13"/>
          <p:cNvSpPr/>
          <p:nvPr/>
        </p:nvSpPr>
        <p:spPr>
          <a:xfrm>
            <a:off x="822960" y="4306824"/>
            <a:ext cx="182880" cy="182880"/>
          </a:xfrm>
          <a:prstGeom prst="ellipse">
            <a:avLst/>
          </a:prstGeom>
          <a:solidFill>
            <a:srgbClr val="2E8B57"/>
          </a:solidFill>
          <a:ln/>
        </p:spPr>
      </p:sp>
      <p:sp>
        <p:nvSpPr>
          <p:cNvPr id="16" name="Text 14"/>
          <p:cNvSpPr txBox="1"/>
          <p:nvPr/>
        </p:nvSpPr>
        <p:spPr>
          <a:xfrm>
            <a:off x="1143000" y="425196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EV charging  (test)</a:t>
            </a:r>
            <a:endParaRPr lang="en-US" sz="1300" dirty="0"/>
          </a:p>
        </p:txBody>
      </p:sp>
      <p:sp>
        <p:nvSpPr>
          <p:cNvPr id="17" name="Text 15"/>
          <p:cNvSpPr txBox="1"/>
          <p:nvPr/>
        </p:nvSpPr>
        <p:spPr>
          <a:xfrm>
            <a:off x="1143000" y="451713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Photo-based quoting already mainstream. Growing, unlike solar.</a:t>
            </a:r>
            <a:endParaRPr lang="en-US" sz="1000" dirty="0"/>
          </a:p>
        </p:txBody>
      </p:sp>
      <p:sp>
        <p:nvSpPr>
          <p:cNvPr id="18" name="Shape 16"/>
          <p:cNvSpPr/>
          <p:nvPr/>
        </p:nvSpPr>
        <p:spPr>
          <a:xfrm>
            <a:off x="6217920" y="1417320"/>
            <a:ext cx="5394960" cy="3657600"/>
          </a:xfrm>
          <a:prstGeom prst="roundRect">
            <a:avLst>
              <a:gd name="adj" fmla="val 2000"/>
            </a:avLst>
          </a:prstGeom>
          <a:solidFill>
            <a:srgbClr val="F7EDEE"/>
          </a:solidFill>
          <a:ln w="12700">
            <a:solidFill>
              <a:srgbClr val="B23A48"/>
            </a:solidFill>
            <a:prstDash val="solid"/>
          </a:ln>
        </p:spPr>
      </p:sp>
      <p:sp>
        <p:nvSpPr>
          <p:cNvPr id="19" name="Text 17"/>
          <p:cNvSpPr txBox="1"/>
          <p:nvPr/>
        </p:nvSpPr>
        <p:spPr>
          <a:xfrm>
            <a:off x="6446520" y="1554480"/>
            <a:ext cx="4114800" cy="274320"/>
          </a:xfrm>
          <a:prstGeom prst="rect">
            <a:avLst/>
          </a:prstGeom>
          <a:noFill/>
          <a:ln/>
        </p:spPr>
        <p:txBody>
          <a:bodyPr wrap="square" lIns="0" tIns="0" rIns="0" bIns="0" rtlCol="0" anchor="ctr"/>
          <a:lstStyle/>
          <a:p>
            <a:pPr indent="0" marL="0">
              <a:buNone/>
            </a:pPr>
            <a:r>
              <a:rPr lang="en-US" sz="1100" b="1" spc="150" kern="0" dirty="0">
                <a:solidFill>
                  <a:srgbClr val="B23A48"/>
                </a:solidFill>
                <a:latin typeface="Calibri" pitchFamily="34" charset="0"/>
                <a:ea typeface="Calibri" pitchFamily="34" charset="-122"/>
                <a:cs typeface="Calibri" pitchFamily="34" charset="-120"/>
              </a:rPr>
              <a:t>CANNOT QUOTE REMOTELY</a:t>
            </a:r>
            <a:endParaRPr lang="en-US" sz="1100" dirty="0"/>
          </a:p>
        </p:txBody>
      </p:sp>
      <p:sp>
        <p:nvSpPr>
          <p:cNvPr id="20" name="Shape 18"/>
          <p:cNvSpPr/>
          <p:nvPr/>
        </p:nvSpPr>
        <p:spPr>
          <a:xfrm>
            <a:off x="6492240" y="1975104"/>
            <a:ext cx="182880" cy="182880"/>
          </a:xfrm>
          <a:prstGeom prst="ellipse">
            <a:avLst/>
          </a:prstGeom>
          <a:solidFill>
            <a:srgbClr val="B23A48"/>
          </a:solidFill>
          <a:ln/>
        </p:spPr>
      </p:sp>
      <p:sp>
        <p:nvSpPr>
          <p:cNvPr id="21" name="Text 19"/>
          <p:cNvSpPr txBox="1"/>
          <p:nvPr/>
        </p:nvSpPr>
        <p:spPr>
          <a:xfrm>
            <a:off x="6812280" y="192024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Heat pumps</a:t>
            </a:r>
            <a:endParaRPr lang="en-US" sz="1300" dirty="0"/>
          </a:p>
        </p:txBody>
      </p:sp>
      <p:sp>
        <p:nvSpPr>
          <p:cNvPr id="22" name="Text 20"/>
          <p:cNvSpPr txBox="1"/>
          <p:nvPr/>
        </p:nvSpPr>
        <p:spPr>
          <a:xfrm>
            <a:off x="6812280" y="218541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LEGALLY BARRED - mandatory room-by-room heat-loss survey gates certified install and grants</a:t>
            </a:r>
            <a:endParaRPr lang="en-US" sz="1000" dirty="0"/>
          </a:p>
        </p:txBody>
      </p:sp>
      <p:sp>
        <p:nvSpPr>
          <p:cNvPr id="23" name="Shape 21"/>
          <p:cNvSpPr/>
          <p:nvPr/>
        </p:nvSpPr>
        <p:spPr>
          <a:xfrm>
            <a:off x="6492240" y="2752344"/>
            <a:ext cx="182880" cy="182880"/>
          </a:xfrm>
          <a:prstGeom prst="ellipse">
            <a:avLst/>
          </a:prstGeom>
          <a:solidFill>
            <a:srgbClr val="B23A48"/>
          </a:solidFill>
          <a:ln/>
        </p:spPr>
      </p:sp>
      <p:sp>
        <p:nvSpPr>
          <p:cNvPr id="24" name="Text 22"/>
          <p:cNvSpPr txBox="1"/>
          <p:nvPr/>
        </p:nvSpPr>
        <p:spPr>
          <a:xfrm>
            <a:off x="6812280" y="269748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Roofing</a:t>
            </a:r>
            <a:endParaRPr lang="en-US" sz="1300" dirty="0"/>
          </a:p>
        </p:txBody>
      </p:sp>
      <p:sp>
        <p:nvSpPr>
          <p:cNvPr id="25" name="Text 23"/>
          <p:cNvSpPr txBox="1"/>
          <p:nvPr/>
        </p:nvSpPr>
        <p:spPr>
          <a:xfrm>
            <a:off x="6812280" y="296265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Satellite shows roof shape; price is set by batten and felt condition UNDER the tiles</a:t>
            </a:r>
            <a:endParaRPr lang="en-US" sz="1000" dirty="0"/>
          </a:p>
        </p:txBody>
      </p:sp>
      <p:sp>
        <p:nvSpPr>
          <p:cNvPr id="26" name="Shape 24"/>
          <p:cNvSpPr/>
          <p:nvPr/>
        </p:nvSpPr>
        <p:spPr>
          <a:xfrm>
            <a:off x="6492240" y="3529584"/>
            <a:ext cx="182880" cy="182880"/>
          </a:xfrm>
          <a:prstGeom prst="ellipse">
            <a:avLst/>
          </a:prstGeom>
          <a:solidFill>
            <a:srgbClr val="B23A48"/>
          </a:solidFill>
          <a:ln/>
        </p:spPr>
      </p:sp>
      <p:sp>
        <p:nvSpPr>
          <p:cNvPr id="27" name="Text 25"/>
          <p:cNvSpPr txBox="1"/>
          <p:nvPr/>
        </p:nvSpPr>
        <p:spPr>
          <a:xfrm>
            <a:off x="6812280" y="347472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General building</a:t>
            </a:r>
            <a:endParaRPr lang="en-US" sz="1300" dirty="0"/>
          </a:p>
        </p:txBody>
      </p:sp>
      <p:sp>
        <p:nvSpPr>
          <p:cNvPr id="28" name="Text 26"/>
          <p:cNvSpPr txBox="1"/>
          <p:nvPr/>
        </p:nvSpPr>
        <p:spPr>
          <a:xfrm>
            <a:off x="6812280" y="373989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Bill of quantities from drawings, plus a visit</a:t>
            </a:r>
            <a:endParaRPr lang="en-US" sz="1000" dirty="0"/>
          </a:p>
        </p:txBody>
      </p:sp>
      <p:sp>
        <p:nvSpPr>
          <p:cNvPr id="29" name="Shape 27"/>
          <p:cNvSpPr/>
          <p:nvPr/>
        </p:nvSpPr>
        <p:spPr>
          <a:xfrm>
            <a:off x="6492240" y="4306824"/>
            <a:ext cx="182880" cy="182880"/>
          </a:xfrm>
          <a:prstGeom prst="ellipse">
            <a:avLst/>
          </a:prstGeom>
          <a:solidFill>
            <a:srgbClr val="B23A48"/>
          </a:solidFill>
          <a:ln/>
        </p:spPr>
      </p:sp>
      <p:sp>
        <p:nvSpPr>
          <p:cNvPr id="30" name="Text 28"/>
          <p:cNvSpPr txBox="1"/>
          <p:nvPr/>
        </p:nvSpPr>
        <p:spPr>
          <a:xfrm>
            <a:off x="6812280" y="425196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Emergency plumbing, HVAC, locksmiths</a:t>
            </a:r>
            <a:endParaRPr lang="en-US" sz="1300" dirty="0"/>
          </a:p>
        </p:txBody>
      </p:sp>
      <p:sp>
        <p:nvSpPr>
          <p:cNvPr id="31" name="Text 29"/>
          <p:cNvSpPr txBox="1"/>
          <p:nvPr/>
        </p:nvSpPr>
        <p:spPr>
          <a:xfrm>
            <a:off x="6812280" y="451713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85-90% phone, urgently, and cannot describe the fault</a:t>
            </a:r>
            <a:endParaRPr lang="en-US" sz="1000" dirty="0"/>
          </a:p>
        </p:txBody>
      </p:sp>
      <p:sp>
        <p:nvSpPr>
          <p:cNvPr id="32" name="Shape 30"/>
          <p:cNvSpPr/>
          <p:nvPr/>
        </p:nvSpPr>
        <p:spPr>
          <a:xfrm>
            <a:off x="548640" y="5257800"/>
            <a:ext cx="11064240" cy="960120"/>
          </a:xfrm>
          <a:prstGeom prst="roundRect">
            <a:avLst>
              <a:gd name="adj" fmla="val 7619"/>
            </a:avLst>
          </a:prstGeom>
          <a:solidFill>
            <a:srgbClr val="21295C"/>
          </a:solidFill>
          <a:ln/>
        </p:spPr>
      </p:sp>
      <p:sp>
        <p:nvSpPr>
          <p:cNvPr id="33" name="Text 31"/>
          <p:cNvSpPr txBox="1"/>
          <p:nvPr/>
        </p:nvSpPr>
        <p:spPr>
          <a:xfrm>
            <a:off x="822960" y="5349240"/>
            <a:ext cx="10515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High job value is precisely WHY they cannot be quoted remotely — the money is in the uncertainty, and the uncertainty is physical.</a:t>
            </a:r>
            <a:endParaRPr lang="en-US" sz="1300" dirty="0"/>
          </a:p>
        </p:txBody>
      </p:sp>
      <p:sp>
        <p:nvSpPr>
          <p:cNvPr id="34" name="Text 32"/>
          <p:cNvSpPr txBox="1"/>
          <p:nvPr/>
        </p:nvSpPr>
        <p:spPr>
          <a:xfrm>
            <a:off x="822960" y="5742432"/>
            <a:ext cx="10515600" cy="365760"/>
          </a:xfrm>
          <a:prstGeom prst="rect">
            <a:avLst/>
          </a:prstGeom>
          <a:noFill/>
          <a:ln/>
        </p:spPr>
        <p:txBody>
          <a:bodyPr wrap="square" lIns="0" tIns="0" rIns="0" bIns="0" rtlCol="0" anchor="ctr"/>
          <a:lstStyle/>
          <a:p>
            <a:pPr indent="0" marL="0">
              <a:buNone/>
            </a:pPr>
            <a:r>
              <a:rPr lang="en-US" sz="1200" i="1" dirty="0">
                <a:solidFill>
                  <a:srgbClr val="BFD3E6"/>
                </a:solidFill>
                <a:latin typeface="Calibri" pitchFamily="34" charset="0"/>
                <a:ea typeface="Calibri" pitchFamily="34" charset="-122"/>
                <a:cs typeface="Calibri" pitchFamily="34" charset="-120"/>
              </a:rPr>
              <a:t>The BOXT lesson: remote quoting was unlocked by STANDARDISING THE OFFER, not by smarter software.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POSITIONING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What is actually defensible</a:t>
            </a:r>
            <a:endParaRPr lang="en-US" sz="3200" dirty="0"/>
          </a:p>
        </p:txBody>
      </p:sp>
      <p:sp>
        <p:nvSpPr>
          <p:cNvPr id="4" name="Shape 2"/>
          <p:cNvSpPr/>
          <p:nvPr/>
        </p:nvSpPr>
        <p:spPr>
          <a:xfrm>
            <a:off x="548640" y="1417320"/>
            <a:ext cx="11064240" cy="896112"/>
          </a:xfrm>
          <a:prstGeom prst="roundRect">
            <a:avLst>
              <a:gd name="adj" fmla="val 8163"/>
            </a:avLst>
          </a:prstGeom>
          <a:solidFill>
            <a:srgbClr val="F4F7FA"/>
          </a:solidFill>
          <a:ln w="12700">
            <a:solidFill>
              <a:srgbClr val="2E8B57"/>
            </a:solidFill>
            <a:prstDash val="solid"/>
          </a:ln>
        </p:spPr>
      </p:sp>
      <p:sp>
        <p:nvSpPr>
          <p:cNvPr id="5" name="Shape 3"/>
          <p:cNvSpPr/>
          <p:nvPr/>
        </p:nvSpPr>
        <p:spPr>
          <a:xfrm>
            <a:off x="731520" y="1591056"/>
            <a:ext cx="128016" cy="548640"/>
          </a:xfrm>
          <a:prstGeom prst="roundRect">
            <a:avLst>
              <a:gd name="adj" fmla="val 35714"/>
            </a:avLst>
          </a:prstGeom>
          <a:solidFill>
            <a:srgbClr val="2E8B57"/>
          </a:solidFill>
          <a:ln/>
        </p:spPr>
      </p:sp>
      <p:sp>
        <p:nvSpPr>
          <p:cNvPr id="6" name="Text 4"/>
          <p:cNvSpPr txBox="1"/>
          <p:nvPr/>
        </p:nvSpPr>
        <p:spPr>
          <a:xfrm>
            <a:off x="1051560" y="1536192"/>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Feasibility before price</a:t>
            </a:r>
            <a:endParaRPr lang="en-US" sz="1400" dirty="0"/>
          </a:p>
        </p:txBody>
      </p:sp>
      <p:sp>
        <p:nvSpPr>
          <p:cNvPr id="7" name="Text 5"/>
          <p:cNvSpPr txBox="1"/>
          <p:nvPr/>
        </p:nvSpPr>
        <p:spPr>
          <a:xfrm>
            <a:off x="4297680" y="1508760"/>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Confirmed by ABSENCE across every product examined, in two separate research threads. Nothing checks parts, crew and area before quoting.</a:t>
            </a:r>
            <a:endParaRPr lang="en-US" sz="1050" dirty="0"/>
          </a:p>
        </p:txBody>
      </p:sp>
      <p:sp>
        <p:nvSpPr>
          <p:cNvPr id="8" name="Shape 6"/>
          <p:cNvSpPr/>
          <p:nvPr/>
        </p:nvSpPr>
        <p:spPr>
          <a:xfrm>
            <a:off x="548640" y="2441448"/>
            <a:ext cx="11064240" cy="896112"/>
          </a:xfrm>
          <a:prstGeom prst="roundRect">
            <a:avLst>
              <a:gd name="adj" fmla="val 8163"/>
            </a:avLst>
          </a:prstGeom>
          <a:solidFill>
            <a:srgbClr val="F4F7FA"/>
          </a:solidFill>
          <a:ln w="12700">
            <a:solidFill>
              <a:srgbClr val="2E8B57"/>
            </a:solidFill>
            <a:prstDash val="solid"/>
          </a:ln>
        </p:spPr>
      </p:sp>
      <p:sp>
        <p:nvSpPr>
          <p:cNvPr id="9" name="Shape 7"/>
          <p:cNvSpPr/>
          <p:nvPr/>
        </p:nvSpPr>
        <p:spPr>
          <a:xfrm>
            <a:off x="731520" y="2615184"/>
            <a:ext cx="128016" cy="548640"/>
          </a:xfrm>
          <a:prstGeom prst="roundRect">
            <a:avLst>
              <a:gd name="adj" fmla="val 35714"/>
            </a:avLst>
          </a:prstGeom>
          <a:solidFill>
            <a:srgbClr val="2E8B57"/>
          </a:solidFill>
          <a:ln/>
        </p:spPr>
      </p:sp>
      <p:sp>
        <p:nvSpPr>
          <p:cNvPr id="10" name="Text 8"/>
          <p:cNvSpPr txBox="1"/>
          <p:nvPr/>
        </p:nvSpPr>
        <p:spPr>
          <a:xfrm>
            <a:off x="1051560" y="2560320"/>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Owner approves before sending</a:t>
            </a:r>
            <a:endParaRPr lang="en-US" sz="1400" dirty="0"/>
          </a:p>
        </p:txBody>
      </p:sp>
      <p:sp>
        <p:nvSpPr>
          <p:cNvPr id="11" name="Text 9"/>
          <p:cNvSpPr txBox="1"/>
          <p:nvPr/>
        </p:nvSpPr>
        <p:spPr>
          <a:xfrm>
            <a:off x="4297680" y="2532888"/>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Survived all four threads. Competitive: the closest Dutch competitor sends automatically. Legal: it disposes of GDPR Article 22. Practical: only defence against a silent wrong number.</a:t>
            </a:r>
            <a:endParaRPr lang="en-US" sz="1050" dirty="0"/>
          </a:p>
        </p:txBody>
      </p:sp>
      <p:sp>
        <p:nvSpPr>
          <p:cNvPr id="12" name="Shape 10"/>
          <p:cNvSpPr/>
          <p:nvPr/>
        </p:nvSpPr>
        <p:spPr>
          <a:xfrm>
            <a:off x="548640" y="3465576"/>
            <a:ext cx="11064240" cy="896112"/>
          </a:xfrm>
          <a:prstGeom prst="roundRect">
            <a:avLst>
              <a:gd name="adj" fmla="val 8163"/>
            </a:avLst>
          </a:prstGeom>
          <a:solidFill>
            <a:srgbClr val="FFFFFF"/>
          </a:solidFill>
          <a:ln w="12700">
            <a:solidFill>
              <a:srgbClr val="DCE5EE"/>
            </a:solidFill>
            <a:prstDash val="solid"/>
          </a:ln>
        </p:spPr>
      </p:sp>
      <p:sp>
        <p:nvSpPr>
          <p:cNvPr id="13" name="Shape 11"/>
          <p:cNvSpPr/>
          <p:nvPr/>
        </p:nvSpPr>
        <p:spPr>
          <a:xfrm>
            <a:off x="731520" y="3639312"/>
            <a:ext cx="128016" cy="548640"/>
          </a:xfrm>
          <a:prstGeom prst="roundRect">
            <a:avLst>
              <a:gd name="adj" fmla="val 35714"/>
            </a:avLst>
          </a:prstGeom>
          <a:solidFill>
            <a:srgbClr val="F2A104"/>
          </a:solidFill>
          <a:ln/>
        </p:spPr>
      </p:sp>
      <p:sp>
        <p:nvSpPr>
          <p:cNvPr id="14" name="Text 12"/>
          <p:cNvSpPr txBox="1"/>
          <p:nvPr/>
        </p:nvSpPr>
        <p:spPr>
          <a:xfrm>
            <a:off x="1051560" y="3584448"/>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Multi-channel breadth</a:t>
            </a:r>
            <a:endParaRPr lang="en-US" sz="1400" dirty="0"/>
          </a:p>
        </p:txBody>
      </p:sp>
      <p:sp>
        <p:nvSpPr>
          <p:cNvPr id="15" name="Text 13"/>
          <p:cNvSpPr txBox="1"/>
          <p:nvPr/>
        </p:nvSpPr>
        <p:spPr>
          <a:xfrm>
            <a:off x="4297680" y="3557016"/>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Most competitors are WhatsApp-first; the closest shop competitor is Shopify-only and channel-narrow.</a:t>
            </a:r>
            <a:endParaRPr lang="en-US" sz="1050" dirty="0"/>
          </a:p>
        </p:txBody>
      </p:sp>
      <p:sp>
        <p:nvSpPr>
          <p:cNvPr id="16" name="Shape 14"/>
          <p:cNvSpPr/>
          <p:nvPr/>
        </p:nvSpPr>
        <p:spPr>
          <a:xfrm>
            <a:off x="548640" y="4489704"/>
            <a:ext cx="11064240" cy="896112"/>
          </a:xfrm>
          <a:prstGeom prst="roundRect">
            <a:avLst>
              <a:gd name="adj" fmla="val 8163"/>
            </a:avLst>
          </a:prstGeom>
          <a:solidFill>
            <a:srgbClr val="FFFFFF"/>
          </a:solidFill>
          <a:ln w="12700">
            <a:solidFill>
              <a:srgbClr val="DCE5EE"/>
            </a:solidFill>
            <a:prstDash val="solid"/>
          </a:ln>
        </p:spPr>
      </p:sp>
      <p:sp>
        <p:nvSpPr>
          <p:cNvPr id="17" name="Shape 15"/>
          <p:cNvSpPr/>
          <p:nvPr/>
        </p:nvSpPr>
        <p:spPr>
          <a:xfrm>
            <a:off x="731520" y="4663440"/>
            <a:ext cx="128016" cy="548640"/>
          </a:xfrm>
          <a:prstGeom prst="roundRect">
            <a:avLst>
              <a:gd name="adj" fmla="val 35714"/>
            </a:avLst>
          </a:prstGeom>
          <a:solidFill>
            <a:srgbClr val="F2A104"/>
          </a:solidFill>
          <a:ln/>
        </p:spPr>
      </p:sp>
      <p:sp>
        <p:nvSpPr>
          <p:cNvPr id="18" name="Text 16"/>
          <p:cNvSpPr txBox="1"/>
          <p:nvPr/>
        </p:nvSpPr>
        <p:spPr>
          <a:xfrm>
            <a:off x="1051560" y="4608576"/>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Compliance as a feature</a:t>
            </a:r>
            <a:endParaRPr lang="en-US" sz="1400" dirty="0"/>
          </a:p>
        </p:txBody>
      </p:sp>
      <p:sp>
        <p:nvSpPr>
          <p:cNvPr id="19" name="Text 17"/>
          <p:cNvSpPr txBox="1"/>
          <p:nvPr/>
        </p:nvSpPr>
        <p:spPr>
          <a:xfrm>
            <a:off x="4297680" y="4581144"/>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AI disclosure enforceable since 2 Aug 2026, penalties to €15m or 3% of turnover. Very little evidence vendors do it visibly. Built and not marketed.</a:t>
            </a:r>
            <a:endParaRPr lang="en-US" sz="1050" dirty="0"/>
          </a:p>
        </p:txBody>
      </p:sp>
      <p:sp>
        <p:nvSpPr>
          <p:cNvPr id="20" name="Shape 18"/>
          <p:cNvSpPr/>
          <p:nvPr/>
        </p:nvSpPr>
        <p:spPr>
          <a:xfrm>
            <a:off x="548640" y="5596128"/>
            <a:ext cx="11064240" cy="658368"/>
          </a:xfrm>
          <a:prstGeom prst="roundRect">
            <a:avLst>
              <a:gd name="adj" fmla="val 11111"/>
            </a:avLst>
          </a:prstGeom>
          <a:solidFill>
            <a:srgbClr val="F2A104"/>
          </a:solidFill>
          <a:ln/>
        </p:spPr>
      </p:sp>
      <p:sp>
        <p:nvSpPr>
          <p:cNvPr id="21" name="Text 19"/>
          <p:cNvSpPr txBox="1"/>
          <p:nvPr/>
        </p:nvSpPr>
        <p:spPr>
          <a:xfrm>
            <a:off x="822960" y="5596128"/>
            <a:ext cx="10515600" cy="658368"/>
          </a:xfrm>
          <a:prstGeom prst="rect">
            <a:avLst/>
          </a:prstGeom>
          <a:noFill/>
          <a:ln/>
        </p:spPr>
        <p:txBody>
          <a:bodyPr wrap="square" lIns="0" tIns="0" rIns="0" bIns="0" rtlCol="0" anchor="ctr"/>
          <a:lstStyle/>
          <a:p>
            <a:pPr indent="0" marL="0">
              <a:buNone/>
            </a:pPr>
            <a:r>
              <a:rPr lang="en-US" sz="1250" b="1" dirty="0">
                <a:solidFill>
                  <a:srgbClr val="1A2733"/>
                </a:solidFill>
                <a:latin typeface="Calibri" pitchFamily="34" charset="0"/>
                <a:ea typeface="Calibri" pitchFamily="34" charset="-122"/>
                <a:cs typeface="Calibri" pitchFamily="34" charset="-120"/>
              </a:rPr>
              <a:t>CAUTION: an empty column has two meanings — nobody thought of it, or everybody tried and customers did not care. Desk research cannot tell them apart.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RISK REGISTER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risks that matter</a:t>
            </a:r>
            <a:endParaRPr lang="en-US" sz="3200" dirty="0"/>
          </a:p>
        </p:txBody>
      </p:sp>
      <p:sp>
        <p:nvSpPr>
          <p:cNvPr id="4" name="Shape 2"/>
          <p:cNvSpPr/>
          <p:nvPr/>
        </p:nvSpPr>
        <p:spPr>
          <a:xfrm>
            <a:off x="548640" y="1417320"/>
            <a:ext cx="11064240" cy="804672"/>
          </a:xfrm>
          <a:prstGeom prst="roundRect">
            <a:avLst>
              <a:gd name="adj" fmla="val 9091"/>
            </a:avLst>
          </a:prstGeom>
          <a:solidFill>
            <a:srgbClr val="FFFFFF"/>
          </a:solidFill>
          <a:ln w="12700">
            <a:solidFill>
              <a:srgbClr val="DCE5EE"/>
            </a:solidFill>
            <a:prstDash val="solid"/>
          </a:ln>
        </p:spPr>
      </p:sp>
      <p:sp>
        <p:nvSpPr>
          <p:cNvPr id="5" name="Shape 3"/>
          <p:cNvSpPr/>
          <p:nvPr/>
        </p:nvSpPr>
        <p:spPr>
          <a:xfrm>
            <a:off x="731520" y="1636776"/>
            <a:ext cx="365760" cy="365760"/>
          </a:xfrm>
          <a:prstGeom prst="ellipse">
            <a:avLst/>
          </a:prstGeom>
          <a:solidFill>
            <a:srgbClr val="B23A48"/>
          </a:solidFill>
          <a:ln/>
        </p:spPr>
      </p:sp>
      <p:sp>
        <p:nvSpPr>
          <p:cNvPr id="6" name="Text 4"/>
          <p:cNvSpPr txBox="1"/>
          <p:nvPr/>
        </p:nvSpPr>
        <p:spPr>
          <a:xfrm>
            <a:off x="731520" y="1636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34440" y="14904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Customers phone, not message</a:t>
            </a:r>
            <a:endParaRPr lang="en-US" sz="1250" dirty="0"/>
          </a:p>
        </p:txBody>
      </p:sp>
      <p:sp>
        <p:nvSpPr>
          <p:cNvPr id="8" name="Text 6"/>
          <p:cNvSpPr txBox="1"/>
          <p:nvPr/>
        </p:nvSpPr>
        <p:spPr>
          <a:xfrm>
            <a:off x="4343400" y="14904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Every published figure on both sides is vendor marketing. UNRESOLVED.</a:t>
            </a:r>
            <a:endParaRPr lang="en-US" sz="1000" dirty="0"/>
          </a:p>
        </p:txBody>
      </p:sp>
      <p:sp>
        <p:nvSpPr>
          <p:cNvPr id="9" name="Text 7"/>
          <p:cNvSpPr txBox="1"/>
          <p:nvPr/>
        </p:nvSpPr>
        <p:spPr>
          <a:xfrm>
            <a:off x="8458200" y="14904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25-40 calls. Two days.</a:t>
            </a:r>
            <a:endParaRPr lang="en-US" sz="1000" dirty="0"/>
          </a:p>
        </p:txBody>
      </p:sp>
      <p:sp>
        <p:nvSpPr>
          <p:cNvPr id="10" name="Shape 8"/>
          <p:cNvSpPr/>
          <p:nvPr/>
        </p:nvSpPr>
        <p:spPr>
          <a:xfrm>
            <a:off x="548640" y="2331720"/>
            <a:ext cx="11064240" cy="804672"/>
          </a:xfrm>
          <a:prstGeom prst="roundRect">
            <a:avLst>
              <a:gd name="adj" fmla="val 9091"/>
            </a:avLst>
          </a:prstGeom>
          <a:solidFill>
            <a:srgbClr val="F4F7FA"/>
          </a:solidFill>
          <a:ln w="12700">
            <a:solidFill>
              <a:srgbClr val="DCE5EE"/>
            </a:solidFill>
            <a:prstDash val="solid"/>
          </a:ln>
        </p:spPr>
      </p:sp>
      <p:sp>
        <p:nvSpPr>
          <p:cNvPr id="11" name="Shape 9"/>
          <p:cNvSpPr/>
          <p:nvPr/>
        </p:nvSpPr>
        <p:spPr>
          <a:xfrm>
            <a:off x="731520" y="2551176"/>
            <a:ext cx="365760" cy="365760"/>
          </a:xfrm>
          <a:prstGeom prst="ellipse">
            <a:avLst/>
          </a:prstGeom>
          <a:solidFill>
            <a:srgbClr val="B23A48"/>
          </a:solidFill>
          <a:ln/>
        </p:spPr>
      </p:sp>
      <p:sp>
        <p:nvSpPr>
          <p:cNvPr id="12" name="Text 10"/>
          <p:cNvSpPr txBox="1"/>
          <p:nvPr/>
        </p:nvSpPr>
        <p:spPr>
          <a:xfrm>
            <a:off x="731520" y="25511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34440" y="24048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A wrong extracted price binds</a:t>
            </a:r>
            <a:endParaRPr lang="en-US" sz="1250" dirty="0"/>
          </a:p>
        </p:txBody>
      </p:sp>
      <p:sp>
        <p:nvSpPr>
          <p:cNvPr id="14" name="Text 12"/>
          <p:cNvSpPr txBox="1"/>
          <p:nvPr/>
        </p:nvSpPr>
        <p:spPr>
          <a:xfrm>
            <a:off x="4343400" y="24048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28-77% document accuracy; plausible-but-wrong is legally unescapable.</a:t>
            </a:r>
            <a:endParaRPr lang="en-US" sz="1000" dirty="0"/>
          </a:p>
        </p:txBody>
      </p:sp>
      <p:sp>
        <p:nvSpPr>
          <p:cNvPr id="15" name="Text 13"/>
          <p:cNvSpPr txBox="1"/>
          <p:nvPr/>
        </p:nvSpPr>
        <p:spPr>
          <a:xfrm>
            <a:off x="8458200" y="24048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Never price from retrieval. Version the rate card.</a:t>
            </a:r>
            <a:endParaRPr lang="en-US" sz="1000" dirty="0"/>
          </a:p>
        </p:txBody>
      </p:sp>
      <p:sp>
        <p:nvSpPr>
          <p:cNvPr id="16" name="Shape 14"/>
          <p:cNvSpPr/>
          <p:nvPr/>
        </p:nvSpPr>
        <p:spPr>
          <a:xfrm>
            <a:off x="548640" y="3246120"/>
            <a:ext cx="11064240" cy="804672"/>
          </a:xfrm>
          <a:prstGeom prst="roundRect">
            <a:avLst>
              <a:gd name="adj" fmla="val 9091"/>
            </a:avLst>
          </a:prstGeom>
          <a:solidFill>
            <a:srgbClr val="FFFFFF"/>
          </a:solidFill>
          <a:ln w="12700">
            <a:solidFill>
              <a:srgbClr val="DCE5EE"/>
            </a:solidFill>
            <a:prstDash val="solid"/>
          </a:ln>
        </p:spPr>
      </p:sp>
      <p:sp>
        <p:nvSpPr>
          <p:cNvPr id="17" name="Shape 15"/>
          <p:cNvSpPr/>
          <p:nvPr/>
        </p:nvSpPr>
        <p:spPr>
          <a:xfrm>
            <a:off x="731520" y="3465576"/>
            <a:ext cx="365760" cy="365760"/>
          </a:xfrm>
          <a:prstGeom prst="ellipse">
            <a:avLst/>
          </a:prstGeom>
          <a:solidFill>
            <a:srgbClr val="F2A104"/>
          </a:solidFill>
          <a:ln/>
        </p:spPr>
      </p:sp>
      <p:sp>
        <p:nvSpPr>
          <p:cNvPr id="18" name="Text 16"/>
          <p:cNvSpPr txBox="1"/>
          <p:nvPr/>
        </p:nvSpPr>
        <p:spPr>
          <a:xfrm>
            <a:off x="731520" y="3465576"/>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234440" y="33192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Approval becomes a rubber stamp</a:t>
            </a:r>
            <a:endParaRPr lang="en-US" sz="1250" dirty="0"/>
          </a:p>
        </p:txBody>
      </p:sp>
      <p:sp>
        <p:nvSpPr>
          <p:cNvPr id="20" name="Text 18"/>
          <p:cNvSpPr txBox="1"/>
          <p:nvPr/>
        </p:nvSpPr>
        <p:spPr>
          <a:xfrm>
            <a:off x="4343400" y="33192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Case law: nominal sign-off is not meaningful intervention.</a:t>
            </a:r>
            <a:endParaRPr lang="en-US" sz="1000" dirty="0"/>
          </a:p>
        </p:txBody>
      </p:sp>
      <p:sp>
        <p:nvSpPr>
          <p:cNvPr id="21" name="Text 19"/>
          <p:cNvSpPr txBox="1"/>
          <p:nvPr/>
        </p:nvSpPr>
        <p:spPr>
          <a:xfrm>
            <a:off x="8458200" y="33192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Show rate applied, rules fired, version. Flag outliers.</a:t>
            </a:r>
            <a:endParaRPr lang="en-US" sz="1000" dirty="0"/>
          </a:p>
        </p:txBody>
      </p:sp>
      <p:sp>
        <p:nvSpPr>
          <p:cNvPr id="22" name="Shape 20"/>
          <p:cNvSpPr/>
          <p:nvPr/>
        </p:nvSpPr>
        <p:spPr>
          <a:xfrm>
            <a:off x="548640" y="4160520"/>
            <a:ext cx="11064240" cy="804672"/>
          </a:xfrm>
          <a:prstGeom prst="roundRect">
            <a:avLst>
              <a:gd name="adj" fmla="val 9091"/>
            </a:avLst>
          </a:prstGeom>
          <a:solidFill>
            <a:srgbClr val="F4F7FA"/>
          </a:solidFill>
          <a:ln w="12700">
            <a:solidFill>
              <a:srgbClr val="DCE5EE"/>
            </a:solidFill>
            <a:prstDash val="solid"/>
          </a:ln>
        </p:spPr>
      </p:sp>
      <p:sp>
        <p:nvSpPr>
          <p:cNvPr id="23" name="Shape 21"/>
          <p:cNvSpPr/>
          <p:nvPr/>
        </p:nvSpPr>
        <p:spPr>
          <a:xfrm>
            <a:off x="731520" y="4379976"/>
            <a:ext cx="365760" cy="365760"/>
          </a:xfrm>
          <a:prstGeom prst="ellipse">
            <a:avLst/>
          </a:prstGeom>
          <a:solidFill>
            <a:srgbClr val="F2A104"/>
          </a:solidFill>
          <a:ln/>
        </p:spPr>
      </p:sp>
      <p:sp>
        <p:nvSpPr>
          <p:cNvPr id="24" name="Text 22"/>
          <p:cNvSpPr txBox="1"/>
          <p:nvPr/>
        </p:nvSpPr>
        <p:spPr>
          <a:xfrm>
            <a:off x="731520" y="4379976"/>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1234440" y="42336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Promised crew or part does not exist</a:t>
            </a:r>
            <a:endParaRPr lang="en-US" sz="1250" dirty="0"/>
          </a:p>
        </p:txBody>
      </p:sp>
      <p:sp>
        <p:nvSpPr>
          <p:cNvPr id="26" name="Text 24"/>
          <p:cNvSpPr txBox="1"/>
          <p:nvPr/>
        </p:nvSpPr>
        <p:spPr>
          <a:xfrm>
            <a:off x="4343400" y="42336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Small operators often do not track van stock at all.</a:t>
            </a:r>
            <a:endParaRPr lang="en-US" sz="1000" dirty="0"/>
          </a:p>
        </p:txBody>
      </p:sp>
      <p:sp>
        <p:nvSpPr>
          <p:cNvPr id="27" name="Text 25"/>
          <p:cNvSpPr txBox="1"/>
          <p:nvPr/>
        </p:nvSpPr>
        <p:spPr>
          <a:xfrm>
            <a:off x="8458200" y="42336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Never assert without a live source. Degrade and escalate.</a:t>
            </a:r>
            <a:endParaRPr lang="en-US" sz="1000" dirty="0"/>
          </a:p>
        </p:txBody>
      </p:sp>
      <p:sp>
        <p:nvSpPr>
          <p:cNvPr id="28" name="Shape 26"/>
          <p:cNvSpPr/>
          <p:nvPr/>
        </p:nvSpPr>
        <p:spPr>
          <a:xfrm>
            <a:off x="548640" y="5074920"/>
            <a:ext cx="11064240" cy="804672"/>
          </a:xfrm>
          <a:prstGeom prst="roundRect">
            <a:avLst>
              <a:gd name="adj" fmla="val 9091"/>
            </a:avLst>
          </a:prstGeom>
          <a:solidFill>
            <a:srgbClr val="FFFFFF"/>
          </a:solidFill>
          <a:ln w="12700">
            <a:solidFill>
              <a:srgbClr val="DCE5EE"/>
            </a:solidFill>
            <a:prstDash val="solid"/>
          </a:ln>
        </p:spPr>
      </p:sp>
      <p:sp>
        <p:nvSpPr>
          <p:cNvPr id="29" name="Shape 27"/>
          <p:cNvSpPr/>
          <p:nvPr/>
        </p:nvSpPr>
        <p:spPr>
          <a:xfrm>
            <a:off x="731520" y="5294376"/>
            <a:ext cx="365760" cy="365760"/>
          </a:xfrm>
          <a:prstGeom prst="ellipse">
            <a:avLst/>
          </a:prstGeom>
          <a:solidFill>
            <a:srgbClr val="B23A48"/>
          </a:solidFill>
          <a:ln/>
        </p:spPr>
      </p:sp>
      <p:sp>
        <p:nvSpPr>
          <p:cNvPr id="30" name="Text 28"/>
          <p:cNvSpPr txBox="1"/>
          <p:nvPr/>
        </p:nvSpPr>
        <p:spPr>
          <a:xfrm>
            <a:off x="731520" y="5294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1234440" y="51480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Meta starts charging for inbound</a:t>
            </a:r>
            <a:endParaRPr lang="en-US" sz="1250" dirty="0"/>
          </a:p>
        </p:txBody>
      </p:sp>
      <p:sp>
        <p:nvSpPr>
          <p:cNvPr id="32" name="Text 30"/>
          <p:cNvSpPr txBox="1"/>
          <p:nvPr/>
        </p:nvSpPr>
        <p:spPr>
          <a:xfrm>
            <a:off x="4343400" y="51480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Sources conflict. Possible 1 Oct 2026.</a:t>
            </a:r>
            <a:endParaRPr lang="en-US" sz="1000" dirty="0"/>
          </a:p>
        </p:txBody>
      </p:sp>
      <p:sp>
        <p:nvSpPr>
          <p:cNvPr id="33" name="Text 31"/>
          <p:cNvSpPr txBox="1"/>
          <p:nvPr/>
        </p:nvSpPr>
        <p:spPr>
          <a:xfrm>
            <a:off x="8458200" y="51480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Verify against Meta's own policy this week.</a:t>
            </a:r>
            <a:endParaRPr lang="en-US" sz="1000" dirty="0"/>
          </a:p>
        </p:txBody>
      </p:sp>
      <p:sp>
        <p:nvSpPr>
          <p:cNvPr id="34" name="Shape 32"/>
          <p:cNvSpPr/>
          <p:nvPr/>
        </p:nvSpPr>
        <p:spPr>
          <a:xfrm>
            <a:off x="548640" y="6080760"/>
            <a:ext cx="11064240" cy="566928"/>
          </a:xfrm>
          <a:prstGeom prst="roundRect">
            <a:avLst>
              <a:gd name="adj" fmla="val 12903"/>
            </a:avLst>
          </a:prstGeom>
          <a:solidFill>
            <a:srgbClr val="2E8B57"/>
          </a:solidFill>
          <a:ln/>
        </p:spPr>
      </p:sp>
      <p:sp>
        <p:nvSpPr>
          <p:cNvPr id="35" name="Text 33"/>
          <p:cNvSpPr txBox="1"/>
          <p:nvPr/>
        </p:nvSpPr>
        <p:spPr>
          <a:xfrm>
            <a:off x="822960" y="6080760"/>
            <a:ext cx="10515600"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DOWNGRADED: “trades will not buy software”. Contradicted - Jobber, Tradify, ServiceM8 are substantial self-serve businesses. Retention is the problem, not acquisition.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4023360"/>
            <a:ext cx="4206240" cy="4206240"/>
          </a:xfrm>
          <a:prstGeom prst="ellipse">
            <a:avLst/>
          </a:prstGeom>
          <a:solidFill>
            <a:srgbClr val="065A82"/>
          </a:solidFill>
          <a:ln/>
        </p:spPr>
      </p:sp>
      <p:sp>
        <p:nvSpPr>
          <p:cNvPr id="3" name="Text 1"/>
          <p:cNvSpPr txBox="1"/>
          <p:nvPr/>
        </p:nvSpPr>
        <p:spPr>
          <a:xfrm>
            <a:off x="731520" y="731520"/>
            <a:ext cx="7315200" cy="274320"/>
          </a:xfrm>
          <a:prstGeom prst="rect">
            <a:avLst/>
          </a:prstGeom>
          <a:noFill/>
          <a:ln/>
        </p:spPr>
        <p:txBody>
          <a:bodyPr wrap="square" lIns="0" tIns="0" rIns="0" bIns="0" rtlCol="0" anchor="ctr"/>
          <a:lstStyle/>
          <a:p>
            <a:pPr indent="0" marL="0">
              <a:buNone/>
            </a:pPr>
            <a:r>
              <a:rPr lang="en-US" sz="1100" b="1" spc="200" kern="0" dirty="0">
                <a:solidFill>
                  <a:srgbClr val="F2A104"/>
                </a:solidFill>
                <a:latin typeface="Calibri" pitchFamily="34" charset="0"/>
                <a:ea typeface="Calibri" pitchFamily="34" charset="-122"/>
                <a:cs typeface="Calibri" pitchFamily="34" charset="-120"/>
              </a:rPr>
              <a:t>BEFORE WRITING MORE CODE</a:t>
            </a:r>
            <a:endParaRPr lang="en-US" sz="1100" dirty="0"/>
          </a:p>
        </p:txBody>
      </p:sp>
      <p:sp>
        <p:nvSpPr>
          <p:cNvPr id="4" name="Text 2"/>
          <p:cNvSpPr txBox="1"/>
          <p:nvPr/>
        </p:nvSpPr>
        <p:spPr>
          <a:xfrm>
            <a:off x="731520" y="105156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things, in order</a:t>
            </a:r>
            <a:endParaRPr lang="en-US" sz="3400" dirty="0"/>
          </a:p>
        </p:txBody>
      </p:sp>
      <p:sp>
        <p:nvSpPr>
          <p:cNvPr id="5" name="Shape 3"/>
          <p:cNvSpPr/>
          <p:nvPr/>
        </p:nvSpPr>
        <p:spPr>
          <a:xfrm>
            <a:off x="731520" y="1965960"/>
            <a:ext cx="10698480" cy="713232"/>
          </a:xfrm>
          <a:prstGeom prst="roundRect">
            <a:avLst>
              <a:gd name="adj" fmla="val 10256"/>
            </a:avLst>
          </a:prstGeom>
          <a:solidFill>
            <a:srgbClr val="2E3A6B"/>
          </a:solidFill>
          <a:ln/>
        </p:spPr>
      </p:sp>
      <p:sp>
        <p:nvSpPr>
          <p:cNvPr id="6" name="Shape 4"/>
          <p:cNvSpPr/>
          <p:nvPr/>
        </p:nvSpPr>
        <p:spPr>
          <a:xfrm>
            <a:off x="914400" y="2139696"/>
            <a:ext cx="365760" cy="365760"/>
          </a:xfrm>
          <a:prstGeom prst="ellipse">
            <a:avLst/>
          </a:prstGeom>
          <a:solidFill>
            <a:srgbClr val="F2A104"/>
          </a:solidFill>
          <a:ln/>
        </p:spPr>
      </p:sp>
      <p:sp>
        <p:nvSpPr>
          <p:cNvPr id="7" name="Text 5"/>
          <p:cNvSpPr txBox="1"/>
          <p:nvPr/>
        </p:nvSpPr>
        <p:spPr>
          <a:xfrm>
            <a:off x="914400" y="2139696"/>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2020824"/>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the Meta pricing change</a:t>
            </a:r>
            <a:endParaRPr lang="en-US" sz="1400" dirty="0"/>
          </a:p>
        </p:txBody>
      </p:sp>
      <p:sp>
        <p:nvSpPr>
          <p:cNvPr id="9" name="Text 7"/>
          <p:cNvSpPr txBox="1"/>
          <p:nvPr/>
        </p:nvSpPr>
        <p:spPr>
          <a:xfrm>
            <a:off x="5440680" y="2020824"/>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5 days away. Hits every pricing decision.</a:t>
            </a:r>
            <a:endParaRPr lang="en-US" sz="1050" dirty="0"/>
          </a:p>
        </p:txBody>
      </p:sp>
      <p:sp>
        <p:nvSpPr>
          <p:cNvPr id="10" name="Text 8"/>
          <p:cNvSpPr txBox="1"/>
          <p:nvPr/>
        </p:nvSpPr>
        <p:spPr>
          <a:xfrm>
            <a:off x="10058400" y="2020824"/>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This week</a:t>
            </a:r>
            <a:endParaRPr lang="en-US" sz="1050" dirty="0"/>
          </a:p>
        </p:txBody>
      </p:sp>
      <p:sp>
        <p:nvSpPr>
          <p:cNvPr id="11" name="Shape 9"/>
          <p:cNvSpPr/>
          <p:nvPr/>
        </p:nvSpPr>
        <p:spPr>
          <a:xfrm>
            <a:off x="731520" y="2807208"/>
            <a:ext cx="10698480" cy="713232"/>
          </a:xfrm>
          <a:prstGeom prst="roundRect">
            <a:avLst>
              <a:gd name="adj" fmla="val 10256"/>
            </a:avLst>
          </a:prstGeom>
          <a:solidFill>
            <a:srgbClr val="2E3A6B"/>
          </a:solidFill>
          <a:ln/>
        </p:spPr>
      </p:sp>
      <p:sp>
        <p:nvSpPr>
          <p:cNvPr id="12" name="Shape 10"/>
          <p:cNvSpPr/>
          <p:nvPr/>
        </p:nvSpPr>
        <p:spPr>
          <a:xfrm>
            <a:off x="914400" y="2980944"/>
            <a:ext cx="365760" cy="365760"/>
          </a:xfrm>
          <a:prstGeom prst="ellipse">
            <a:avLst/>
          </a:prstGeom>
          <a:solidFill>
            <a:srgbClr val="F2A104"/>
          </a:solidFill>
          <a:ln/>
        </p:spPr>
      </p:sp>
      <p:sp>
        <p:nvSpPr>
          <p:cNvPr id="13" name="Text 11"/>
          <p:cNvSpPr txBox="1"/>
          <p:nvPr/>
        </p:nvSpPr>
        <p:spPr>
          <a:xfrm>
            <a:off x="914400" y="2980944"/>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417320" y="2862072"/>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Make 25-40 customer calls</a:t>
            </a:r>
            <a:endParaRPr lang="en-US" sz="1400" dirty="0"/>
          </a:p>
        </p:txBody>
      </p:sp>
      <p:sp>
        <p:nvSpPr>
          <p:cNvPr id="15" name="Text 13"/>
          <p:cNvSpPr txBox="1"/>
          <p:nvPr/>
        </p:nvSpPr>
        <p:spPr>
          <a:xfrm>
            <a:off x="5440680" y="2862072"/>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Phone or message? Decides viability. Also tests the feasibility gap.</a:t>
            </a:r>
            <a:endParaRPr lang="en-US" sz="1050" dirty="0"/>
          </a:p>
        </p:txBody>
      </p:sp>
      <p:sp>
        <p:nvSpPr>
          <p:cNvPr id="16" name="Text 14"/>
          <p:cNvSpPr txBox="1"/>
          <p:nvPr/>
        </p:nvSpPr>
        <p:spPr>
          <a:xfrm>
            <a:off x="10058400" y="2862072"/>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2 days</a:t>
            </a:r>
            <a:endParaRPr lang="en-US" sz="1050" dirty="0"/>
          </a:p>
        </p:txBody>
      </p:sp>
      <p:sp>
        <p:nvSpPr>
          <p:cNvPr id="17" name="Shape 15"/>
          <p:cNvSpPr/>
          <p:nvPr/>
        </p:nvSpPr>
        <p:spPr>
          <a:xfrm>
            <a:off x="731520" y="3648456"/>
            <a:ext cx="10698480" cy="713232"/>
          </a:xfrm>
          <a:prstGeom prst="roundRect">
            <a:avLst>
              <a:gd name="adj" fmla="val 10256"/>
            </a:avLst>
          </a:prstGeom>
          <a:solidFill>
            <a:srgbClr val="2E3A6B"/>
          </a:solidFill>
          <a:ln/>
        </p:spPr>
      </p:sp>
      <p:sp>
        <p:nvSpPr>
          <p:cNvPr id="18" name="Shape 16"/>
          <p:cNvSpPr/>
          <p:nvPr/>
        </p:nvSpPr>
        <p:spPr>
          <a:xfrm>
            <a:off x="914400" y="3822192"/>
            <a:ext cx="365760" cy="365760"/>
          </a:xfrm>
          <a:prstGeom prst="ellipse">
            <a:avLst/>
          </a:prstGeom>
          <a:solidFill>
            <a:srgbClr val="F2A104"/>
          </a:solidFill>
          <a:ln/>
        </p:spPr>
      </p:sp>
      <p:sp>
        <p:nvSpPr>
          <p:cNvPr id="19" name="Text 17"/>
          <p:cNvSpPr txBox="1"/>
          <p:nvPr/>
        </p:nvSpPr>
        <p:spPr>
          <a:xfrm>
            <a:off x="914400" y="3822192"/>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703320"/>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Ask Shopify about checkout links</a:t>
            </a:r>
            <a:endParaRPr lang="en-US" sz="1400" dirty="0"/>
          </a:p>
        </p:txBody>
      </p:sp>
      <p:sp>
        <p:nvSpPr>
          <p:cNvPr id="21" name="Text 19"/>
          <p:cNvSpPr txBox="1"/>
          <p:nvPr/>
        </p:nvSpPr>
        <p:spPr>
          <a:xfrm>
            <a:off x="5440680" y="3703320"/>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May avoid a 4-8 week privacy review.</a:t>
            </a:r>
            <a:endParaRPr lang="en-US" sz="1050" dirty="0"/>
          </a:p>
        </p:txBody>
      </p:sp>
      <p:sp>
        <p:nvSpPr>
          <p:cNvPr id="22" name="Text 20"/>
          <p:cNvSpPr txBox="1"/>
          <p:nvPr/>
        </p:nvSpPr>
        <p:spPr>
          <a:xfrm>
            <a:off x="10058400" y="3703320"/>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1 email</a:t>
            </a:r>
            <a:endParaRPr lang="en-US" sz="1050" dirty="0"/>
          </a:p>
        </p:txBody>
      </p:sp>
      <p:sp>
        <p:nvSpPr>
          <p:cNvPr id="23" name="Shape 21"/>
          <p:cNvSpPr/>
          <p:nvPr/>
        </p:nvSpPr>
        <p:spPr>
          <a:xfrm>
            <a:off x="731520" y="4489704"/>
            <a:ext cx="10698480" cy="713232"/>
          </a:xfrm>
          <a:prstGeom prst="roundRect">
            <a:avLst>
              <a:gd name="adj" fmla="val 10256"/>
            </a:avLst>
          </a:prstGeom>
          <a:solidFill>
            <a:srgbClr val="2E3A6B"/>
          </a:solidFill>
          <a:ln/>
        </p:spPr>
      </p:sp>
      <p:sp>
        <p:nvSpPr>
          <p:cNvPr id="24" name="Shape 22"/>
          <p:cNvSpPr/>
          <p:nvPr/>
        </p:nvSpPr>
        <p:spPr>
          <a:xfrm>
            <a:off x="914400" y="4663440"/>
            <a:ext cx="365760" cy="365760"/>
          </a:xfrm>
          <a:prstGeom prst="ellipse">
            <a:avLst/>
          </a:prstGeom>
          <a:solidFill>
            <a:srgbClr val="F2A104"/>
          </a:solidFill>
          <a:ln/>
        </p:spPr>
      </p:sp>
      <p:sp>
        <p:nvSpPr>
          <p:cNvPr id="25" name="Text 23"/>
          <p:cNvSpPr txBox="1"/>
          <p:nvPr/>
        </p:nvSpPr>
        <p:spPr>
          <a:xfrm>
            <a:off x="914400" y="4663440"/>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1417320" y="4544568"/>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Instrument rate-card review time</a:t>
            </a:r>
            <a:endParaRPr lang="en-US" sz="1400" dirty="0"/>
          </a:p>
        </p:txBody>
      </p:sp>
      <p:sp>
        <p:nvSpPr>
          <p:cNvPr id="27" name="Text 25"/>
          <p:cNvSpPr txBox="1"/>
          <p:nvPr/>
        </p:nvSpPr>
        <p:spPr>
          <a:xfrm>
            <a:off x="5440680" y="4544568"/>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The single most valuable number we could generate.</a:t>
            </a:r>
            <a:endParaRPr lang="en-US" sz="1050" dirty="0"/>
          </a:p>
        </p:txBody>
      </p:sp>
      <p:sp>
        <p:nvSpPr>
          <p:cNvPr id="28" name="Text 26"/>
          <p:cNvSpPr txBox="1"/>
          <p:nvPr/>
        </p:nvSpPr>
        <p:spPr>
          <a:xfrm>
            <a:off x="10058400" y="4544568"/>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2 weeks</a:t>
            </a:r>
            <a:endParaRPr lang="en-US" sz="1050" dirty="0"/>
          </a:p>
        </p:txBody>
      </p:sp>
      <p:sp>
        <p:nvSpPr>
          <p:cNvPr id="29" name="Shape 27"/>
          <p:cNvSpPr/>
          <p:nvPr/>
        </p:nvSpPr>
        <p:spPr>
          <a:xfrm>
            <a:off x="731520" y="5330952"/>
            <a:ext cx="10698480" cy="713232"/>
          </a:xfrm>
          <a:prstGeom prst="roundRect">
            <a:avLst>
              <a:gd name="adj" fmla="val 10256"/>
            </a:avLst>
          </a:prstGeom>
          <a:solidFill>
            <a:srgbClr val="2E3A6B"/>
          </a:solidFill>
          <a:ln/>
        </p:spPr>
      </p:sp>
      <p:sp>
        <p:nvSpPr>
          <p:cNvPr id="30" name="Shape 28"/>
          <p:cNvSpPr/>
          <p:nvPr/>
        </p:nvSpPr>
        <p:spPr>
          <a:xfrm>
            <a:off x="914400" y="5504688"/>
            <a:ext cx="365760" cy="365760"/>
          </a:xfrm>
          <a:prstGeom prst="ellipse">
            <a:avLst/>
          </a:prstGeom>
          <a:solidFill>
            <a:srgbClr val="F2A104"/>
          </a:solidFill>
          <a:ln/>
        </p:spPr>
      </p:sp>
      <p:sp>
        <p:nvSpPr>
          <p:cNvPr id="31" name="Text 29"/>
          <p:cNvSpPr txBox="1"/>
          <p:nvPr/>
        </p:nvSpPr>
        <p:spPr>
          <a:xfrm>
            <a:off x="914400" y="5504688"/>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5385816"/>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Legal opinion on owner approval</a:t>
            </a:r>
            <a:endParaRPr lang="en-US" sz="1400" dirty="0"/>
          </a:p>
        </p:txBody>
      </p:sp>
      <p:sp>
        <p:nvSpPr>
          <p:cNvPr id="33" name="Text 31"/>
          <p:cNvSpPr txBox="1"/>
          <p:nvPr/>
        </p:nvSpPr>
        <p:spPr>
          <a:xfrm>
            <a:off x="5440680" y="5385816"/>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Does approval change the legal character of an automated quote?</a:t>
            </a:r>
            <a:endParaRPr lang="en-US" sz="1050" dirty="0"/>
          </a:p>
        </p:txBody>
      </p:sp>
      <p:sp>
        <p:nvSpPr>
          <p:cNvPr id="34" name="Text 32"/>
          <p:cNvSpPr txBox="1"/>
          <p:nvPr/>
        </p:nvSpPr>
        <p:spPr>
          <a:xfrm>
            <a:off x="10058400" y="5385816"/>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External</a:t>
            </a:r>
            <a:endParaRPr lang="en-US" sz="1050" dirty="0"/>
          </a:p>
        </p:txBody>
      </p:sp>
      <p:sp>
        <p:nvSpPr>
          <p:cNvPr id="35" name="Text 33"/>
          <p:cNvSpPr txBox="1"/>
          <p:nvPr/>
        </p:nvSpPr>
        <p:spPr>
          <a:xfrm>
            <a:off x="731520" y="6263640"/>
            <a:ext cx="10698480" cy="274320"/>
          </a:xfrm>
          <a:prstGeom prst="rect">
            <a:avLst/>
          </a:prstGeom>
          <a:noFill/>
          <a:ln/>
        </p:spPr>
        <p:txBody>
          <a:bodyPr wrap="square" lIns="0" tIns="0" rIns="0" bIns="0" rtlCol="0" anchor="ctr"/>
          <a:lstStyle/>
          <a:p>
            <a:pPr indent="0" marL="0">
              <a:buNone/>
            </a:pPr>
            <a:r>
              <a:rPr lang="en-US" sz="1100" i="1" dirty="0">
                <a:solidFill>
                  <a:srgbClr val="8FA6C0"/>
                </a:solidFill>
                <a:latin typeface="Calibri" pitchFamily="34" charset="0"/>
                <a:ea typeface="Calibri" pitchFamily="34" charset="-122"/>
                <a:cs typeface="Calibri" pitchFamily="34" charset="-120"/>
              </a:rPr>
              <a:t>Full detail: SYSTEM_DESIGN.md  ·  STRATEGY_FINDINGS.md  ·  research/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Unified AI Customer Agent - System Design &amp; Market Findings</dc:title>
  <dc:subject>PptxGenJS Presentation</dc:subject>
  <dc:creator>Rivon</dc:creator>
  <cp:lastModifiedBy>Rivon</cp:lastModifiedBy>
  <cp:revision>1</cp:revision>
  <dcterms:created xsi:type="dcterms:W3CDTF">2026-09-26T05:50:25Z</dcterms:created>
  <dcterms:modified xsi:type="dcterms:W3CDTF">2026-09-26T05:50:25Z</dcterms:modified>
</cp:coreProperties>
</file>