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DECK IS: a walkthrough of the system we are building - the modules, the data, the flows, the technology - with the justification for each decision attached to the decision itself.
HOW TO USE IT: sections are (1) what the product does, (2) architecture, (3) module by module, (4) the flows, (5) data, (6) stack and delivery. Each slide carries a WHY band at the bottom with the evidence behind the choice on that slide.
WHY EVIDENCE ON EVERY SLIDE: the original plan was built on untested assumptions. Four research threads tested them and contradicted four. So from here every structural decision states what it rests on. If the evidence changes, the decision is reopened.
HOW THIS SLIDE IS BUILT: dark bookend matching the closing slide. The four counts give the shape of the system before any detail - thirteen modules, twenty-five tables, four queues, two modes. If someone only sees this slide they still know the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PRODUCT IS, IN ONE SENTENCE: an AI agent that talks to a small business's customers, grounded in that business's real data, with a human approving anything that commits the business.
WHY THE FIVE-STEP STRIP: it is the same shape for both kinds of business. Understand, check reality, get approval, close the loop. Only the middle step differs.
WHY "CHECKS REALITY" IS AMBER: that is the differentiator. Competitors answer questions or calculate prices. None of them checks whether the business can actually do the job.
WHY SERVICE MODE LEADS: four independent reasons. (1) The feasibility gap is unoccupied. (2) Meta launched a free AI agent inside WhatsApp in June 2026 covering product mode's common case. (3) Product mode faces dozens of funded competitors. (4) A quote is worth hundreds or thousands to an installer; a parcel enquiry is worth a few euros to a shop.
HOW THIS SLIDE IS BUILT: strip on top for the universal flow, then two boxes for the two modes. The service box is outlined green because it is what we build first; the product box is plain because it is phase two. Colour carries the sequencing so the words do not have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people at the top, edge, queues, core, data. Reading down the slide is reading a request through the system.
DECISION 1 - CHANNELS ARE ADAPTERS, NOT THE APPLICATION. The webhook's only job is verify, persist, enqueue, return 200. No LLM call, no database join on that path. WHY: WhatsApp retries if you do not respond within seconds, and a slowly-processed webhook becomes a duplicate reply to a real customer. Consequence: the whole system must be demonstrable with no live WhatsApp connection.
DECISION 2 - FOUR QUEUES, SPLIT BY WORKLOAD CLASS, not one shared queue. WHY: a nightly analytics job must never sit in front of a customer's reply. Inbound is latency-sensitive, ai is slow and externally rate-limited, outbound is rate-limited per tenant, scheduled is batch.
DECISION 3 - ONE DEPLOYABLE, NOT MICROSERVICES. WHY: arithmetic. 200 tenants x 300 leads/month x ~12 messages is roughly 24,000 messages/day - well under 1 request/second average, ~20 peak. FastAPI on one modest instance handles that. Microservices would charge distributed-systems complexity for scaling we do not need.
DECISION 4 - STATE IN POSTGRES, NEVER IN WORKER MEMORY. Redis caches the last N conversation turns only. WHY: any worker must be able to pick up any turn of any conversation, which makes horizontal scaling a config change rather than a rewrite.
HOW THIS SLIDE IS BUILT: catalog and feasibility are amber in the module grid because they are the two modules that carry the differentiator. Everything else is uniform, so the eye lands on those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THESE ARE WRITTEN DOWN AS RULES: each one has a specific failure attached. The red line under each is the damage from breaking it. A rule without a named consequence gets negotiated away under deadline pressure.
RULE 2 IS THE MOST IMPORTANT COMMERCIALLY. Pricing must never be produced by a language model. The model writes prose around a number that deterministic code computed. Eight of thirteen modules involve no AI at all. Stating that explicitly is the best available answer to "isn't this just a wrapper around ChatGPT?"
RULE 3 IS THE MOST IMPORTANT ECONOMICALLY. The competitors we displace are the custom-build model - agencies charging per client. Building custom per client means inheriting their economics. Customisation happens through configuration stored as data, never through forked code.
RULE 7 IS THE MOST IMPORTANT OPERATIONALLY. Test it by deliberately replaying a webhook. A double-placed order or double-sent quotation loses the account.
HOW THIS SLIDE IS BUILT: two columns of four. Each card has three layers - the rule, how it works, and in red what breaks without it. The red line is the reason the rule survives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MODULES OWN THEIR TABLES: the boundary is enforced by interface contract, not convention. Nothing reaches into another module's tables. That is what makes the monolith modular rather than merely large, and it is what gives us an extraction path later if load ever justifies it.
WHY THIRTEEN AND NOT FIVE OR FIFTY: modules follow the natural seams of the domain. Each owns one concern and a small set of tables. Two of them - catalog and feasibility - carry the commercial differentiator, which is why they are amber.
THE MODE COLUMN MATTERS: six modules are shared by both kinds of business, four are service-only, two are product-only. That is the evidence for one platform rather than two products - roughly half the system is common.
BUT AN HONEST CAVEAT the research raised: the shared modules are the CHEAP ones. The expensive, valuable ones - feasibility and quotations on one side, catalog and orders on the other - share almost nothing. That is why product mode is phase two rather than a co-equal half.
MODULE 12, ENGAGEMENT, IS GREY: it is designed but deliberately last. Outbound marketing is the expensive traffic and carries the heaviest consent rules in every target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PRODUCT. Everything else supports this flow.
DECISION - FEASIBILITY IS DETERMINISTIC AND RETURNS REASONS, not a boolean. WHY, two reasons: the owner needs to know why a job was flagged, and the law requires that an automated adverse outcome be explainable and reviewable.
DECISION - THE PRICE IS COMPUTED BY CODE. The model writes prose around it. WHY: whole-document extraction accuracy is 28-77%, and 46.89% of table-reading errors still produce a plausible-looking answer, so the failure is silent. And a quoted price binds - Sweden caps overrun at 15% by statute, a Toronto dealership paid roughly 27,000 dollars on an AI-quoted price in 2026, and Moffatt v Air Canada rejected the defence that the chatbot was a separate agent.
DECISION - OWNER APPROVAL IS MANDATORY. WHY, from three directions: competitively, the closest European competitor appears to send quotes automatically with no gate. Legally, a human approver means the decision is not "solely automated". Practically, it is the only defence against a silent wrong number.
DECISION - THE FAILURE BRANCH ROUTES TO THE OWNER. WHY: the original activity diagram had not-feasible leading to lead-closed. That is a terminal automated rejection of a person, which is exactly the shape the law catches. It is now either an owner decision or a non-final outcome with a route to a human.
HOW THIS SLIDE IS BUILT: linear across the top, then the feasibility fan in amber because it is the differentiator, then the flow splits into two outcome columns. Green and red columns are the same size deliberately - the failure path got as much design attention as the success path, which is unusual and worth pointing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MODULE EXISTS AT ALL: it is the reason to build this rather than buy an existing chatbot. Two independent research threads examined roughly twenty products between them and found nothing that checks parts, crew and area before producing a price. The quoting tools produce prices but hold no conversation. The conversation tools hold conversations but produce no prices. Nothing bridges it.
WHY DETERMINISTIC AND NOT AI: the check must be reproducible and auditable. When a customer disputes an outcome six weeks later, "the rules said no because Team B was booked" is defensible. "The model decided" is not.
WHY EACH CHECK RETURNS A REASON: the owner needs to act on it, and the law requires an automated adverse outcome to be explainable. A bare false is useless to both.
WHY CLEANING IS THE BEST FIRST VERTICAL FOR THIS: crew availability is the genuine binding constraint in cleaning, which means the feasibility check is load-bearing rather than decorative. In some trades the check would be a nice-to-have. There it decides whether the job can be taken.
THE HONEST CAVEAT, and it should be said out loud: absence of a feature in competitors is not proof of demand. Nobody may have thought of it, or everybody may have tried it and found customers did not care. Desk research cannot distinguish those. That is what the validation calls are for.
HOW THIS SLIDE IS BUILT: five checks listed on the left with the table each reads from, and the "cannot be faked" argument in a dark panel on the right. The dark panel is the sales pitch; the list is the engineering. The amber warning band at the bottom is deliberately the last thing read, because over-promising on stock and crew is how this feature would damage trust rather than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retrieval may read documents during SETUP. It may never produce a price at RUNTIME.
WHY THE RULE EXISTS - six reasons in order of force.
1. The failure mode is SILENT. 46.89% of table-reading errors still produce plausible answers, so reviewing outputs cannot catch it.
2. Wrong numbers land in the legally UNESCAPABLE band. The obvious-error escape only covers absurd figures. A 1 euro boiler is escapable; 340 euros for a 480 euro job is not - plausible, accepted in good faith, binding.
3. It is adversarially steerable. A dealership chatbot was prompt-injected into selling a vehicle for a dollar.
4. A retrieved chunk cannot express a RULE - minimums, callout fees, out-of-hours multipliers, travel bands.
5. No versioning or effective dates, so it rots silently.
6. Non-reproducible. Six weeks later, "the retriever returned this chunk" is not an audit trail.
WHY WE DID NOT OVER-CORRECT: the rule bans the model from producing the number. It does not ban documents from onboarding. Extraction into an owner-confirmed rate card fully honours the rule - a human approved the structured data the code computes from.
AN IMPORTANT CORRECTION TO AN EARLIER VERSION OF THIS ARGUMENT: we originally justified this rule by pointing at AI regulation. That was wrong - the relevant annex covers pricing only for life and health insurance. The real exposure is ordinary contract and consumer law, which is LARGER. The rule stands; the justification is replaced. A correct rule resting on a bad argument gets relaxed the first time somebody checks it.
HOW THIS SLIDE IS BUILT: rule at the top, pipeline in the middle with the two human steps in amber, then an explicit allowed-versus-never split, then the evidence. The allowed column matters as much as the never column - it stops the rule being read as "no AI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IS THE BIGGEST RISK TO THE WHOLE PRODUCT: the agent cannot compute a price without a rate card loaded, and loading a rate card is precisely the task that makes tradespeople abandon software. The consistently cited reason is that three afternoons building price books is selling time gone, and the software is already too expensive before the monthly fee hits the card.
THE RESEARCH CORRECTED AN ASSUMPTION WE HELD: we assumed trades do not buy software. Wrong. Jobber, Tradify, ServiceM8 and Housecall Pro are substantial self-serve businesses selling to exactly this customer, and a Nordic investor paid 550 million NOK for trades marketplaces in December 2025. Acquisition is not the problem. RETENTION is, and retention fails at onboarding.
WHY TEMPLATE BEFORE UPLOAD, which is the opposite of the intuitive order: extraction cannot help when there is no document. An owner's callout fee often lives in their head, not on paper. A pre-filled form captures that; a parser cannot.
WHY STEP 4 IS OUR INVENTION: no product was found that goes live on a partial rate card and escalates gaps inside a live conversation. It is also the best-motivated - a real gap encountered while a customer is waiting beats an empty form field on a setup screen.
PROMISE HONESTLY: 10 to 15 minutes of careful review, not "done in seconds". Over-promising here is its own abandonment risk.
THE LINK TO VERTICALS: pest control and cleaning have short, already-fixed rate cards. HVAC and general building have enormous ones. Vertical choice and onboarding feasibility are the same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ports and adapters. The same rule that makes WhatsApp an adapter makes Shopify one.
WHY: the agent calls search_products(tenant, query). It never knows Shopify exists. Adding a platform becomes contained work rather than a redesign. THE INTERFACE IS THE PRODUCT; THE ADAPTERS ARE INVENTORY. That is what makes this SaaS rather than consulting.
WHY THE NO-PLATFORM ADAPTER IS BUILT FIRST, which surprises people: it is the universal fallback so no tenant is ever un-onboardable; it forces the canonical product model to be defined before any external API shapes it; roughly 23% of small EU enterprises have no website at all, and an Instagram shop with stock in a spreadsheet is our ideal customer - structurally invisible to every app-store competitor; and it is the cheapest to build.
WHY THE READ MODEL IS ALWAYS THE QUERY PATH: consistent latency, identical behaviour across every source, and distance from third-party rate limits. Never call the platform mid-conversation - only at transaction time, plus one live stock check on the variant about to be bought.
THE HIGHEST-LEVERAGE ENGINEERING DETAIL ON THIS SLIDE: WooCommerce ships an authorise endpoint giving a near-OAuth flow - two clicks instead of seven fiddly admin steps with a one-time-only secret. That is what keeps a third of the market self-serve instead of support-heavy.
WHY ODOO STAYS VISIBLE THOUGH DROPPED: somebody will ask. A struck-out box answers before the question is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data age changes what the agent is allowed to say.
WHY: an agent that promises something sold out weeks ago damages the tenant's relationship with their own customer. That is worse than being unhelpful - it actively costs them.
WHY THIS IS ALSO A COMPETITIVE POINT: vendors advertise real-time sync while their own documentation says hourly intervals. Hourly polling marketed as real-time is the industry norm, and reviews show the cost - purchases of out-of-stock items, quantities wrong for months, stock added back instead of deducted. Genuine webhooks plus reconciliation beats most products shipping today. The bar is lower than it looks.
THE MECHANISM COMPETITORS CANNOT COPY: let the agent ask the owner on WhatsApp and write the answer back. The conversation becomes the sync mechanism. A connector-only product has no channel to the owner, so it cannot do this.
WHY RECONCILIATION IS DESIGNED IN, not bolted on: webhook delivery is not guaranteed. One platform retries eight times over about four hours and then DELETES the subscription - the shop then goes silently stale forever with no error anywhere. So we health-check our own subscriptions and re-register them, and we reconcile on a schedule regardless.
HOW THIS SLIDE IS BUILT: traffic-light bands top to bottom, then the per-source reality underneath. The sheet-upload card is amber because it is the one that will bite, and it is also the adapter we build first - so the risk and the beachhead are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MODELLING DECISIONS THAT MAKE THIS ONE SYSTEM RATHER THAN TWO APPS SHARING A DATABASE:
1. A LEAD AND A CUSTOMER ARE THE SAME ENTITY at different stages. One contacts table with a lifecycle_stage field, running new_inquiry, qualified, quoted, customer, repeat, dormant, churned. WHY it matters practically: the same inbound message means different things depending on who sent it. Unknown number means new enquiry. Open job means a service question. Recently completed means feedback or a warranty issue. Dormant customer means repeat business. That is cheap to implement and makes the agent feel markedly more competent.
2. AN ACCEPTED QUOTATION BECOMES A JOB. Same commitment, different name either side of the hinge. That transition is where the pre-sale half joins the post-sale half.
WHY tenant_id LEADS EVERY INDEX: every query is tenant-scoped, so the index must be too. Row-level security sits behind it as a backstop that catches the query which forgot to filter - application code filters first, RLS is the safety net, not the mechanism.
WHY THE MESSAGES TABLE IS APPEND-ONLY AND NOT PARTITIONED YET: it is the only unbounded-growth table, roughly nine million rows a year at 200 tenants, which Postgres handles comfortably. Design append-only now, plan monthly partitioning as a later migration, do not build partitioning yet.
WHY WE COLLAPSED THE INHERITED SCHEMA: the retail design we merged from specified 58 tables because it was built for spreadsheets. Customers alone had around fifty analytics columns. In Postgres those collapse into a contacts table plus a metrics table with jsonb.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AN OUTBOX TABLE AND NOT KAFKA: the outbox is a Postgres table written inside the same transaction as the data change, so an event can never be published for a change that rolled back. Celery consumers deliver from it. Kafka would add an entire distributed system to operate for a workload of roughly twenty requests per second.
WHY EVENTS AND NOT DIRECT CALLS: the feedback module listens for job.completed and knows nothing whatsoever about the jobs module's internals. That decoupling is what keeps the two merged halves from tangling into one another, and it is what lets us add a subscriber later without touching the publisher.
THE AMBER PAIR IS THE POINT OF THE SLIDE: feedback subscribes to job.completed AND order.delivered. A service job finishing and a retail order arriving trigger the same rating loop through the same code. One mechanism, two entry points. If someone asks what "merged platform" actually means in engineering terms, this is the concrete answer.
WHY ANALYTICS SUBSCRIBES TO EVERYTHING: rollups are computed nightly from the event stream rather than by querying live operational tables. The dashboard then reads only the rollups, so analytics can never slow down a customer conversation.
WHAT IS STILL OPEN: the event payload shapes are not yet specified. That is flagged in the design document and remains outstanding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 THE WEBHOOK DOES FOUR THINGS AND RETURNS 200. WHY: WhatsApp retries if you do not respond within seconds. A slowly-processed webhook becomes a DUPLICATE REPLY to a real customer. So no LLM call and no database join sits on that path. The consequence worth stating: the entire system must be testable and demonstrable with no live WhatsApp connection at all.
DECISION - ONE OUTBOUND DISPATCHER FOR EVERY CHANNEL, never per-module sending. WHY: dedupe, rate limiting, backoff and dead-lettering have to be enforced in exactly one place or they are not enforced. A double-sent quotation or a double-placed order loses the account.
DECISION - OFFICIAL CLOUD API ONLY, never WhatsApp Web automation providers. WHY: they automate WhatsApp Web and get numbers banned on exactly the outbound traffic the retention half depends on. The inherited retail design listed one of these as a provider option; it was removed.
WHY MULTI-CHANNEL IS A DESIGN REQUIREMENT AND NOT A FEATURE: an earlier report disqualified Sweden and Denmark because WhatsApp reaches only about 49% and 30% of internet users there. The conclusion did not follow. Messenger is the number one messaging app in Denmark and number two in Sweden at 65%, alongside Instagram at 65%. There is a viable channel mix without WhatsApp in both. They fail on language, not channels.
WHY TELEGRAM IS AMBER: it is owner-side only - a bot token, no OAuth, hours of work - and it is the fallback for approval notifications if template approval is slow.
ONE THING TO VERIFY BEFORE PRICING: sources conflict on whether inbound service replies remain free inside the 24-hour window. It affects unit economics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COMPLIANCE IS IN THE PRODUCT DECK AND NOT AN APPENDIX: two of these six change the flow itself, so they are design decisions, not paperwork.
ITEM 2 IS A CHANGE TO THE ORIGINAL DESIGN. The first activity diagram had "not feasible, notify customer, lead closed". That is a terminal automated rejection of a person with no human involved, which is the shape the law catches. It is now either an owner decision or a non-final outcome with a documented route to a human. This is why the failure column on the service flow slide exists at all.
ITEM 1 IS NOT OPTIONAL AND NOT DISABLEABLE. Disclosure must come at first contact, be clearly noticeable, and be logged - because "we disclosed" is a claim you must be able to evidence.
THE OWNER-APPROVAL GATE DOES DOUBLE DUTY. Beyond trust and accuracy, a human approver means the decision is not "solely automated", which disposes of the automated-decision question entirely. That is an independent reason to keep the gate.
A CORRECTION WORTH STATING: we originally justified the pricing rule by pointing at AI regulation. Reading the actual text, the relevant annex covers pricing only for life and health insurance - ordinary commercial service pricing is not there. The real exposure is contract and consumer law, which is larger. Same rule, better reason.
THE COMMERCIAL POINT: for a trade choosing between us and a local agency, "this is the one that keeps you legal" is a real reason to pick us, and an agency cannot easily retrofit it. We should market what we already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STACK AND NOT SOMETHING MORE FASHIONABLE: every choice here is justified by the actual load and the actual team size. Roughly twenty requests per second at peak, three people, an academic deadline in the background.
THE LANGCHAIN DECISION is the one most likely to be questioned, so state the reasoning. Our pipeline is deterministic - classify, extract, decide, generate. There is no open-ended agent loop with dynamic tool selection, which is where those frameworks earn their keep. Direct SDK calls with typed structured output are simpler, cheaper, faster, and far easier to debug when a single extraction goes wrong. If a named framework is required for external reasons, keep one for retrieval over business documents only, never on the core path.
WHY POSTGRES FULL-TEXT BEFORE pgvector BEFORE A SEARCH SERVICE: every additional system is another thing to run, monitor and pay for. Start with what the database already does. That said, search quality for conversational catalogue search is the highest technical risk in product mode and should be prototyped against a real catalogue early.
WHY DOCKER COMPOSE ON ONE INSTANCE: the governing principle is build for one instance, code so that N instances requires no rewrite. Stateless services, external state, queued work, no in-process caching of anything mutable. The path to managed containers is then a configuration change rather than a rebuild.
WHY COST CONTROL IS ARCHITECTURE, NOT AN OPTIMISATION: tiered model routing, prompt caching, rules over inference, structured outputs and per-tenant token budgets. The business profile is large, static per tenant and repeated on every call - that is the highest-leverage cache in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ORDER: each phase is a coherent product on its own, not a slice of an unfinished one. V1 is the complete service loop - if it stopped there it would still be sellable.
WHY PRODUCT MODE IS V2 RATHER THAN A CO-EQUAL HALF: four independent reasons. Meta made product mode's common case free inside WhatsApp in June 2026. The shop space has dozens of funded competitors. The feasibility differentiator is unoccupied. And a quote is worth far more per transaction than a parcel enquiry, so revenue per tenant and churn both favour service.
WHY THE MANUAL ADAPTER IS IN V1.1 AND NOT V2: it is the cheapest way to prove the catalogue port design is right, and it serves the businesses with no website at all - roughly 23% of small EU enterprises - who are invisible to every app-store competitor.
WHY ENGAGEMENT IS LAST: outbound marketing is the expensive traffic and carries the heaviest consent rules in every target market. Inbound replies are largely free; marketing messages cost money AND carry legal risk. Cost and compliance point the same direction - keep the product inbound for as long as possible.
THE DEFINITION OF DONE is on the slide as the test. Note the specific failure conditions: if the feasibility verdict or the phone approval is missing, it is just a chatbot. If the conversation viewer is missing, nobody will trust it. If data export is missing, no European tenant can be onboarded.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EVERY RISK HAS A MITIGATION PRINTED NEXT TO IT: a risk list without answers reads as a list of reasons not to proceed. That is not what this is.
RISK 1 IS RANKED FIRST because if customers phone rather than message, the entire product is moot - and the evidence is genuinely contaminated. Industry sources claim 78-83% of home-service bookings start with a call, but these trace to vendor marketing with no verifiable primary study, and they are US-based. The counter-claims come from vendor blogs with equal self-interest. Do not settle this with more desk research. Twenty-five to forty calls, two days.
RISK 2 CANNOT BE MITIGATED BY REVIEW because the failure is silent. The mitigation has to be structural.
RISK 3 EXISTS EVEN THOUGH APPROVAL IS OUR STRONGEST FEATURE: if the owner taps Approve without seeing what drove the number, the gate is decorative and the legal protection evaporates with it.
THE COLOUR CODING: red is existential, amber is serious but designed for, teal is a technical unknown scheduled for later.
THE DOWNGRADED RISK IS INCLUDED DELIBERATELY. We assumed trades do not buy software and the research contradicted it. Showing something that came OFF the register is what makes the rest of the register credible - it demonstrates the list is maintained honestly rather than only ever growing.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BOTH COLUMNS ARE THE SAME SIZE: a positioning slide that only lists strengths is a sales pitch. This one is a design document. The weaknesses column is what makes the strengths column believable, and every item in it came out of the research rather than from us.
THE APPROVAL GATE IS THE STRONGEST SINGLE ITEM because three independent lines of reasoning converge on it. Competitively, the closest European competitor appears to send quotes automatically with no gate. Legally, a human approver means the decision is not solely automated. Practically, it is the only defence against a silent wrong number. When three separate arguments land on one design element, build the marketing around it.
WHY PRICE IS NOT A WEAPON: the category is affordable already. One competitor is roughly 25 pounds a month with unlimited users. The one-van operator is not priced out of anything. We have to be better, not cheaper. But note what the research found the loudest complaint to be - confusing, surprising billing, with one product running three separate meters. Flat predictable pricing in local currency costs nothing to implement and addresses that directly.
THE SALES PITCH WORTH MEMORISING is the one in the band at the bottom. It attaches to budget the trade ALREADY spends on leads rather than asking for new budget, which is a materially easier conversation.
THE CAVEAT IN THE RIGHT COLUMN that matters most: absence of a feature in competitors is not proof of demand. Validation calls settle it, and they are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THESE FIVE AND IN THIS ORDER: items are ranked by deadline and by decisiveness.
1. THE CHANNEL PRICING CHANGE is first purely because it is imminent. Sources conflict on whether inbound service replies remain free. We cannot price a tier without knowing.
2. THE CUSTOMER CALLS are the most decisive item on the list. They answer two questions at once: do enquiries arrive by message or by phone, which decides viability; and is the feasibility gap unoccupied because nobody thought of it or because customers did not care, which decides whether our main differentiator is real. Two days against months of building the wrong thing.
3. THE PLATFORM QUESTION is one email and could remove four to eight weeks from launch. Best return on effort here.
4. INSTRUMENTING RATE-CARD REVIEW TIME validates or kills the 15-minute onboarding target, which is the biggest adoption risk in the product.
5. THE LEGAL OPINION is last because it is external and slow, but it is load-bearing - no source found answers whether owner approval changes the legal character of an automated quote, and the whole design leans on that gate.
THE CLOSING POINT: four of these five cost days, not weeks. The research already contradicted the plan in four places. These five can still change it again, and that is cheaper now than after the code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052560" y="-1463040"/>
            <a:ext cx="5120640" cy="5120640"/>
          </a:xfrm>
          <a:prstGeom prst="ellipse">
            <a:avLst/>
          </a:prstGeom>
          <a:solidFill>
            <a:srgbClr val="065A82"/>
          </a:solidFill>
          <a:ln/>
        </p:spPr>
      </p:sp>
      <p:sp>
        <p:nvSpPr>
          <p:cNvPr id="3" name="Shape 1"/>
          <p:cNvSpPr/>
          <p:nvPr/>
        </p:nvSpPr>
        <p:spPr>
          <a:xfrm>
            <a:off x="10424160" y="4297680"/>
            <a:ext cx="2926080" cy="2926080"/>
          </a:xfrm>
          <a:prstGeom prst="ellipse">
            <a:avLst/>
          </a:prstGeom>
          <a:solidFill>
            <a:srgbClr val="1C7293"/>
          </a:solidFill>
          <a:ln/>
        </p:spPr>
      </p:sp>
      <p:sp>
        <p:nvSpPr>
          <p:cNvPr id="4" name="Text 2"/>
          <p:cNvSpPr txBox="1"/>
          <p:nvPr/>
        </p:nvSpPr>
        <p:spPr>
          <a:xfrm>
            <a:off x="731520" y="1325880"/>
            <a:ext cx="8229600" cy="274320"/>
          </a:xfrm>
          <a:prstGeom prst="rect">
            <a:avLst/>
          </a:prstGeom>
          <a:noFill/>
          <a:ln/>
        </p:spPr>
        <p:txBody>
          <a:bodyPr wrap="square" lIns="0" tIns="0" rIns="0" bIns="0" rtlCol="0" anchor="ctr"/>
          <a:lstStyle/>
          <a:p>
            <a:pPr indent="0" marL="0">
              <a:buNone/>
            </a:pPr>
            <a:r>
              <a:rPr lang="en-US" sz="1200" b="1" spc="200" kern="0" dirty="0">
                <a:solidFill>
                  <a:srgbClr val="F2A104"/>
                </a:solidFill>
                <a:latin typeface="Calibri" pitchFamily="34" charset="0"/>
                <a:ea typeface="Calibri" pitchFamily="34" charset="-122"/>
                <a:cs typeface="Calibri" pitchFamily="34" charset="-120"/>
              </a:rPr>
              <a:t>PRODUCT &amp; SYSTEM OVERVIEW</a:t>
            </a:r>
            <a:endParaRPr lang="en-US" sz="1200" dirty="0"/>
          </a:p>
        </p:txBody>
      </p:sp>
      <p:sp>
        <p:nvSpPr>
          <p:cNvPr id="5" name="Text 3"/>
          <p:cNvSpPr txBox="1"/>
          <p:nvPr/>
        </p:nvSpPr>
        <p:spPr>
          <a:xfrm>
            <a:off x="731520" y="1691640"/>
            <a:ext cx="8229600" cy="164592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Unified AI Customer</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Agent Platform</a:t>
            </a:r>
            <a:endParaRPr lang="en-US" sz="4000" dirty="0"/>
          </a:p>
        </p:txBody>
      </p:sp>
      <p:sp>
        <p:nvSpPr>
          <p:cNvPr id="6" name="Text 4"/>
          <p:cNvSpPr txBox="1"/>
          <p:nvPr/>
        </p:nvSpPr>
        <p:spPr>
          <a:xfrm>
            <a:off x="731520" y="3429000"/>
            <a:ext cx="8046720" cy="365760"/>
          </a:xfrm>
          <a:prstGeom prst="rect">
            <a:avLst/>
          </a:prstGeom>
          <a:noFill/>
          <a:ln/>
        </p:spPr>
        <p:txBody>
          <a:bodyPr wrap="square" lIns="0" tIns="0" rIns="0" bIns="0" rtlCol="0" anchor="ctr"/>
          <a:lstStyle/>
          <a:p>
            <a:pPr indent="0" marL="0">
              <a:buNone/>
            </a:pPr>
            <a:r>
              <a:rPr lang="en-US" sz="1500" i="1" dirty="0">
                <a:solidFill>
                  <a:srgbClr val="BFD3E6"/>
                </a:solidFill>
                <a:latin typeface="Calibri" pitchFamily="34" charset="0"/>
                <a:ea typeface="Calibri" pitchFamily="34" charset="-122"/>
                <a:cs typeface="Calibri" pitchFamily="34" charset="-120"/>
              </a:rPr>
              <a:t>What we are building, how it is put together, and why each decision was made</a:t>
            </a:r>
            <a:endParaRPr lang="en-US" sz="1500" dirty="0"/>
          </a:p>
        </p:txBody>
      </p:sp>
      <p:sp>
        <p:nvSpPr>
          <p:cNvPr id="7" name="Text 5"/>
          <p:cNvSpPr txBox="1"/>
          <p:nvPr/>
        </p:nvSpPr>
        <p:spPr>
          <a:xfrm>
            <a:off x="731520" y="4206240"/>
            <a:ext cx="1828800" cy="548640"/>
          </a:xfrm>
          <a:prstGeom prst="rect">
            <a:avLst/>
          </a:prstGeom>
          <a:noFill/>
          <a:ln/>
        </p:spPr>
        <p:txBody>
          <a:bodyPr wrap="square" lIns="0" tIns="0" rIns="0" bIns="0" rtlCol="0" anchor="ctr"/>
          <a:lstStyle/>
          <a:p>
            <a:pPr indent="0" marL="0">
              <a:buNone/>
            </a:pPr>
            <a:r>
              <a:rPr lang="en-US" sz="3200" b="1" dirty="0">
                <a:solidFill>
                  <a:srgbClr val="F2A104"/>
                </a:solidFill>
                <a:latin typeface="Cambria" pitchFamily="34" charset="0"/>
                <a:ea typeface="Cambria" pitchFamily="34" charset="-122"/>
                <a:cs typeface="Cambria" pitchFamily="34" charset="-120"/>
              </a:rPr>
              <a:t>13</a:t>
            </a:r>
            <a:endParaRPr lang="en-US" sz="3200" dirty="0"/>
          </a:p>
        </p:txBody>
      </p:sp>
      <p:sp>
        <p:nvSpPr>
          <p:cNvPr id="8" name="Text 6"/>
          <p:cNvSpPr txBox="1"/>
          <p:nvPr/>
        </p:nvSpPr>
        <p:spPr>
          <a:xfrm>
            <a:off x="731520" y="4754880"/>
            <a:ext cx="1828800" cy="274320"/>
          </a:xfrm>
          <a:prstGeom prst="rect">
            <a:avLst/>
          </a:prstGeom>
          <a:noFill/>
          <a:ln/>
        </p:spPr>
        <p:txBody>
          <a:bodyPr wrap="square" lIns="0" tIns="0" rIns="0" bIns="0" rtlCol="0" anchor="ctr"/>
          <a:lstStyle/>
          <a:p>
            <a:pPr indent="0" marL="0">
              <a:buNone/>
            </a:pPr>
            <a:r>
              <a:rPr lang="en-US" sz="1100" dirty="0">
                <a:solidFill>
                  <a:srgbClr val="BFD3E6"/>
                </a:solidFill>
                <a:latin typeface="Calibri" pitchFamily="34" charset="0"/>
                <a:ea typeface="Calibri" pitchFamily="34" charset="-122"/>
                <a:cs typeface="Calibri" pitchFamily="34" charset="-120"/>
              </a:rPr>
              <a:t>modules</a:t>
            </a:r>
            <a:endParaRPr lang="en-US" sz="1100" dirty="0"/>
          </a:p>
        </p:txBody>
      </p:sp>
      <p:sp>
        <p:nvSpPr>
          <p:cNvPr id="9" name="Text 7"/>
          <p:cNvSpPr txBox="1"/>
          <p:nvPr/>
        </p:nvSpPr>
        <p:spPr>
          <a:xfrm>
            <a:off x="2697480" y="4206240"/>
            <a:ext cx="1828800" cy="548640"/>
          </a:xfrm>
          <a:prstGeom prst="rect">
            <a:avLst/>
          </a:prstGeom>
          <a:noFill/>
          <a:ln/>
        </p:spPr>
        <p:txBody>
          <a:bodyPr wrap="square" lIns="0" tIns="0" rIns="0" bIns="0" rtlCol="0" anchor="ctr"/>
          <a:lstStyle/>
          <a:p>
            <a:pPr indent="0" marL="0">
              <a:buNone/>
            </a:pPr>
            <a:r>
              <a:rPr lang="en-US" sz="3200" b="1" dirty="0">
                <a:solidFill>
                  <a:srgbClr val="F2A104"/>
                </a:solidFill>
                <a:latin typeface="Cambria" pitchFamily="34" charset="0"/>
                <a:ea typeface="Cambria" pitchFamily="34" charset="-122"/>
                <a:cs typeface="Cambria" pitchFamily="34" charset="-120"/>
              </a:rPr>
              <a:t>~25</a:t>
            </a:r>
            <a:endParaRPr lang="en-US" sz="3200" dirty="0"/>
          </a:p>
        </p:txBody>
      </p:sp>
      <p:sp>
        <p:nvSpPr>
          <p:cNvPr id="10" name="Text 8"/>
          <p:cNvSpPr txBox="1"/>
          <p:nvPr/>
        </p:nvSpPr>
        <p:spPr>
          <a:xfrm>
            <a:off x="2697480" y="4754880"/>
            <a:ext cx="1828800" cy="274320"/>
          </a:xfrm>
          <a:prstGeom prst="rect">
            <a:avLst/>
          </a:prstGeom>
          <a:noFill/>
          <a:ln/>
        </p:spPr>
        <p:txBody>
          <a:bodyPr wrap="square" lIns="0" tIns="0" rIns="0" bIns="0" rtlCol="0" anchor="ctr"/>
          <a:lstStyle/>
          <a:p>
            <a:pPr indent="0" marL="0">
              <a:buNone/>
            </a:pPr>
            <a:r>
              <a:rPr lang="en-US" sz="1100" dirty="0">
                <a:solidFill>
                  <a:srgbClr val="BFD3E6"/>
                </a:solidFill>
                <a:latin typeface="Calibri" pitchFamily="34" charset="0"/>
                <a:ea typeface="Calibri" pitchFamily="34" charset="-122"/>
                <a:cs typeface="Calibri" pitchFamily="34" charset="-120"/>
              </a:rPr>
              <a:t>tables</a:t>
            </a:r>
            <a:endParaRPr lang="en-US" sz="1100" dirty="0"/>
          </a:p>
        </p:txBody>
      </p:sp>
      <p:sp>
        <p:nvSpPr>
          <p:cNvPr id="11" name="Text 9"/>
          <p:cNvSpPr txBox="1"/>
          <p:nvPr/>
        </p:nvSpPr>
        <p:spPr>
          <a:xfrm>
            <a:off x="4663440" y="4206240"/>
            <a:ext cx="1828800" cy="548640"/>
          </a:xfrm>
          <a:prstGeom prst="rect">
            <a:avLst/>
          </a:prstGeom>
          <a:noFill/>
          <a:ln/>
        </p:spPr>
        <p:txBody>
          <a:bodyPr wrap="square" lIns="0" tIns="0" rIns="0" bIns="0" rtlCol="0" anchor="ctr"/>
          <a:lstStyle/>
          <a:p>
            <a:pPr indent="0" marL="0">
              <a:buNone/>
            </a:pPr>
            <a:r>
              <a:rPr lang="en-US" sz="3200" b="1" dirty="0">
                <a:solidFill>
                  <a:srgbClr val="F2A104"/>
                </a:solidFill>
                <a:latin typeface="Cambria" pitchFamily="34" charset="0"/>
                <a:ea typeface="Cambria" pitchFamily="34" charset="-122"/>
                <a:cs typeface="Cambria" pitchFamily="34" charset="-120"/>
              </a:rPr>
              <a:t>4</a:t>
            </a:r>
            <a:endParaRPr lang="en-US" sz="3200" dirty="0"/>
          </a:p>
        </p:txBody>
      </p:sp>
      <p:sp>
        <p:nvSpPr>
          <p:cNvPr id="12" name="Text 10"/>
          <p:cNvSpPr txBox="1"/>
          <p:nvPr/>
        </p:nvSpPr>
        <p:spPr>
          <a:xfrm>
            <a:off x="4663440" y="4754880"/>
            <a:ext cx="1828800" cy="274320"/>
          </a:xfrm>
          <a:prstGeom prst="rect">
            <a:avLst/>
          </a:prstGeom>
          <a:noFill/>
          <a:ln/>
        </p:spPr>
        <p:txBody>
          <a:bodyPr wrap="square" lIns="0" tIns="0" rIns="0" bIns="0" rtlCol="0" anchor="ctr"/>
          <a:lstStyle/>
          <a:p>
            <a:pPr indent="0" marL="0">
              <a:buNone/>
            </a:pPr>
            <a:r>
              <a:rPr lang="en-US" sz="1100" dirty="0">
                <a:solidFill>
                  <a:srgbClr val="BFD3E6"/>
                </a:solidFill>
                <a:latin typeface="Calibri" pitchFamily="34" charset="0"/>
                <a:ea typeface="Calibri" pitchFamily="34" charset="-122"/>
                <a:cs typeface="Calibri" pitchFamily="34" charset="-120"/>
              </a:rPr>
              <a:t>queues</a:t>
            </a:r>
            <a:endParaRPr lang="en-US" sz="1100" dirty="0"/>
          </a:p>
        </p:txBody>
      </p:sp>
      <p:sp>
        <p:nvSpPr>
          <p:cNvPr id="13" name="Text 11"/>
          <p:cNvSpPr txBox="1"/>
          <p:nvPr/>
        </p:nvSpPr>
        <p:spPr>
          <a:xfrm>
            <a:off x="6629400" y="4206240"/>
            <a:ext cx="1828800" cy="548640"/>
          </a:xfrm>
          <a:prstGeom prst="rect">
            <a:avLst/>
          </a:prstGeom>
          <a:noFill/>
          <a:ln/>
        </p:spPr>
        <p:txBody>
          <a:bodyPr wrap="square" lIns="0" tIns="0" rIns="0" bIns="0" rtlCol="0" anchor="ctr"/>
          <a:lstStyle/>
          <a:p>
            <a:pPr indent="0" marL="0">
              <a:buNone/>
            </a:pPr>
            <a:r>
              <a:rPr lang="en-US" sz="3200" b="1" dirty="0">
                <a:solidFill>
                  <a:srgbClr val="F2A104"/>
                </a:solidFill>
                <a:latin typeface="Cambria" pitchFamily="34" charset="0"/>
                <a:ea typeface="Cambria" pitchFamily="34" charset="-122"/>
                <a:cs typeface="Cambria" pitchFamily="34" charset="-120"/>
              </a:rPr>
              <a:t>2</a:t>
            </a:r>
            <a:endParaRPr lang="en-US" sz="3200" dirty="0"/>
          </a:p>
        </p:txBody>
      </p:sp>
      <p:sp>
        <p:nvSpPr>
          <p:cNvPr id="14" name="Text 12"/>
          <p:cNvSpPr txBox="1"/>
          <p:nvPr/>
        </p:nvSpPr>
        <p:spPr>
          <a:xfrm>
            <a:off x="6629400" y="4754880"/>
            <a:ext cx="1828800" cy="274320"/>
          </a:xfrm>
          <a:prstGeom prst="rect">
            <a:avLst/>
          </a:prstGeom>
          <a:noFill/>
          <a:ln/>
        </p:spPr>
        <p:txBody>
          <a:bodyPr wrap="square" lIns="0" tIns="0" rIns="0" bIns="0" rtlCol="0" anchor="ctr"/>
          <a:lstStyle/>
          <a:p>
            <a:pPr indent="0" marL="0">
              <a:buNone/>
            </a:pPr>
            <a:r>
              <a:rPr lang="en-US" sz="1100" dirty="0">
                <a:solidFill>
                  <a:srgbClr val="BFD3E6"/>
                </a:solidFill>
                <a:latin typeface="Calibri" pitchFamily="34" charset="0"/>
                <a:ea typeface="Calibri" pitchFamily="34" charset="-122"/>
                <a:cs typeface="Calibri" pitchFamily="34" charset="-120"/>
              </a:rPr>
              <a:t>tenant modes</a:t>
            </a:r>
            <a:endParaRPr lang="en-US" sz="1100" dirty="0"/>
          </a:p>
        </p:txBody>
      </p:sp>
      <p:sp>
        <p:nvSpPr>
          <p:cNvPr id="15" name="Text 13"/>
          <p:cNvSpPr txBox="1"/>
          <p:nvPr/>
        </p:nvSpPr>
        <p:spPr>
          <a:xfrm>
            <a:off x="731520" y="5943600"/>
            <a:ext cx="10058400" cy="274320"/>
          </a:xfrm>
          <a:prstGeom prst="rect">
            <a:avLst/>
          </a:prstGeom>
          <a:noFill/>
          <a:ln/>
        </p:spPr>
        <p:txBody>
          <a:bodyPr wrap="square" lIns="0" tIns="0" rIns="0" bIns="0" rtlCol="0" anchor="ctr"/>
          <a:lstStyle/>
          <a:p>
            <a:pPr indent="0" marL="0">
              <a:buNone/>
            </a:pPr>
            <a:r>
              <a:rPr lang="en-US" sz="1100" i="1" dirty="0">
                <a:solidFill>
                  <a:srgbClr val="8FA6C0"/>
                </a:solidFill>
                <a:latin typeface="Calibri" pitchFamily="34" charset="0"/>
                <a:ea typeface="Calibri" pitchFamily="34" charset="-122"/>
                <a:cs typeface="Calibri" pitchFamily="34" charset="-120"/>
              </a:rPr>
              <a:t>Every design decision in this deck carries its evidence.  Sources: 4 research threads, ~340 sources.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OVERVIEW</a:t>
            </a:r>
            <a:endParaRPr lang="en-US" sz="1050" dirty="0"/>
          </a:p>
        </p:txBody>
      </p:sp>
      <p:sp>
        <p:nvSpPr>
          <p:cNvPr id="3" name="Text 1"/>
          <p:cNvSpPr txBox="1"/>
          <p:nvPr/>
        </p:nvSpPr>
        <p:spPr>
          <a:xfrm>
            <a:off x="548640" y="512064"/>
            <a:ext cx="11064240" cy="566928"/>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What the product does</a:t>
            </a:r>
            <a:endParaRPr lang="en-US" sz="2800" dirty="0"/>
          </a:p>
        </p:txBody>
      </p:sp>
      <p:sp>
        <p:nvSpPr>
          <p:cNvPr id="4" name="Text 2"/>
          <p:cNvSpPr txBox="1"/>
          <p:nvPr/>
        </p:nvSpPr>
        <p:spPr>
          <a:xfrm>
            <a:off x="548640" y="1234440"/>
            <a:ext cx="11064240" cy="548640"/>
          </a:xfrm>
          <a:prstGeom prst="rect">
            <a:avLst/>
          </a:prstGeom>
          <a:noFill/>
          <a:ln/>
        </p:spPr>
        <p:txBody>
          <a:bodyPr wrap="square" lIns="0" tIns="0" rIns="0" bIns="0" rtlCol="0" anchor="ctr"/>
          <a:lstStyle/>
          <a:p>
            <a:pPr indent="0" marL="0">
              <a:buNone/>
            </a:pPr>
            <a:r>
              <a:rPr lang="en-US" sz="1400" dirty="0">
                <a:solidFill>
                  <a:srgbClr val="1A2733"/>
                </a:solidFill>
                <a:latin typeface="Calibri" pitchFamily="34" charset="0"/>
                <a:ea typeface="Calibri" pitchFamily="34" charset="-122"/>
                <a:cs typeface="Calibri" pitchFamily="34" charset="-120"/>
              </a:rPr>
              <a:t>A small business connects their messaging channels. From then on their customers are handled by an AI agent that is grounded in the business's real data - and a human stays in control of anything that matters.</a:t>
            </a:r>
            <a:endParaRPr lang="en-US" sz="1400" dirty="0"/>
          </a:p>
        </p:txBody>
      </p:sp>
      <p:sp>
        <p:nvSpPr>
          <p:cNvPr id="5" name="Shape 3"/>
          <p:cNvSpPr/>
          <p:nvPr/>
        </p:nvSpPr>
        <p:spPr>
          <a:xfrm>
            <a:off x="548640" y="1965960"/>
            <a:ext cx="2084832" cy="1691640"/>
          </a:xfrm>
          <a:prstGeom prst="roundRect">
            <a:avLst>
              <a:gd name="adj" fmla="val 3784"/>
            </a:avLst>
          </a:prstGeom>
          <a:solidFill>
            <a:srgbClr val="F4F7FA"/>
          </a:solidFill>
          <a:ln w="12700">
            <a:solidFill>
              <a:srgbClr val="C9D6E2"/>
            </a:solidFill>
            <a:prstDash val="solid"/>
          </a:ln>
        </p:spPr>
      </p:sp>
      <p:sp>
        <p:nvSpPr>
          <p:cNvPr id="6" name="Shape 4"/>
          <p:cNvSpPr/>
          <p:nvPr/>
        </p:nvSpPr>
        <p:spPr>
          <a:xfrm>
            <a:off x="713232" y="2121408"/>
            <a:ext cx="347472" cy="347472"/>
          </a:xfrm>
          <a:prstGeom prst="ellipse">
            <a:avLst/>
          </a:prstGeom>
          <a:solidFill>
            <a:srgbClr val="1C7293"/>
          </a:solidFill>
          <a:ln/>
        </p:spPr>
      </p:sp>
      <p:sp>
        <p:nvSpPr>
          <p:cNvPr id="7" name="Text 5"/>
          <p:cNvSpPr txBox="1"/>
          <p:nvPr/>
        </p:nvSpPr>
        <p:spPr>
          <a:xfrm>
            <a:off x="713232" y="2121408"/>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6"/>
          <p:cNvSpPr txBox="1"/>
          <p:nvPr/>
        </p:nvSpPr>
        <p:spPr>
          <a:xfrm>
            <a:off x="713232" y="2560320"/>
            <a:ext cx="1783080" cy="310896"/>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Customer messages</a:t>
            </a:r>
            <a:endParaRPr lang="en-US" sz="1200" dirty="0"/>
          </a:p>
        </p:txBody>
      </p:sp>
      <p:sp>
        <p:nvSpPr>
          <p:cNvPr id="9" name="Text 7"/>
          <p:cNvSpPr txBox="1"/>
          <p:nvPr/>
        </p:nvSpPr>
        <p:spPr>
          <a:xfrm>
            <a:off x="713232" y="2871216"/>
            <a:ext cx="1783080" cy="658368"/>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WhatsApp, Instagram,</a:t>
            </a:r>
            <a:endParaRPr lang="en-US" sz="950" dirty="0"/>
          </a:p>
          <a:p>
            <a:pPr indent="0" marL="0">
              <a:buNone/>
            </a:pPr>
            <a:r>
              <a:rPr lang="en-US" sz="950" dirty="0">
                <a:solidFill>
                  <a:srgbClr val="1A2733"/>
                </a:solidFill>
                <a:latin typeface="Calibri" pitchFamily="34" charset="0"/>
                <a:ea typeface="Calibri" pitchFamily="34" charset="-122"/>
                <a:cs typeface="Calibri" pitchFamily="34" charset="-120"/>
              </a:rPr>
              <a:t>Messenger, web widget</a:t>
            </a:r>
            <a:endParaRPr lang="en-US" sz="950" dirty="0"/>
          </a:p>
        </p:txBody>
      </p:sp>
      <p:sp>
        <p:nvSpPr>
          <p:cNvPr id="10" name="Shape 8"/>
          <p:cNvSpPr/>
          <p:nvPr/>
        </p:nvSpPr>
        <p:spPr>
          <a:xfrm>
            <a:off x="2651760" y="2724912"/>
            <a:ext cx="128016" cy="182880"/>
          </a:xfrm>
          <a:prstGeom prst="rightArrow">
            <a:avLst/>
          </a:prstGeom>
          <a:solidFill>
            <a:srgbClr val="AAB8C4"/>
          </a:solidFill>
          <a:ln/>
        </p:spPr>
      </p:sp>
      <p:sp>
        <p:nvSpPr>
          <p:cNvPr id="11" name="Shape 9"/>
          <p:cNvSpPr/>
          <p:nvPr/>
        </p:nvSpPr>
        <p:spPr>
          <a:xfrm>
            <a:off x="2816352" y="1965960"/>
            <a:ext cx="2084832" cy="1691640"/>
          </a:xfrm>
          <a:prstGeom prst="roundRect">
            <a:avLst>
              <a:gd name="adj" fmla="val 3784"/>
            </a:avLst>
          </a:prstGeom>
          <a:solidFill>
            <a:srgbClr val="F4F7FA"/>
          </a:solidFill>
          <a:ln w="12700">
            <a:solidFill>
              <a:srgbClr val="C9D6E2"/>
            </a:solidFill>
            <a:prstDash val="solid"/>
          </a:ln>
        </p:spPr>
      </p:sp>
      <p:sp>
        <p:nvSpPr>
          <p:cNvPr id="12" name="Shape 10"/>
          <p:cNvSpPr/>
          <p:nvPr/>
        </p:nvSpPr>
        <p:spPr>
          <a:xfrm>
            <a:off x="2980944" y="2121408"/>
            <a:ext cx="347472" cy="347472"/>
          </a:xfrm>
          <a:prstGeom prst="ellipse">
            <a:avLst/>
          </a:prstGeom>
          <a:solidFill>
            <a:srgbClr val="1C7293"/>
          </a:solidFill>
          <a:ln/>
        </p:spPr>
      </p:sp>
      <p:sp>
        <p:nvSpPr>
          <p:cNvPr id="13" name="Text 11"/>
          <p:cNvSpPr txBox="1"/>
          <p:nvPr/>
        </p:nvSpPr>
        <p:spPr>
          <a:xfrm>
            <a:off x="2980944" y="2121408"/>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4" name="Text 12"/>
          <p:cNvSpPr txBox="1"/>
          <p:nvPr/>
        </p:nvSpPr>
        <p:spPr>
          <a:xfrm>
            <a:off x="2980944" y="2560320"/>
            <a:ext cx="1783080" cy="310896"/>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Agent understands</a:t>
            </a:r>
            <a:endParaRPr lang="en-US" sz="1200" dirty="0"/>
          </a:p>
        </p:txBody>
      </p:sp>
      <p:sp>
        <p:nvSpPr>
          <p:cNvPr id="15" name="Text 13"/>
          <p:cNvSpPr txBox="1"/>
          <p:nvPr/>
        </p:nvSpPr>
        <p:spPr>
          <a:xfrm>
            <a:off x="2980944" y="2871216"/>
            <a:ext cx="1783080" cy="658368"/>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Intent, details, what is</a:t>
            </a:r>
            <a:endParaRPr lang="en-US" sz="950" dirty="0"/>
          </a:p>
          <a:p>
            <a:pPr indent="0" marL="0">
              <a:buNone/>
            </a:pPr>
            <a:r>
              <a:rPr lang="en-US" sz="950" dirty="0">
                <a:solidFill>
                  <a:srgbClr val="1A2733"/>
                </a:solidFill>
                <a:latin typeface="Calibri" pitchFamily="34" charset="0"/>
                <a:ea typeface="Calibri" pitchFamily="34" charset="-122"/>
                <a:cs typeface="Calibri" pitchFamily="34" charset="-120"/>
              </a:rPr>
              <a:t>still missing</a:t>
            </a:r>
            <a:endParaRPr lang="en-US" sz="950" dirty="0"/>
          </a:p>
        </p:txBody>
      </p:sp>
      <p:sp>
        <p:nvSpPr>
          <p:cNvPr id="16" name="Shape 14"/>
          <p:cNvSpPr/>
          <p:nvPr/>
        </p:nvSpPr>
        <p:spPr>
          <a:xfrm>
            <a:off x="4919472" y="2724912"/>
            <a:ext cx="128016" cy="182880"/>
          </a:xfrm>
          <a:prstGeom prst="rightArrow">
            <a:avLst/>
          </a:prstGeom>
          <a:solidFill>
            <a:srgbClr val="AAB8C4"/>
          </a:solidFill>
          <a:ln/>
        </p:spPr>
      </p:sp>
      <p:sp>
        <p:nvSpPr>
          <p:cNvPr id="17" name="Shape 15"/>
          <p:cNvSpPr/>
          <p:nvPr/>
        </p:nvSpPr>
        <p:spPr>
          <a:xfrm>
            <a:off x="5084064" y="1965960"/>
            <a:ext cx="2084832" cy="1691640"/>
          </a:xfrm>
          <a:prstGeom prst="roundRect">
            <a:avLst>
              <a:gd name="adj" fmla="val 3784"/>
            </a:avLst>
          </a:prstGeom>
          <a:solidFill>
            <a:srgbClr val="F4F7FA"/>
          </a:solidFill>
          <a:ln w="12700">
            <a:solidFill>
              <a:srgbClr val="C9D6E2"/>
            </a:solidFill>
            <a:prstDash val="solid"/>
          </a:ln>
        </p:spPr>
      </p:sp>
      <p:sp>
        <p:nvSpPr>
          <p:cNvPr id="18" name="Shape 16"/>
          <p:cNvSpPr/>
          <p:nvPr/>
        </p:nvSpPr>
        <p:spPr>
          <a:xfrm>
            <a:off x="5248656" y="2121408"/>
            <a:ext cx="347472" cy="347472"/>
          </a:xfrm>
          <a:prstGeom prst="ellipse">
            <a:avLst/>
          </a:prstGeom>
          <a:solidFill>
            <a:srgbClr val="F2A104"/>
          </a:solidFill>
          <a:ln/>
        </p:spPr>
      </p:sp>
      <p:sp>
        <p:nvSpPr>
          <p:cNvPr id="19" name="Text 17"/>
          <p:cNvSpPr txBox="1"/>
          <p:nvPr/>
        </p:nvSpPr>
        <p:spPr>
          <a:xfrm>
            <a:off x="5248656" y="2121408"/>
            <a:ext cx="347472" cy="347472"/>
          </a:xfrm>
          <a:prstGeom prst="rect">
            <a:avLst/>
          </a:prstGeom>
          <a:noFill/>
          <a:ln/>
        </p:spPr>
        <p:txBody>
          <a:bodyPr wrap="square" lIns="0" tIns="0" rIns="0" bIns="0" rtlCol="0" anchor="ctr"/>
          <a:lstStyle/>
          <a:p>
            <a:pPr algn="ctr" indent="0" marL="0">
              <a:buNone/>
            </a:pPr>
            <a:r>
              <a:rPr lang="en-US" sz="1000" b="1" dirty="0">
                <a:solidFill>
                  <a:srgbClr val="1A2733"/>
                </a:solidFill>
                <a:latin typeface="Calibri" pitchFamily="34" charset="0"/>
                <a:ea typeface="Calibri" pitchFamily="34" charset="-122"/>
                <a:cs typeface="Calibri" pitchFamily="34" charset="-120"/>
              </a:rPr>
              <a:t>3</a:t>
            </a:r>
            <a:endParaRPr lang="en-US" sz="1000" dirty="0"/>
          </a:p>
        </p:txBody>
      </p:sp>
      <p:sp>
        <p:nvSpPr>
          <p:cNvPr id="20" name="Text 18"/>
          <p:cNvSpPr txBox="1"/>
          <p:nvPr/>
        </p:nvSpPr>
        <p:spPr>
          <a:xfrm>
            <a:off x="5248656" y="2560320"/>
            <a:ext cx="1783080" cy="310896"/>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System checks reality</a:t>
            </a:r>
            <a:endParaRPr lang="en-US" sz="1200" dirty="0"/>
          </a:p>
        </p:txBody>
      </p:sp>
      <p:sp>
        <p:nvSpPr>
          <p:cNvPr id="21" name="Text 19"/>
          <p:cNvSpPr txBox="1"/>
          <p:nvPr/>
        </p:nvSpPr>
        <p:spPr>
          <a:xfrm>
            <a:off x="5248656" y="2871216"/>
            <a:ext cx="1783080" cy="658368"/>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Parts, crew, area, stock -</a:t>
            </a:r>
            <a:endParaRPr lang="en-US" sz="950" dirty="0"/>
          </a:p>
          <a:p>
            <a:pPr indent="0" marL="0">
              <a:buNone/>
            </a:pPr>
            <a:r>
              <a:rPr lang="en-US" sz="950" dirty="0">
                <a:solidFill>
                  <a:srgbClr val="1A2733"/>
                </a:solidFill>
                <a:latin typeface="Calibri" pitchFamily="34" charset="0"/>
                <a:ea typeface="Calibri" pitchFamily="34" charset="-122"/>
                <a:cs typeface="Calibri" pitchFamily="34" charset="-120"/>
              </a:rPr>
              <a:t>not a guess</a:t>
            </a:r>
            <a:endParaRPr lang="en-US" sz="950" dirty="0"/>
          </a:p>
        </p:txBody>
      </p:sp>
      <p:sp>
        <p:nvSpPr>
          <p:cNvPr id="22" name="Shape 20"/>
          <p:cNvSpPr/>
          <p:nvPr/>
        </p:nvSpPr>
        <p:spPr>
          <a:xfrm>
            <a:off x="7187184" y="2724912"/>
            <a:ext cx="128016" cy="182880"/>
          </a:xfrm>
          <a:prstGeom prst="rightArrow">
            <a:avLst/>
          </a:prstGeom>
          <a:solidFill>
            <a:srgbClr val="AAB8C4"/>
          </a:solidFill>
          <a:ln/>
        </p:spPr>
      </p:sp>
      <p:sp>
        <p:nvSpPr>
          <p:cNvPr id="23" name="Shape 21"/>
          <p:cNvSpPr/>
          <p:nvPr/>
        </p:nvSpPr>
        <p:spPr>
          <a:xfrm>
            <a:off x="7351776" y="1965960"/>
            <a:ext cx="2084832" cy="1691640"/>
          </a:xfrm>
          <a:prstGeom prst="roundRect">
            <a:avLst>
              <a:gd name="adj" fmla="val 3784"/>
            </a:avLst>
          </a:prstGeom>
          <a:solidFill>
            <a:srgbClr val="F4F7FA"/>
          </a:solidFill>
          <a:ln w="12700">
            <a:solidFill>
              <a:srgbClr val="C9D6E2"/>
            </a:solidFill>
            <a:prstDash val="solid"/>
          </a:ln>
        </p:spPr>
      </p:sp>
      <p:sp>
        <p:nvSpPr>
          <p:cNvPr id="24" name="Shape 22"/>
          <p:cNvSpPr/>
          <p:nvPr/>
        </p:nvSpPr>
        <p:spPr>
          <a:xfrm>
            <a:off x="7516368" y="2121408"/>
            <a:ext cx="347472" cy="347472"/>
          </a:xfrm>
          <a:prstGeom prst="ellipse">
            <a:avLst/>
          </a:prstGeom>
          <a:solidFill>
            <a:srgbClr val="F2A104"/>
          </a:solidFill>
          <a:ln/>
        </p:spPr>
      </p:sp>
      <p:sp>
        <p:nvSpPr>
          <p:cNvPr id="25" name="Text 23"/>
          <p:cNvSpPr txBox="1"/>
          <p:nvPr/>
        </p:nvSpPr>
        <p:spPr>
          <a:xfrm>
            <a:off x="7516368" y="2121408"/>
            <a:ext cx="347472" cy="347472"/>
          </a:xfrm>
          <a:prstGeom prst="rect">
            <a:avLst/>
          </a:prstGeom>
          <a:noFill/>
          <a:ln/>
        </p:spPr>
        <p:txBody>
          <a:bodyPr wrap="square" lIns="0" tIns="0" rIns="0" bIns="0" rtlCol="0" anchor="ctr"/>
          <a:lstStyle/>
          <a:p>
            <a:pPr algn="ctr" indent="0" marL="0">
              <a:buNone/>
            </a:pPr>
            <a:r>
              <a:rPr lang="en-US" sz="1000" b="1" dirty="0">
                <a:solidFill>
                  <a:srgbClr val="1A2733"/>
                </a:solidFill>
                <a:latin typeface="Calibri" pitchFamily="34" charset="0"/>
                <a:ea typeface="Calibri" pitchFamily="34" charset="-122"/>
                <a:cs typeface="Calibri" pitchFamily="34" charset="-120"/>
              </a:rPr>
              <a:t>4</a:t>
            </a:r>
            <a:endParaRPr lang="en-US" sz="1000" dirty="0"/>
          </a:p>
        </p:txBody>
      </p:sp>
      <p:sp>
        <p:nvSpPr>
          <p:cNvPr id="26" name="Text 24"/>
          <p:cNvSpPr txBox="1"/>
          <p:nvPr/>
        </p:nvSpPr>
        <p:spPr>
          <a:xfrm>
            <a:off x="7516368" y="2560320"/>
            <a:ext cx="1783080" cy="310896"/>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Owner approves</a:t>
            </a:r>
            <a:endParaRPr lang="en-US" sz="1200" dirty="0"/>
          </a:p>
        </p:txBody>
      </p:sp>
      <p:sp>
        <p:nvSpPr>
          <p:cNvPr id="27" name="Text 25"/>
          <p:cNvSpPr txBox="1"/>
          <p:nvPr/>
        </p:nvSpPr>
        <p:spPr>
          <a:xfrm>
            <a:off x="7516368" y="2871216"/>
            <a:ext cx="1783080" cy="658368"/>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Nothing reaches a customer</a:t>
            </a:r>
            <a:endParaRPr lang="en-US" sz="950" dirty="0"/>
          </a:p>
          <a:p>
            <a:pPr indent="0" marL="0">
              <a:buNone/>
            </a:pPr>
            <a:r>
              <a:rPr lang="en-US" sz="950" dirty="0">
                <a:solidFill>
                  <a:srgbClr val="1A2733"/>
                </a:solidFill>
                <a:latin typeface="Calibri" pitchFamily="34" charset="0"/>
                <a:ea typeface="Calibri" pitchFamily="34" charset="-122"/>
                <a:cs typeface="Calibri" pitchFamily="34" charset="-120"/>
              </a:rPr>
              <a:t>unapproved</a:t>
            </a:r>
            <a:endParaRPr lang="en-US" sz="950" dirty="0"/>
          </a:p>
        </p:txBody>
      </p:sp>
      <p:sp>
        <p:nvSpPr>
          <p:cNvPr id="28" name="Shape 26"/>
          <p:cNvSpPr/>
          <p:nvPr/>
        </p:nvSpPr>
        <p:spPr>
          <a:xfrm>
            <a:off x="9454896" y="2724912"/>
            <a:ext cx="128016" cy="182880"/>
          </a:xfrm>
          <a:prstGeom prst="rightArrow">
            <a:avLst/>
          </a:prstGeom>
          <a:solidFill>
            <a:srgbClr val="AAB8C4"/>
          </a:solidFill>
          <a:ln/>
        </p:spPr>
      </p:sp>
      <p:sp>
        <p:nvSpPr>
          <p:cNvPr id="29" name="Shape 27"/>
          <p:cNvSpPr/>
          <p:nvPr/>
        </p:nvSpPr>
        <p:spPr>
          <a:xfrm>
            <a:off x="9619488" y="1965960"/>
            <a:ext cx="2084832" cy="1691640"/>
          </a:xfrm>
          <a:prstGeom prst="roundRect">
            <a:avLst>
              <a:gd name="adj" fmla="val 3784"/>
            </a:avLst>
          </a:prstGeom>
          <a:solidFill>
            <a:srgbClr val="F4F7FA"/>
          </a:solidFill>
          <a:ln w="12700">
            <a:solidFill>
              <a:srgbClr val="C9D6E2"/>
            </a:solidFill>
            <a:prstDash val="solid"/>
          </a:ln>
        </p:spPr>
      </p:sp>
      <p:sp>
        <p:nvSpPr>
          <p:cNvPr id="30" name="Shape 28"/>
          <p:cNvSpPr/>
          <p:nvPr/>
        </p:nvSpPr>
        <p:spPr>
          <a:xfrm>
            <a:off x="9784080" y="2121408"/>
            <a:ext cx="347472" cy="347472"/>
          </a:xfrm>
          <a:prstGeom prst="ellipse">
            <a:avLst/>
          </a:prstGeom>
          <a:solidFill>
            <a:srgbClr val="065A82"/>
          </a:solidFill>
          <a:ln/>
        </p:spPr>
      </p:sp>
      <p:sp>
        <p:nvSpPr>
          <p:cNvPr id="31" name="Text 29"/>
          <p:cNvSpPr txBox="1"/>
          <p:nvPr/>
        </p:nvSpPr>
        <p:spPr>
          <a:xfrm>
            <a:off x="9784080" y="2121408"/>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2" name="Text 30"/>
          <p:cNvSpPr txBox="1"/>
          <p:nvPr/>
        </p:nvSpPr>
        <p:spPr>
          <a:xfrm>
            <a:off x="9784080" y="2560320"/>
            <a:ext cx="1783080" cy="310896"/>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Loop closes</a:t>
            </a:r>
            <a:endParaRPr lang="en-US" sz="1200" dirty="0"/>
          </a:p>
        </p:txBody>
      </p:sp>
      <p:sp>
        <p:nvSpPr>
          <p:cNvPr id="33" name="Text 31"/>
          <p:cNvSpPr txBox="1"/>
          <p:nvPr/>
        </p:nvSpPr>
        <p:spPr>
          <a:xfrm>
            <a:off x="9784080" y="2871216"/>
            <a:ext cx="1783080" cy="658368"/>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Rating, ticket, repeat</a:t>
            </a:r>
            <a:endParaRPr lang="en-US" sz="950" dirty="0"/>
          </a:p>
          <a:p>
            <a:pPr indent="0" marL="0">
              <a:buNone/>
            </a:pPr>
            <a:r>
              <a:rPr lang="en-US" sz="950" dirty="0">
                <a:solidFill>
                  <a:srgbClr val="1A2733"/>
                </a:solidFill>
                <a:latin typeface="Calibri" pitchFamily="34" charset="0"/>
                <a:ea typeface="Calibri" pitchFamily="34" charset="-122"/>
                <a:cs typeface="Calibri" pitchFamily="34" charset="-120"/>
              </a:rPr>
              <a:t>business</a:t>
            </a:r>
            <a:endParaRPr lang="en-US" sz="950" dirty="0"/>
          </a:p>
        </p:txBody>
      </p:sp>
      <p:sp>
        <p:nvSpPr>
          <p:cNvPr id="34" name="Text 32"/>
          <p:cNvSpPr txBox="1"/>
          <p:nvPr/>
        </p:nvSpPr>
        <p:spPr>
          <a:xfrm>
            <a:off x="548640" y="3931920"/>
            <a:ext cx="11064240" cy="256032"/>
          </a:xfrm>
          <a:prstGeom prst="rect">
            <a:avLst/>
          </a:prstGeom>
          <a:noFill/>
          <a:ln/>
        </p:spPr>
        <p:txBody>
          <a:bodyPr wrap="square" lIns="0" tIns="0" rIns="0" bIns="0" rtlCol="0" anchor="ctr"/>
          <a:lstStyle/>
          <a:p>
            <a:pPr indent="0" marL="0">
              <a:buNone/>
            </a:pPr>
            <a:r>
              <a:rPr lang="en-US" sz="1050" b="1" spc="150" kern="0" dirty="0">
                <a:solidFill>
                  <a:srgbClr val="1C7293"/>
                </a:solidFill>
                <a:latin typeface="Calibri" pitchFamily="34" charset="0"/>
                <a:ea typeface="Calibri" pitchFamily="34" charset="-122"/>
                <a:cs typeface="Calibri" pitchFamily="34" charset="-120"/>
              </a:rPr>
              <a:t>TWO KINDS OF BUSINESS, ONE SYSTEM</a:t>
            </a:r>
            <a:endParaRPr lang="en-US" sz="1050" dirty="0"/>
          </a:p>
        </p:txBody>
      </p:sp>
      <p:sp>
        <p:nvSpPr>
          <p:cNvPr id="35" name="Shape 33"/>
          <p:cNvSpPr/>
          <p:nvPr/>
        </p:nvSpPr>
        <p:spPr>
          <a:xfrm>
            <a:off x="548640" y="4251960"/>
            <a:ext cx="5394960" cy="1600200"/>
          </a:xfrm>
          <a:prstGeom prst="roundRect">
            <a:avLst>
              <a:gd name="adj" fmla="val 4000"/>
            </a:avLst>
          </a:prstGeom>
          <a:solidFill>
            <a:srgbClr val="F4F7FA"/>
          </a:solidFill>
          <a:ln w="12700">
            <a:solidFill>
              <a:srgbClr val="2E8B57"/>
            </a:solidFill>
            <a:prstDash val="solid"/>
          </a:ln>
        </p:spPr>
      </p:sp>
      <p:sp>
        <p:nvSpPr>
          <p:cNvPr id="36" name="Text 34"/>
          <p:cNvSpPr txBox="1"/>
          <p:nvPr/>
        </p:nvSpPr>
        <p:spPr>
          <a:xfrm>
            <a:off x="777240" y="4389120"/>
            <a:ext cx="3657600" cy="256032"/>
          </a:xfrm>
          <a:prstGeom prst="rect">
            <a:avLst/>
          </a:prstGeom>
          <a:noFill/>
          <a:ln/>
        </p:spPr>
        <p:txBody>
          <a:bodyPr wrap="square" lIns="0" tIns="0" rIns="0" bIns="0" rtlCol="0" anchor="ctr"/>
          <a:lstStyle/>
          <a:p>
            <a:pPr indent="0" marL="0">
              <a:buNone/>
            </a:pPr>
            <a:r>
              <a:rPr lang="en-US" sz="1100" b="1" dirty="0">
                <a:solidFill>
                  <a:srgbClr val="2E8B57"/>
                </a:solidFill>
                <a:latin typeface="Calibri" pitchFamily="34" charset="0"/>
                <a:ea typeface="Calibri" pitchFamily="34" charset="-122"/>
                <a:cs typeface="Calibri" pitchFamily="34" charset="-120"/>
              </a:rPr>
              <a:t>SERVICE BUSINESS</a:t>
            </a:r>
            <a:endParaRPr lang="en-US" sz="1100" dirty="0"/>
          </a:p>
        </p:txBody>
      </p:sp>
      <p:sp>
        <p:nvSpPr>
          <p:cNvPr id="37" name="Text 35"/>
          <p:cNvSpPr txBox="1"/>
          <p:nvPr/>
        </p:nvSpPr>
        <p:spPr>
          <a:xfrm>
            <a:off x="777240" y="4681728"/>
            <a:ext cx="4937760" cy="1051560"/>
          </a:xfrm>
          <a:prstGeom prst="rect">
            <a:avLst/>
          </a:prstGeom>
          <a:noFill/>
          <a:ln/>
        </p:spPr>
        <p:txBody>
          <a:bodyPr wrap="square" lIns="0" tIns="0" rIns="0" bIns="0" rtlCol="0" anchor="ctr"/>
          <a:lstStyle/>
          <a:p>
            <a:pPr indent="0" marL="0">
              <a:buNone/>
            </a:pPr>
            <a:r>
              <a:rPr lang="en-US" sz="1100" dirty="0">
                <a:solidFill>
                  <a:srgbClr val="1A2733"/>
                </a:solidFill>
                <a:latin typeface="Calibri" pitchFamily="34" charset="0"/>
                <a:ea typeface="Calibri" pitchFamily="34" charset="-122"/>
                <a:cs typeface="Calibri" pitchFamily="34" charset="-120"/>
              </a:rPr>
              <a:t>Pest control, cleaning, removals.</a:t>
            </a:r>
            <a:endParaRPr lang="en-US" sz="1100" dirty="0"/>
          </a:p>
          <a:p>
            <a:pPr indent="0" marL="0">
              <a:buNone/>
            </a:pPr>
            <a:r>
              <a:rPr lang="en-US" sz="1100" dirty="0">
                <a:solidFill>
                  <a:srgbClr val="1A2733"/>
                </a:solidFill>
                <a:latin typeface="Calibri" pitchFamily="34" charset="0"/>
                <a:ea typeface="Calibri" pitchFamily="34" charset="-122"/>
                <a:cs typeface="Calibri" pitchFamily="34" charset="-120"/>
              </a:rPr>
              <a:t>The agent qualifies the job, checks the business can do it, prices it from their rate card, and the owner approves before it is sent.</a:t>
            </a:r>
            <a:endParaRPr lang="en-US" sz="1100" dirty="0"/>
          </a:p>
        </p:txBody>
      </p:sp>
      <p:sp>
        <p:nvSpPr>
          <p:cNvPr id="38" name="Shape 36"/>
          <p:cNvSpPr/>
          <p:nvPr/>
        </p:nvSpPr>
        <p:spPr>
          <a:xfrm>
            <a:off x="6217920" y="4251960"/>
            <a:ext cx="5394960" cy="1600200"/>
          </a:xfrm>
          <a:prstGeom prst="roundRect">
            <a:avLst>
              <a:gd name="adj" fmla="val 4000"/>
            </a:avLst>
          </a:prstGeom>
          <a:solidFill>
            <a:srgbClr val="FFFFFF"/>
          </a:solidFill>
          <a:ln w="12700">
            <a:solidFill>
              <a:srgbClr val="DCE5EE"/>
            </a:solidFill>
            <a:prstDash val="solid"/>
          </a:ln>
        </p:spPr>
      </p:sp>
      <p:sp>
        <p:nvSpPr>
          <p:cNvPr id="39" name="Text 37"/>
          <p:cNvSpPr txBox="1"/>
          <p:nvPr/>
        </p:nvSpPr>
        <p:spPr>
          <a:xfrm>
            <a:off x="6446520" y="4389120"/>
            <a:ext cx="3657600" cy="256032"/>
          </a:xfrm>
          <a:prstGeom prst="rect">
            <a:avLst/>
          </a:prstGeom>
          <a:noFill/>
          <a:ln/>
        </p:spPr>
        <p:txBody>
          <a:bodyPr wrap="square" lIns="0" tIns="0" rIns="0" bIns="0" rtlCol="0" anchor="ctr"/>
          <a:lstStyle/>
          <a:p>
            <a:pPr indent="0" marL="0">
              <a:buNone/>
            </a:pPr>
            <a:r>
              <a:rPr lang="en-US" sz="1100" b="1" dirty="0">
                <a:solidFill>
                  <a:srgbClr val="5A6B7B"/>
                </a:solidFill>
                <a:latin typeface="Calibri" pitchFamily="34" charset="0"/>
                <a:ea typeface="Calibri" pitchFamily="34" charset="-122"/>
                <a:cs typeface="Calibri" pitchFamily="34" charset="-120"/>
              </a:rPr>
              <a:t>PRODUCT BUSINESS</a:t>
            </a:r>
            <a:endParaRPr lang="en-US" sz="1100" dirty="0"/>
          </a:p>
        </p:txBody>
      </p:sp>
      <p:sp>
        <p:nvSpPr>
          <p:cNvPr id="40" name="Text 38"/>
          <p:cNvSpPr txBox="1"/>
          <p:nvPr/>
        </p:nvSpPr>
        <p:spPr>
          <a:xfrm>
            <a:off x="6446520" y="4681728"/>
            <a:ext cx="4937760" cy="1051560"/>
          </a:xfrm>
          <a:prstGeom prst="rect">
            <a:avLst/>
          </a:prstGeom>
          <a:noFill/>
          <a:ln/>
        </p:spPr>
        <p:txBody>
          <a:bodyPr wrap="square" lIns="0" tIns="0" rIns="0" bIns="0" rtlCol="0" anchor="ctr"/>
          <a:lstStyle/>
          <a:p>
            <a:pPr indent="0" marL="0">
              <a:buNone/>
            </a:pPr>
            <a:r>
              <a:rPr lang="en-US" sz="1100" dirty="0">
                <a:solidFill>
                  <a:srgbClr val="1A2733"/>
                </a:solidFill>
                <a:latin typeface="Calibri" pitchFamily="34" charset="0"/>
                <a:ea typeface="Calibri" pitchFamily="34" charset="-122"/>
                <a:cs typeface="Calibri" pitchFamily="34" charset="-120"/>
              </a:rPr>
              <a:t>Online and offline retail.</a:t>
            </a:r>
            <a:endParaRPr lang="en-US" sz="1100" dirty="0"/>
          </a:p>
          <a:p>
            <a:pPr indent="0" marL="0">
              <a:buNone/>
            </a:pPr>
            <a:r>
              <a:rPr lang="en-US" sz="1100" dirty="0">
                <a:solidFill>
                  <a:srgbClr val="1A2733"/>
                </a:solidFill>
                <a:latin typeface="Calibri" pitchFamily="34" charset="0"/>
                <a:ea typeface="Calibri" pitchFamily="34" charset="-122"/>
                <a:cs typeface="Calibri" pitchFamily="34" charset="-120"/>
              </a:rPr>
              <a:t>The agent searches their real catalogue, checks live stock, builds a cart, places orders and handles delivery, cancellation and refunds.</a:t>
            </a:r>
            <a:endParaRPr lang="en-US" sz="1100" dirty="0"/>
          </a:p>
        </p:txBody>
      </p:sp>
      <p:sp>
        <p:nvSpPr>
          <p:cNvPr id="41" name="Shape 39"/>
          <p:cNvSpPr/>
          <p:nvPr/>
        </p:nvSpPr>
        <p:spPr>
          <a:xfrm>
            <a:off x="548640" y="6053328"/>
            <a:ext cx="11064240" cy="566928"/>
          </a:xfrm>
          <a:prstGeom prst="roundRect">
            <a:avLst>
              <a:gd name="adj" fmla="val 11290"/>
            </a:avLst>
          </a:prstGeom>
          <a:solidFill>
            <a:srgbClr val="F4F7FA"/>
          </a:solidFill>
          <a:ln w="12700">
            <a:solidFill>
              <a:srgbClr val="DCE5EE"/>
            </a:solidFill>
            <a:prstDash val="solid"/>
          </a:ln>
        </p:spPr>
      </p:sp>
      <p:sp>
        <p:nvSpPr>
          <p:cNvPr id="42" name="Text 40"/>
          <p:cNvSpPr txBox="1"/>
          <p:nvPr/>
        </p:nvSpPr>
        <p:spPr>
          <a:xfrm>
            <a:off x="777240" y="6053328"/>
            <a:ext cx="10607040" cy="566928"/>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WHY SERVICE FIRST:  nothing in 20 products examined checks parts, crew and area before quoting (confirmed by absence, two independent threads).  Product mode's common case became free in June 2026 when Meta shipped an agent inside WhatsApp.</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ARCHITECTURE</a:t>
            </a:r>
            <a:endParaRPr lang="en-US" sz="1050" dirty="0"/>
          </a:p>
        </p:txBody>
      </p:sp>
      <p:sp>
        <p:nvSpPr>
          <p:cNvPr id="3" name="Text 1"/>
          <p:cNvSpPr txBox="1"/>
          <p:nvPr/>
        </p:nvSpPr>
        <p:spPr>
          <a:xfrm>
            <a:off x="548640" y="512064"/>
            <a:ext cx="11064240" cy="566928"/>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System architecture</a:t>
            </a:r>
            <a:endParaRPr lang="en-US" sz="2800" dirty="0"/>
          </a:p>
        </p:txBody>
      </p:sp>
      <p:sp>
        <p:nvSpPr>
          <p:cNvPr id="4" name="Shape 2"/>
          <p:cNvSpPr/>
          <p:nvPr/>
        </p:nvSpPr>
        <p:spPr>
          <a:xfrm>
            <a:off x="548640" y="1188720"/>
            <a:ext cx="2194560" cy="438912"/>
          </a:xfrm>
          <a:prstGeom prst="roundRect">
            <a:avLst>
              <a:gd name="adj" fmla="val 14583"/>
            </a:avLst>
          </a:prstGeom>
          <a:solidFill>
            <a:srgbClr val="065A82"/>
          </a:solidFill>
          <a:ln/>
        </p:spPr>
      </p:sp>
      <p:sp>
        <p:nvSpPr>
          <p:cNvPr id="5" name="Text 3"/>
          <p:cNvSpPr txBox="1"/>
          <p:nvPr/>
        </p:nvSpPr>
        <p:spPr>
          <a:xfrm>
            <a:off x="548640" y="1188720"/>
            <a:ext cx="219456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Customer</a:t>
            </a:r>
            <a:endParaRPr lang="en-US" sz="1100" dirty="0"/>
          </a:p>
        </p:txBody>
      </p:sp>
      <p:sp>
        <p:nvSpPr>
          <p:cNvPr id="6" name="Shape 4"/>
          <p:cNvSpPr/>
          <p:nvPr/>
        </p:nvSpPr>
        <p:spPr>
          <a:xfrm>
            <a:off x="2926080" y="1188720"/>
            <a:ext cx="2194560" cy="438912"/>
          </a:xfrm>
          <a:prstGeom prst="roundRect">
            <a:avLst>
              <a:gd name="adj" fmla="val 14583"/>
            </a:avLst>
          </a:prstGeom>
          <a:solidFill>
            <a:srgbClr val="065A82"/>
          </a:solidFill>
          <a:ln/>
        </p:spPr>
      </p:sp>
      <p:sp>
        <p:nvSpPr>
          <p:cNvPr id="7" name="Text 5"/>
          <p:cNvSpPr txBox="1"/>
          <p:nvPr/>
        </p:nvSpPr>
        <p:spPr>
          <a:xfrm>
            <a:off x="2926080" y="1188720"/>
            <a:ext cx="219456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Business owner</a:t>
            </a:r>
            <a:endParaRPr lang="en-US" sz="1100" dirty="0"/>
          </a:p>
        </p:txBody>
      </p:sp>
      <p:sp>
        <p:nvSpPr>
          <p:cNvPr id="8" name="Shape 6"/>
          <p:cNvSpPr/>
          <p:nvPr/>
        </p:nvSpPr>
        <p:spPr>
          <a:xfrm>
            <a:off x="5303520" y="1188720"/>
            <a:ext cx="2194560" cy="438912"/>
          </a:xfrm>
          <a:prstGeom prst="roundRect">
            <a:avLst>
              <a:gd name="adj" fmla="val 14583"/>
            </a:avLst>
          </a:prstGeom>
          <a:solidFill>
            <a:srgbClr val="065A82"/>
          </a:solidFill>
          <a:ln/>
        </p:spPr>
      </p:sp>
      <p:sp>
        <p:nvSpPr>
          <p:cNvPr id="9" name="Text 7"/>
          <p:cNvSpPr txBox="1"/>
          <p:nvPr/>
        </p:nvSpPr>
        <p:spPr>
          <a:xfrm>
            <a:off x="5303520" y="1188720"/>
            <a:ext cx="219456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Staff</a:t>
            </a:r>
            <a:endParaRPr lang="en-US" sz="1100" dirty="0"/>
          </a:p>
        </p:txBody>
      </p:sp>
      <p:sp>
        <p:nvSpPr>
          <p:cNvPr id="10" name="Shape 8"/>
          <p:cNvSpPr/>
          <p:nvPr/>
        </p:nvSpPr>
        <p:spPr>
          <a:xfrm>
            <a:off x="548640" y="1828800"/>
            <a:ext cx="11064240" cy="841248"/>
          </a:xfrm>
          <a:prstGeom prst="roundRect">
            <a:avLst>
              <a:gd name="adj" fmla="val 7609"/>
            </a:avLst>
          </a:prstGeom>
          <a:solidFill>
            <a:srgbClr val="F4F7FA"/>
          </a:solidFill>
          <a:ln w="12700">
            <a:solidFill>
              <a:srgbClr val="C9D6E2"/>
            </a:solidFill>
            <a:prstDash val="solid"/>
          </a:ln>
        </p:spPr>
      </p:sp>
      <p:sp>
        <p:nvSpPr>
          <p:cNvPr id="11" name="Text 9"/>
          <p:cNvSpPr txBox="1"/>
          <p:nvPr/>
        </p:nvSpPr>
        <p:spPr>
          <a:xfrm>
            <a:off x="731520" y="1901952"/>
            <a:ext cx="914400" cy="201168"/>
          </a:xfrm>
          <a:prstGeom prst="rect">
            <a:avLst/>
          </a:prstGeom>
          <a:noFill/>
          <a:ln/>
        </p:spPr>
        <p:txBody>
          <a:bodyPr wrap="square" lIns="0" tIns="0" rIns="0" bIns="0" rtlCol="0" anchor="ctr"/>
          <a:lstStyle/>
          <a:p>
            <a:pPr indent="0" marL="0">
              <a:buNone/>
            </a:pPr>
            <a:r>
              <a:rPr lang="en-US" sz="900" b="1" spc="100" kern="0" dirty="0">
                <a:solidFill>
                  <a:srgbClr val="5A6B7B"/>
                </a:solidFill>
                <a:latin typeface="Calibri" pitchFamily="34" charset="0"/>
                <a:ea typeface="Calibri" pitchFamily="34" charset="-122"/>
                <a:cs typeface="Calibri" pitchFamily="34" charset="-120"/>
              </a:rPr>
              <a:t>EDGE</a:t>
            </a:r>
            <a:endParaRPr lang="en-US" sz="900" dirty="0"/>
          </a:p>
        </p:txBody>
      </p:sp>
      <p:sp>
        <p:nvSpPr>
          <p:cNvPr id="12" name="Shape 10"/>
          <p:cNvSpPr/>
          <p:nvPr/>
        </p:nvSpPr>
        <p:spPr>
          <a:xfrm>
            <a:off x="777240" y="2121408"/>
            <a:ext cx="3108960" cy="438912"/>
          </a:xfrm>
          <a:prstGeom prst="roundRect">
            <a:avLst>
              <a:gd name="adj" fmla="val 14583"/>
            </a:avLst>
          </a:prstGeom>
          <a:solidFill>
            <a:srgbClr val="1C7293"/>
          </a:solidFill>
          <a:ln/>
        </p:spPr>
      </p:sp>
      <p:sp>
        <p:nvSpPr>
          <p:cNvPr id="13" name="Text 11"/>
          <p:cNvSpPr txBox="1"/>
          <p:nvPr/>
        </p:nvSpPr>
        <p:spPr>
          <a:xfrm>
            <a:off x="777240" y="2121408"/>
            <a:ext cx="31089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Channel webhooks   verify · persist · enqueue · 200</a:t>
            </a:r>
            <a:endParaRPr lang="en-US" sz="950" dirty="0"/>
          </a:p>
        </p:txBody>
      </p:sp>
      <p:sp>
        <p:nvSpPr>
          <p:cNvPr id="14" name="Shape 12"/>
          <p:cNvSpPr/>
          <p:nvPr/>
        </p:nvSpPr>
        <p:spPr>
          <a:xfrm>
            <a:off x="4069080" y="2121408"/>
            <a:ext cx="3108960" cy="438912"/>
          </a:xfrm>
          <a:prstGeom prst="roundRect">
            <a:avLst>
              <a:gd name="adj" fmla="val 14583"/>
            </a:avLst>
          </a:prstGeom>
          <a:solidFill>
            <a:srgbClr val="1C7293"/>
          </a:solidFill>
          <a:ln/>
        </p:spPr>
      </p:sp>
      <p:sp>
        <p:nvSpPr>
          <p:cNvPr id="15" name="Text 13"/>
          <p:cNvSpPr txBox="1"/>
          <p:nvPr/>
        </p:nvSpPr>
        <p:spPr>
          <a:xfrm>
            <a:off x="4069080" y="2121408"/>
            <a:ext cx="31089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REST API   FastAPI</a:t>
            </a:r>
            <a:endParaRPr lang="en-US" sz="950" dirty="0"/>
          </a:p>
        </p:txBody>
      </p:sp>
      <p:sp>
        <p:nvSpPr>
          <p:cNvPr id="16" name="Shape 14"/>
          <p:cNvSpPr/>
          <p:nvPr/>
        </p:nvSpPr>
        <p:spPr>
          <a:xfrm>
            <a:off x="7360920" y="2121408"/>
            <a:ext cx="4023360" cy="438912"/>
          </a:xfrm>
          <a:prstGeom prst="roundRect">
            <a:avLst>
              <a:gd name="adj" fmla="val 14583"/>
            </a:avLst>
          </a:prstGeom>
          <a:solidFill>
            <a:srgbClr val="1C7293"/>
          </a:solidFill>
          <a:ln/>
        </p:spPr>
      </p:sp>
      <p:sp>
        <p:nvSpPr>
          <p:cNvPr id="17" name="Text 15"/>
          <p:cNvSpPr txBox="1"/>
          <p:nvPr/>
        </p:nvSpPr>
        <p:spPr>
          <a:xfrm>
            <a:off x="7360920" y="2121408"/>
            <a:ext cx="40233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Dashboard   Next.js on Vercel</a:t>
            </a:r>
            <a:endParaRPr lang="en-US" sz="950" dirty="0"/>
          </a:p>
        </p:txBody>
      </p:sp>
      <p:sp>
        <p:nvSpPr>
          <p:cNvPr id="18" name="Shape 16"/>
          <p:cNvSpPr/>
          <p:nvPr/>
        </p:nvSpPr>
        <p:spPr>
          <a:xfrm>
            <a:off x="5943600" y="2724912"/>
            <a:ext cx="237744" cy="237744"/>
          </a:xfrm>
          <a:prstGeom prst="downArrow">
            <a:avLst/>
          </a:prstGeom>
          <a:solidFill>
            <a:srgbClr val="AAB8C4"/>
          </a:solidFill>
          <a:ln/>
        </p:spPr>
      </p:sp>
      <p:sp>
        <p:nvSpPr>
          <p:cNvPr id="19" name="Shape 17"/>
          <p:cNvSpPr/>
          <p:nvPr/>
        </p:nvSpPr>
        <p:spPr>
          <a:xfrm>
            <a:off x="548640" y="3035808"/>
            <a:ext cx="11064240" cy="749808"/>
          </a:xfrm>
          <a:prstGeom prst="roundRect">
            <a:avLst>
              <a:gd name="adj" fmla="val 8537"/>
            </a:avLst>
          </a:prstGeom>
          <a:solidFill>
            <a:srgbClr val="F4F7FA"/>
          </a:solidFill>
          <a:ln w="12700">
            <a:solidFill>
              <a:srgbClr val="C9D6E2"/>
            </a:solidFill>
            <a:prstDash val="solid"/>
          </a:ln>
        </p:spPr>
      </p:sp>
      <p:sp>
        <p:nvSpPr>
          <p:cNvPr id="20" name="Text 18"/>
          <p:cNvSpPr txBox="1"/>
          <p:nvPr/>
        </p:nvSpPr>
        <p:spPr>
          <a:xfrm>
            <a:off x="731520" y="3090672"/>
            <a:ext cx="4572000" cy="201168"/>
          </a:xfrm>
          <a:prstGeom prst="rect">
            <a:avLst/>
          </a:prstGeom>
          <a:noFill/>
          <a:ln/>
        </p:spPr>
        <p:txBody>
          <a:bodyPr wrap="square" lIns="0" tIns="0" rIns="0" bIns="0" rtlCol="0" anchor="ctr"/>
          <a:lstStyle/>
          <a:p>
            <a:pPr indent="0" marL="0">
              <a:buNone/>
            </a:pPr>
            <a:r>
              <a:rPr lang="en-US" sz="900" b="1" spc="100" kern="0" dirty="0">
                <a:solidFill>
                  <a:srgbClr val="5A6B7B"/>
                </a:solidFill>
                <a:latin typeface="Calibri" pitchFamily="34" charset="0"/>
                <a:ea typeface="Calibri" pitchFamily="34" charset="-122"/>
                <a:cs typeface="Calibri" pitchFamily="34" charset="-120"/>
              </a:rPr>
              <a:t>QUEUES — Celery, split by workload class</a:t>
            </a:r>
            <a:endParaRPr lang="en-US" sz="900" dirty="0"/>
          </a:p>
        </p:txBody>
      </p:sp>
      <p:sp>
        <p:nvSpPr>
          <p:cNvPr id="21" name="Shape 19"/>
          <p:cNvSpPr/>
          <p:nvPr/>
        </p:nvSpPr>
        <p:spPr>
          <a:xfrm>
            <a:off x="777240" y="3310128"/>
            <a:ext cx="2560320" cy="384048"/>
          </a:xfrm>
          <a:prstGeom prst="roundRect">
            <a:avLst>
              <a:gd name="adj" fmla="val 16667"/>
            </a:avLst>
          </a:prstGeom>
          <a:solidFill>
            <a:srgbClr val="065A82"/>
          </a:solidFill>
          <a:ln/>
        </p:spPr>
      </p:sp>
      <p:sp>
        <p:nvSpPr>
          <p:cNvPr id="22" name="Text 20"/>
          <p:cNvSpPr txBox="1"/>
          <p:nvPr/>
        </p:nvSpPr>
        <p:spPr>
          <a:xfrm>
            <a:off x="777240" y="3310128"/>
            <a:ext cx="256032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inbound   ·   customer waiting</a:t>
            </a:r>
            <a:endParaRPr lang="en-US" sz="900" dirty="0"/>
          </a:p>
        </p:txBody>
      </p:sp>
      <p:sp>
        <p:nvSpPr>
          <p:cNvPr id="23" name="Shape 21"/>
          <p:cNvSpPr/>
          <p:nvPr/>
        </p:nvSpPr>
        <p:spPr>
          <a:xfrm>
            <a:off x="3474720" y="3310128"/>
            <a:ext cx="2560320" cy="384048"/>
          </a:xfrm>
          <a:prstGeom prst="roundRect">
            <a:avLst>
              <a:gd name="adj" fmla="val 16667"/>
            </a:avLst>
          </a:prstGeom>
          <a:solidFill>
            <a:srgbClr val="065A82"/>
          </a:solidFill>
          <a:ln/>
        </p:spPr>
      </p:sp>
      <p:sp>
        <p:nvSpPr>
          <p:cNvPr id="24" name="Text 22"/>
          <p:cNvSpPr txBox="1"/>
          <p:nvPr/>
        </p:nvSpPr>
        <p:spPr>
          <a:xfrm>
            <a:off x="3474720" y="3310128"/>
            <a:ext cx="256032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ai   ·   slow, rate-limited</a:t>
            </a:r>
            <a:endParaRPr lang="en-US" sz="900" dirty="0"/>
          </a:p>
        </p:txBody>
      </p:sp>
      <p:sp>
        <p:nvSpPr>
          <p:cNvPr id="25" name="Shape 23"/>
          <p:cNvSpPr/>
          <p:nvPr/>
        </p:nvSpPr>
        <p:spPr>
          <a:xfrm>
            <a:off x="6172200" y="3310128"/>
            <a:ext cx="2560320" cy="384048"/>
          </a:xfrm>
          <a:prstGeom prst="roundRect">
            <a:avLst>
              <a:gd name="adj" fmla="val 16667"/>
            </a:avLst>
          </a:prstGeom>
          <a:solidFill>
            <a:srgbClr val="065A82"/>
          </a:solidFill>
          <a:ln/>
        </p:spPr>
      </p:sp>
      <p:sp>
        <p:nvSpPr>
          <p:cNvPr id="26" name="Text 24"/>
          <p:cNvSpPr txBox="1"/>
          <p:nvPr/>
        </p:nvSpPr>
        <p:spPr>
          <a:xfrm>
            <a:off x="6172200" y="3310128"/>
            <a:ext cx="256032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outbound   ·   per-tenant limits</a:t>
            </a:r>
            <a:endParaRPr lang="en-US" sz="900" dirty="0"/>
          </a:p>
        </p:txBody>
      </p:sp>
      <p:sp>
        <p:nvSpPr>
          <p:cNvPr id="27" name="Shape 25"/>
          <p:cNvSpPr/>
          <p:nvPr/>
        </p:nvSpPr>
        <p:spPr>
          <a:xfrm>
            <a:off x="8869680" y="3310128"/>
            <a:ext cx="2560320" cy="384048"/>
          </a:xfrm>
          <a:prstGeom prst="roundRect">
            <a:avLst>
              <a:gd name="adj" fmla="val 16667"/>
            </a:avLst>
          </a:prstGeom>
          <a:solidFill>
            <a:srgbClr val="065A82"/>
          </a:solidFill>
          <a:ln/>
        </p:spPr>
      </p:sp>
      <p:sp>
        <p:nvSpPr>
          <p:cNvPr id="28" name="Text 26"/>
          <p:cNvSpPr txBox="1"/>
          <p:nvPr/>
        </p:nvSpPr>
        <p:spPr>
          <a:xfrm>
            <a:off x="8869680" y="3310128"/>
            <a:ext cx="256032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scheduled   ·   rollups, triggers</a:t>
            </a:r>
            <a:endParaRPr lang="en-US" sz="900" dirty="0"/>
          </a:p>
        </p:txBody>
      </p:sp>
      <p:sp>
        <p:nvSpPr>
          <p:cNvPr id="29" name="Shape 27"/>
          <p:cNvSpPr/>
          <p:nvPr/>
        </p:nvSpPr>
        <p:spPr>
          <a:xfrm>
            <a:off x="5943600" y="3840480"/>
            <a:ext cx="237744" cy="237744"/>
          </a:xfrm>
          <a:prstGeom prst="downArrow">
            <a:avLst/>
          </a:prstGeom>
          <a:solidFill>
            <a:srgbClr val="AAB8C4"/>
          </a:solidFill>
          <a:ln/>
        </p:spPr>
      </p:sp>
      <p:sp>
        <p:nvSpPr>
          <p:cNvPr id="30" name="Shape 28"/>
          <p:cNvSpPr/>
          <p:nvPr/>
        </p:nvSpPr>
        <p:spPr>
          <a:xfrm>
            <a:off x="548640" y="4151376"/>
            <a:ext cx="11064240" cy="1234440"/>
          </a:xfrm>
          <a:prstGeom prst="roundRect">
            <a:avLst>
              <a:gd name="adj" fmla="val 5185"/>
            </a:avLst>
          </a:prstGeom>
          <a:solidFill>
            <a:srgbClr val="21295C"/>
          </a:solidFill>
          <a:ln/>
        </p:spPr>
      </p:sp>
      <p:sp>
        <p:nvSpPr>
          <p:cNvPr id="31" name="Text 29"/>
          <p:cNvSpPr txBox="1"/>
          <p:nvPr/>
        </p:nvSpPr>
        <p:spPr>
          <a:xfrm>
            <a:off x="777240" y="4224528"/>
            <a:ext cx="7315200" cy="219456"/>
          </a:xfrm>
          <a:prstGeom prst="rect">
            <a:avLst/>
          </a:prstGeom>
          <a:noFill/>
          <a:ln/>
        </p:spPr>
        <p:txBody>
          <a:bodyPr wrap="square" lIns="0" tIns="0" rIns="0" bIns="0" rtlCol="0" anchor="ctr"/>
          <a:lstStyle/>
          <a:p>
            <a:pPr indent="0" marL="0">
              <a:buNone/>
            </a:pPr>
            <a:r>
              <a:rPr lang="en-US" sz="950" b="1" spc="100" kern="0" dirty="0">
                <a:solidFill>
                  <a:srgbClr val="F2A104"/>
                </a:solidFill>
                <a:latin typeface="Calibri" pitchFamily="34" charset="0"/>
                <a:ea typeface="Calibri" pitchFamily="34" charset="-122"/>
                <a:cs typeface="Calibri" pitchFamily="34" charset="-120"/>
              </a:rPr>
              <a:t>APPLICATION CORE — one FastAPI deployable, hard module boundaries</a:t>
            </a:r>
            <a:endParaRPr lang="en-US" sz="950" dirty="0"/>
          </a:p>
        </p:txBody>
      </p:sp>
      <p:sp>
        <p:nvSpPr>
          <p:cNvPr id="32" name="Shape 30"/>
          <p:cNvSpPr/>
          <p:nvPr/>
        </p:nvSpPr>
        <p:spPr>
          <a:xfrm>
            <a:off x="777240" y="4498848"/>
            <a:ext cx="1481328" cy="338328"/>
          </a:xfrm>
          <a:prstGeom prst="roundRect">
            <a:avLst>
              <a:gd name="adj" fmla="val 18919"/>
            </a:avLst>
          </a:prstGeom>
          <a:solidFill>
            <a:srgbClr val="2E3A6B"/>
          </a:solidFill>
          <a:ln/>
        </p:spPr>
      </p:sp>
      <p:sp>
        <p:nvSpPr>
          <p:cNvPr id="33" name="Text 31"/>
          <p:cNvSpPr txBox="1"/>
          <p:nvPr/>
        </p:nvSpPr>
        <p:spPr>
          <a:xfrm>
            <a:off x="777240" y="4498848"/>
            <a:ext cx="1481328" cy="33832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platform</a:t>
            </a:r>
            <a:endParaRPr lang="en-US" sz="850" dirty="0"/>
          </a:p>
        </p:txBody>
      </p:sp>
      <p:sp>
        <p:nvSpPr>
          <p:cNvPr id="34" name="Shape 32"/>
          <p:cNvSpPr/>
          <p:nvPr/>
        </p:nvSpPr>
        <p:spPr>
          <a:xfrm>
            <a:off x="2350008" y="4498848"/>
            <a:ext cx="1481328" cy="338328"/>
          </a:xfrm>
          <a:prstGeom prst="roundRect">
            <a:avLst>
              <a:gd name="adj" fmla="val 18919"/>
            </a:avLst>
          </a:prstGeom>
          <a:solidFill>
            <a:srgbClr val="2E3A6B"/>
          </a:solidFill>
          <a:ln/>
        </p:spPr>
      </p:sp>
      <p:sp>
        <p:nvSpPr>
          <p:cNvPr id="35" name="Text 33"/>
          <p:cNvSpPr txBox="1"/>
          <p:nvPr/>
        </p:nvSpPr>
        <p:spPr>
          <a:xfrm>
            <a:off x="2350008" y="4498848"/>
            <a:ext cx="1481328" cy="33832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channels</a:t>
            </a:r>
            <a:endParaRPr lang="en-US" sz="850" dirty="0"/>
          </a:p>
        </p:txBody>
      </p:sp>
      <p:sp>
        <p:nvSpPr>
          <p:cNvPr id="36" name="Shape 34"/>
          <p:cNvSpPr/>
          <p:nvPr/>
        </p:nvSpPr>
        <p:spPr>
          <a:xfrm>
            <a:off x="3922776" y="4498848"/>
            <a:ext cx="1481328" cy="338328"/>
          </a:xfrm>
          <a:prstGeom prst="roundRect">
            <a:avLst>
              <a:gd name="adj" fmla="val 18919"/>
            </a:avLst>
          </a:prstGeom>
          <a:solidFill>
            <a:srgbClr val="2E3A6B"/>
          </a:solidFill>
          <a:ln/>
        </p:spPr>
      </p:sp>
      <p:sp>
        <p:nvSpPr>
          <p:cNvPr id="37" name="Text 35"/>
          <p:cNvSpPr txBox="1"/>
          <p:nvPr/>
        </p:nvSpPr>
        <p:spPr>
          <a:xfrm>
            <a:off x="3922776" y="4498848"/>
            <a:ext cx="1481328" cy="33832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conversations</a:t>
            </a:r>
            <a:endParaRPr lang="en-US" sz="850" dirty="0"/>
          </a:p>
        </p:txBody>
      </p:sp>
      <p:sp>
        <p:nvSpPr>
          <p:cNvPr id="38" name="Shape 36"/>
          <p:cNvSpPr/>
          <p:nvPr/>
        </p:nvSpPr>
        <p:spPr>
          <a:xfrm>
            <a:off x="5495544" y="4498848"/>
            <a:ext cx="1481328" cy="338328"/>
          </a:xfrm>
          <a:prstGeom prst="roundRect">
            <a:avLst>
              <a:gd name="adj" fmla="val 18919"/>
            </a:avLst>
          </a:prstGeom>
          <a:solidFill>
            <a:srgbClr val="2E3A6B"/>
          </a:solidFill>
          <a:ln/>
        </p:spPr>
      </p:sp>
      <p:sp>
        <p:nvSpPr>
          <p:cNvPr id="39" name="Text 37"/>
          <p:cNvSpPr txBox="1"/>
          <p:nvPr/>
        </p:nvSpPr>
        <p:spPr>
          <a:xfrm>
            <a:off x="5495544" y="4498848"/>
            <a:ext cx="1481328" cy="33832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business</a:t>
            </a:r>
            <a:endParaRPr lang="en-US" sz="850" dirty="0"/>
          </a:p>
        </p:txBody>
      </p:sp>
      <p:sp>
        <p:nvSpPr>
          <p:cNvPr id="40" name="Shape 38"/>
          <p:cNvSpPr/>
          <p:nvPr/>
        </p:nvSpPr>
        <p:spPr>
          <a:xfrm>
            <a:off x="7068312" y="4498848"/>
            <a:ext cx="1481328" cy="338328"/>
          </a:xfrm>
          <a:prstGeom prst="roundRect">
            <a:avLst>
              <a:gd name="adj" fmla="val 18919"/>
            </a:avLst>
          </a:prstGeom>
          <a:solidFill>
            <a:srgbClr val="F2A104"/>
          </a:solidFill>
          <a:ln/>
        </p:spPr>
      </p:sp>
      <p:sp>
        <p:nvSpPr>
          <p:cNvPr id="41" name="Text 39"/>
          <p:cNvSpPr txBox="1"/>
          <p:nvPr/>
        </p:nvSpPr>
        <p:spPr>
          <a:xfrm>
            <a:off x="7068312" y="4498848"/>
            <a:ext cx="1481328" cy="338328"/>
          </a:xfrm>
          <a:prstGeom prst="rect">
            <a:avLst/>
          </a:prstGeom>
          <a:noFill/>
          <a:ln/>
        </p:spPr>
        <p:txBody>
          <a:bodyPr wrap="square" lIns="0" tIns="0" rIns="0" bIns="0" rtlCol="0" anchor="ctr"/>
          <a:lstStyle/>
          <a:p>
            <a:pPr algn="ctr" indent="0" marL="0">
              <a:buNone/>
            </a:pPr>
            <a:r>
              <a:rPr lang="en-US" sz="850" b="1" dirty="0">
                <a:solidFill>
                  <a:srgbClr val="1A2733"/>
                </a:solidFill>
                <a:latin typeface="Calibri" pitchFamily="34" charset="0"/>
                <a:ea typeface="Calibri" pitchFamily="34" charset="-122"/>
                <a:cs typeface="Calibri" pitchFamily="34" charset="-120"/>
              </a:rPr>
              <a:t>catalog</a:t>
            </a:r>
            <a:endParaRPr lang="en-US" sz="850" dirty="0"/>
          </a:p>
        </p:txBody>
      </p:sp>
      <p:sp>
        <p:nvSpPr>
          <p:cNvPr id="42" name="Shape 40"/>
          <p:cNvSpPr/>
          <p:nvPr/>
        </p:nvSpPr>
        <p:spPr>
          <a:xfrm>
            <a:off x="8641080" y="4498848"/>
            <a:ext cx="1481328" cy="338328"/>
          </a:xfrm>
          <a:prstGeom prst="roundRect">
            <a:avLst>
              <a:gd name="adj" fmla="val 18919"/>
            </a:avLst>
          </a:prstGeom>
          <a:solidFill>
            <a:srgbClr val="2E3A6B"/>
          </a:solidFill>
          <a:ln/>
        </p:spPr>
      </p:sp>
      <p:sp>
        <p:nvSpPr>
          <p:cNvPr id="43" name="Text 41"/>
          <p:cNvSpPr txBox="1"/>
          <p:nvPr/>
        </p:nvSpPr>
        <p:spPr>
          <a:xfrm>
            <a:off x="8641080" y="4498848"/>
            <a:ext cx="1481328" cy="33832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contacts</a:t>
            </a:r>
            <a:endParaRPr lang="en-US" sz="850" dirty="0"/>
          </a:p>
        </p:txBody>
      </p:sp>
      <p:sp>
        <p:nvSpPr>
          <p:cNvPr id="44" name="Shape 42"/>
          <p:cNvSpPr/>
          <p:nvPr/>
        </p:nvSpPr>
        <p:spPr>
          <a:xfrm>
            <a:off x="10213848" y="4498848"/>
            <a:ext cx="1481328" cy="338328"/>
          </a:xfrm>
          <a:prstGeom prst="roundRect">
            <a:avLst>
              <a:gd name="adj" fmla="val 18919"/>
            </a:avLst>
          </a:prstGeom>
          <a:solidFill>
            <a:srgbClr val="F2A104"/>
          </a:solidFill>
          <a:ln/>
        </p:spPr>
      </p:sp>
      <p:sp>
        <p:nvSpPr>
          <p:cNvPr id="45" name="Text 43"/>
          <p:cNvSpPr txBox="1"/>
          <p:nvPr/>
        </p:nvSpPr>
        <p:spPr>
          <a:xfrm>
            <a:off x="10213848" y="4498848"/>
            <a:ext cx="1481328" cy="338328"/>
          </a:xfrm>
          <a:prstGeom prst="rect">
            <a:avLst/>
          </a:prstGeom>
          <a:noFill/>
          <a:ln/>
        </p:spPr>
        <p:txBody>
          <a:bodyPr wrap="square" lIns="0" tIns="0" rIns="0" bIns="0" rtlCol="0" anchor="ctr"/>
          <a:lstStyle/>
          <a:p>
            <a:pPr algn="ctr" indent="0" marL="0">
              <a:buNone/>
            </a:pPr>
            <a:r>
              <a:rPr lang="en-US" sz="850" b="1" dirty="0">
                <a:solidFill>
                  <a:srgbClr val="1A2733"/>
                </a:solidFill>
                <a:latin typeface="Calibri" pitchFamily="34" charset="0"/>
                <a:ea typeface="Calibri" pitchFamily="34" charset="-122"/>
                <a:cs typeface="Calibri" pitchFamily="34" charset="-120"/>
              </a:rPr>
              <a:t>feasibility</a:t>
            </a:r>
            <a:endParaRPr lang="en-US" sz="850" dirty="0"/>
          </a:p>
        </p:txBody>
      </p:sp>
      <p:sp>
        <p:nvSpPr>
          <p:cNvPr id="46" name="Shape 44"/>
          <p:cNvSpPr/>
          <p:nvPr/>
        </p:nvSpPr>
        <p:spPr>
          <a:xfrm>
            <a:off x="777240" y="4910328"/>
            <a:ext cx="1481328" cy="338328"/>
          </a:xfrm>
          <a:prstGeom prst="roundRect">
            <a:avLst>
              <a:gd name="adj" fmla="val 18919"/>
            </a:avLst>
          </a:prstGeom>
          <a:solidFill>
            <a:srgbClr val="2E3A6B"/>
          </a:solidFill>
          <a:ln/>
        </p:spPr>
      </p:sp>
      <p:sp>
        <p:nvSpPr>
          <p:cNvPr id="47" name="Text 45"/>
          <p:cNvSpPr txBox="1"/>
          <p:nvPr/>
        </p:nvSpPr>
        <p:spPr>
          <a:xfrm>
            <a:off x="777240" y="4910328"/>
            <a:ext cx="1481328" cy="33832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quotations</a:t>
            </a:r>
            <a:endParaRPr lang="en-US" sz="850" dirty="0"/>
          </a:p>
        </p:txBody>
      </p:sp>
      <p:sp>
        <p:nvSpPr>
          <p:cNvPr id="48" name="Shape 46"/>
          <p:cNvSpPr/>
          <p:nvPr/>
        </p:nvSpPr>
        <p:spPr>
          <a:xfrm>
            <a:off x="2350008" y="4910328"/>
            <a:ext cx="1481328" cy="338328"/>
          </a:xfrm>
          <a:prstGeom prst="roundRect">
            <a:avLst>
              <a:gd name="adj" fmla="val 18919"/>
            </a:avLst>
          </a:prstGeom>
          <a:solidFill>
            <a:srgbClr val="2E3A6B"/>
          </a:solidFill>
          <a:ln/>
        </p:spPr>
      </p:sp>
      <p:sp>
        <p:nvSpPr>
          <p:cNvPr id="49" name="Text 47"/>
          <p:cNvSpPr txBox="1"/>
          <p:nvPr/>
        </p:nvSpPr>
        <p:spPr>
          <a:xfrm>
            <a:off x="2350008" y="4910328"/>
            <a:ext cx="1481328" cy="33832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orders</a:t>
            </a:r>
            <a:endParaRPr lang="en-US" sz="850" dirty="0"/>
          </a:p>
        </p:txBody>
      </p:sp>
      <p:sp>
        <p:nvSpPr>
          <p:cNvPr id="50" name="Shape 48"/>
          <p:cNvSpPr/>
          <p:nvPr/>
        </p:nvSpPr>
        <p:spPr>
          <a:xfrm>
            <a:off x="3922776" y="4910328"/>
            <a:ext cx="1481328" cy="338328"/>
          </a:xfrm>
          <a:prstGeom prst="roundRect">
            <a:avLst>
              <a:gd name="adj" fmla="val 18919"/>
            </a:avLst>
          </a:prstGeom>
          <a:solidFill>
            <a:srgbClr val="2E3A6B"/>
          </a:solidFill>
          <a:ln/>
        </p:spPr>
      </p:sp>
      <p:sp>
        <p:nvSpPr>
          <p:cNvPr id="51" name="Text 49"/>
          <p:cNvSpPr txBox="1"/>
          <p:nvPr/>
        </p:nvSpPr>
        <p:spPr>
          <a:xfrm>
            <a:off x="3922776" y="4910328"/>
            <a:ext cx="1481328" cy="33832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jobs</a:t>
            </a:r>
            <a:endParaRPr lang="en-US" sz="850" dirty="0"/>
          </a:p>
        </p:txBody>
      </p:sp>
      <p:sp>
        <p:nvSpPr>
          <p:cNvPr id="52" name="Shape 50"/>
          <p:cNvSpPr/>
          <p:nvPr/>
        </p:nvSpPr>
        <p:spPr>
          <a:xfrm>
            <a:off x="5495544" y="4910328"/>
            <a:ext cx="1481328" cy="338328"/>
          </a:xfrm>
          <a:prstGeom prst="roundRect">
            <a:avLst>
              <a:gd name="adj" fmla="val 18919"/>
            </a:avLst>
          </a:prstGeom>
          <a:solidFill>
            <a:srgbClr val="2E3A6B"/>
          </a:solidFill>
          <a:ln/>
        </p:spPr>
      </p:sp>
      <p:sp>
        <p:nvSpPr>
          <p:cNvPr id="53" name="Text 51"/>
          <p:cNvSpPr txBox="1"/>
          <p:nvPr/>
        </p:nvSpPr>
        <p:spPr>
          <a:xfrm>
            <a:off x="5495544" y="4910328"/>
            <a:ext cx="1481328" cy="33832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feedback</a:t>
            </a:r>
            <a:endParaRPr lang="en-US" sz="850" dirty="0"/>
          </a:p>
        </p:txBody>
      </p:sp>
      <p:sp>
        <p:nvSpPr>
          <p:cNvPr id="54" name="Shape 52"/>
          <p:cNvSpPr/>
          <p:nvPr/>
        </p:nvSpPr>
        <p:spPr>
          <a:xfrm>
            <a:off x="7068312" y="4910328"/>
            <a:ext cx="1481328" cy="338328"/>
          </a:xfrm>
          <a:prstGeom prst="roundRect">
            <a:avLst>
              <a:gd name="adj" fmla="val 18919"/>
            </a:avLst>
          </a:prstGeom>
          <a:solidFill>
            <a:srgbClr val="2E3A6B"/>
          </a:solidFill>
          <a:ln/>
        </p:spPr>
      </p:sp>
      <p:sp>
        <p:nvSpPr>
          <p:cNvPr id="55" name="Text 53"/>
          <p:cNvSpPr txBox="1"/>
          <p:nvPr/>
        </p:nvSpPr>
        <p:spPr>
          <a:xfrm>
            <a:off x="7068312" y="4910328"/>
            <a:ext cx="1481328" cy="33832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engagement</a:t>
            </a:r>
            <a:endParaRPr lang="en-US" sz="850" dirty="0"/>
          </a:p>
        </p:txBody>
      </p:sp>
      <p:sp>
        <p:nvSpPr>
          <p:cNvPr id="56" name="Shape 54"/>
          <p:cNvSpPr/>
          <p:nvPr/>
        </p:nvSpPr>
        <p:spPr>
          <a:xfrm>
            <a:off x="8641080" y="4910328"/>
            <a:ext cx="1481328" cy="338328"/>
          </a:xfrm>
          <a:prstGeom prst="roundRect">
            <a:avLst>
              <a:gd name="adj" fmla="val 18919"/>
            </a:avLst>
          </a:prstGeom>
          <a:solidFill>
            <a:srgbClr val="2E3A6B"/>
          </a:solidFill>
          <a:ln/>
        </p:spPr>
      </p:sp>
      <p:sp>
        <p:nvSpPr>
          <p:cNvPr id="57" name="Text 55"/>
          <p:cNvSpPr txBox="1"/>
          <p:nvPr/>
        </p:nvSpPr>
        <p:spPr>
          <a:xfrm>
            <a:off x="8641080" y="4910328"/>
            <a:ext cx="1481328" cy="33832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analytics</a:t>
            </a:r>
            <a:endParaRPr lang="en-US" sz="850" dirty="0"/>
          </a:p>
        </p:txBody>
      </p:sp>
      <p:sp>
        <p:nvSpPr>
          <p:cNvPr id="58" name="Shape 56"/>
          <p:cNvSpPr/>
          <p:nvPr/>
        </p:nvSpPr>
        <p:spPr>
          <a:xfrm>
            <a:off x="5943600" y="5440680"/>
            <a:ext cx="237744" cy="219456"/>
          </a:xfrm>
          <a:prstGeom prst="downArrow">
            <a:avLst/>
          </a:prstGeom>
          <a:solidFill>
            <a:srgbClr val="AAB8C4"/>
          </a:solidFill>
          <a:ln/>
        </p:spPr>
      </p:sp>
      <p:sp>
        <p:nvSpPr>
          <p:cNvPr id="59" name="Shape 57"/>
          <p:cNvSpPr/>
          <p:nvPr/>
        </p:nvSpPr>
        <p:spPr>
          <a:xfrm>
            <a:off x="2377440" y="5715000"/>
            <a:ext cx="3566160" cy="384048"/>
          </a:xfrm>
          <a:prstGeom prst="roundRect">
            <a:avLst>
              <a:gd name="adj" fmla="val 16667"/>
            </a:avLst>
          </a:prstGeom>
          <a:solidFill>
            <a:srgbClr val="1C7293"/>
          </a:solidFill>
          <a:ln/>
        </p:spPr>
      </p:sp>
      <p:sp>
        <p:nvSpPr>
          <p:cNvPr id="60" name="Text 58"/>
          <p:cNvSpPr txBox="1"/>
          <p:nvPr/>
        </p:nvSpPr>
        <p:spPr>
          <a:xfrm>
            <a:off x="2377440" y="5715000"/>
            <a:ext cx="356616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PostgreSQL  +  row-level security</a:t>
            </a:r>
            <a:endParaRPr lang="en-US" sz="1000" dirty="0"/>
          </a:p>
        </p:txBody>
      </p:sp>
      <p:sp>
        <p:nvSpPr>
          <p:cNvPr id="61" name="Shape 59"/>
          <p:cNvSpPr/>
          <p:nvPr/>
        </p:nvSpPr>
        <p:spPr>
          <a:xfrm>
            <a:off x="6217920" y="5715000"/>
            <a:ext cx="3566160" cy="384048"/>
          </a:xfrm>
          <a:prstGeom prst="roundRect">
            <a:avLst>
              <a:gd name="adj" fmla="val 16667"/>
            </a:avLst>
          </a:prstGeom>
          <a:solidFill>
            <a:srgbClr val="1C7293"/>
          </a:solidFill>
          <a:ln/>
        </p:spPr>
      </p:sp>
      <p:sp>
        <p:nvSpPr>
          <p:cNvPr id="62" name="Text 60"/>
          <p:cNvSpPr txBox="1"/>
          <p:nvPr/>
        </p:nvSpPr>
        <p:spPr>
          <a:xfrm>
            <a:off x="6217920" y="5715000"/>
            <a:ext cx="356616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Redis  —  cache · broker</a:t>
            </a:r>
            <a:endParaRPr lang="en-US" sz="1000" dirty="0"/>
          </a:p>
        </p:txBody>
      </p:sp>
      <p:sp>
        <p:nvSpPr>
          <p:cNvPr id="63" name="Shape 61"/>
          <p:cNvSpPr/>
          <p:nvPr/>
        </p:nvSpPr>
        <p:spPr>
          <a:xfrm>
            <a:off x="548640" y="6053328"/>
            <a:ext cx="11064240" cy="566928"/>
          </a:xfrm>
          <a:prstGeom prst="roundRect">
            <a:avLst>
              <a:gd name="adj" fmla="val 11290"/>
            </a:avLst>
          </a:prstGeom>
          <a:solidFill>
            <a:srgbClr val="21295C"/>
          </a:solidFill>
          <a:ln/>
        </p:spPr>
      </p:sp>
      <p:sp>
        <p:nvSpPr>
          <p:cNvPr id="64" name="Text 62"/>
          <p:cNvSpPr txBox="1"/>
          <p:nvPr/>
        </p:nvSpPr>
        <p:spPr>
          <a:xfrm>
            <a:off x="777240" y="6053328"/>
            <a:ext cx="10607040" cy="56692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WHY A MODULAR MONOLITH:  peak load is ~20 requests/second. Microservices buy scaling we do not need and charge network failures, tracing and cross-service consistency. Any module can be extracted later - the interface already exists.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ARCHITECTURE</a:t>
            </a:r>
            <a:endParaRPr lang="en-US" sz="1050" dirty="0"/>
          </a:p>
        </p:txBody>
      </p:sp>
      <p:sp>
        <p:nvSpPr>
          <p:cNvPr id="3" name="Text 1"/>
          <p:cNvSpPr txBox="1"/>
          <p:nvPr/>
        </p:nvSpPr>
        <p:spPr>
          <a:xfrm>
            <a:off x="548640" y="512064"/>
            <a:ext cx="11064240" cy="566928"/>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Eight architectural rules</a:t>
            </a:r>
            <a:endParaRPr lang="en-US" sz="2800" dirty="0"/>
          </a:p>
        </p:txBody>
      </p:sp>
      <p:sp>
        <p:nvSpPr>
          <p:cNvPr id="4" name="Text 2"/>
          <p:cNvSpPr txBox="1"/>
          <p:nvPr/>
        </p:nvSpPr>
        <p:spPr>
          <a:xfrm>
            <a:off x="548640" y="1143000"/>
            <a:ext cx="11064240" cy="274320"/>
          </a:xfrm>
          <a:prstGeom prst="rect">
            <a:avLst/>
          </a:prstGeom>
          <a:noFill/>
          <a:ln/>
        </p:spPr>
        <p:txBody>
          <a:bodyPr wrap="square" lIns="0" tIns="0" rIns="0" bIns="0" rtlCol="0" anchor="ctr"/>
          <a:lstStyle/>
          <a:p>
            <a:pPr indent="0" marL="0">
              <a:buNone/>
            </a:pPr>
            <a:r>
              <a:rPr lang="en-US" sz="1300" i="1" dirty="0">
                <a:solidFill>
                  <a:srgbClr val="5A6B7B"/>
                </a:solidFill>
                <a:latin typeface="Calibri" pitchFamily="34" charset="0"/>
                <a:ea typeface="Calibri" pitchFamily="34" charset="-122"/>
                <a:cs typeface="Calibri" pitchFamily="34" charset="-120"/>
              </a:rPr>
              <a:t>These exist because breaking each one causes specific, known damage.</a:t>
            </a:r>
            <a:endParaRPr lang="en-US" sz="1300" dirty="0"/>
          </a:p>
        </p:txBody>
      </p:sp>
      <p:sp>
        <p:nvSpPr>
          <p:cNvPr id="5" name="Shape 3"/>
          <p:cNvSpPr/>
          <p:nvPr/>
        </p:nvSpPr>
        <p:spPr>
          <a:xfrm>
            <a:off x="548640" y="1536192"/>
            <a:ext cx="5440680" cy="1005840"/>
          </a:xfrm>
          <a:prstGeom prst="roundRect">
            <a:avLst>
              <a:gd name="adj" fmla="val 6364"/>
            </a:avLst>
          </a:prstGeom>
          <a:solidFill>
            <a:srgbClr val="FFFFFF"/>
          </a:solidFill>
          <a:ln w="12700">
            <a:solidFill>
              <a:srgbClr val="DCE5EE"/>
            </a:solidFill>
            <a:prstDash val="solid"/>
          </a:ln>
        </p:spPr>
      </p:sp>
      <p:sp>
        <p:nvSpPr>
          <p:cNvPr id="6" name="Shape 4"/>
          <p:cNvSpPr/>
          <p:nvPr/>
        </p:nvSpPr>
        <p:spPr>
          <a:xfrm>
            <a:off x="694944" y="1673352"/>
            <a:ext cx="310896" cy="310896"/>
          </a:xfrm>
          <a:prstGeom prst="ellipse">
            <a:avLst/>
          </a:prstGeom>
          <a:solidFill>
            <a:srgbClr val="1C7293"/>
          </a:solidFill>
          <a:ln/>
        </p:spPr>
      </p:sp>
      <p:sp>
        <p:nvSpPr>
          <p:cNvPr id="7" name="Text 5"/>
          <p:cNvSpPr txBox="1"/>
          <p:nvPr/>
        </p:nvSpPr>
        <p:spPr>
          <a:xfrm>
            <a:off x="694944" y="167335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6"/>
          <p:cNvSpPr txBox="1"/>
          <p:nvPr/>
        </p:nvSpPr>
        <p:spPr>
          <a:xfrm>
            <a:off x="1097280" y="1655064"/>
            <a:ext cx="4754880" cy="274320"/>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Channels are adapters</a:t>
            </a:r>
            <a:endParaRPr lang="en-US" sz="1200" dirty="0"/>
          </a:p>
        </p:txBody>
      </p:sp>
      <p:sp>
        <p:nvSpPr>
          <p:cNvPr id="9" name="Text 7"/>
          <p:cNvSpPr txBox="1"/>
          <p:nvPr/>
        </p:nvSpPr>
        <p:spPr>
          <a:xfrm>
            <a:off x="1097280" y="1920240"/>
            <a:ext cx="4754880" cy="274320"/>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Webhook does 4 things then returns 200. No LLM on that path.</a:t>
            </a:r>
            <a:endParaRPr lang="en-US" sz="950" dirty="0"/>
          </a:p>
        </p:txBody>
      </p:sp>
      <p:sp>
        <p:nvSpPr>
          <p:cNvPr id="10" name="Text 8"/>
          <p:cNvSpPr txBox="1"/>
          <p:nvPr/>
        </p:nvSpPr>
        <p:spPr>
          <a:xfrm>
            <a:off x="1097280" y="2194560"/>
            <a:ext cx="4754880" cy="274320"/>
          </a:xfrm>
          <a:prstGeom prst="rect">
            <a:avLst/>
          </a:prstGeom>
          <a:noFill/>
          <a:ln/>
        </p:spPr>
        <p:txBody>
          <a:bodyPr wrap="square" lIns="0" tIns="0" rIns="0" bIns="0" rtlCol="0" anchor="ctr"/>
          <a:lstStyle/>
          <a:p>
            <a:pPr indent="0" marL="0">
              <a:buNone/>
            </a:pPr>
            <a:r>
              <a:rPr lang="en-US" sz="900" i="1" dirty="0">
                <a:solidFill>
                  <a:srgbClr val="B23A48"/>
                </a:solidFill>
                <a:latin typeface="Calibri" pitchFamily="34" charset="0"/>
                <a:ea typeface="Calibri" pitchFamily="34" charset="-122"/>
                <a:cs typeface="Calibri" pitchFamily="34" charset="-120"/>
              </a:rPr>
              <a:t>→ A slow webhook becomes a duplicate reply to a real customer</a:t>
            </a:r>
            <a:endParaRPr lang="en-US" sz="900" dirty="0"/>
          </a:p>
        </p:txBody>
      </p:sp>
      <p:sp>
        <p:nvSpPr>
          <p:cNvPr id="11" name="Shape 9"/>
          <p:cNvSpPr/>
          <p:nvPr/>
        </p:nvSpPr>
        <p:spPr>
          <a:xfrm>
            <a:off x="6217920" y="1536192"/>
            <a:ext cx="5440680" cy="1005840"/>
          </a:xfrm>
          <a:prstGeom prst="roundRect">
            <a:avLst>
              <a:gd name="adj" fmla="val 6364"/>
            </a:avLst>
          </a:prstGeom>
          <a:solidFill>
            <a:srgbClr val="FFFFFF"/>
          </a:solidFill>
          <a:ln w="12700">
            <a:solidFill>
              <a:srgbClr val="DCE5EE"/>
            </a:solidFill>
            <a:prstDash val="solid"/>
          </a:ln>
        </p:spPr>
      </p:sp>
      <p:sp>
        <p:nvSpPr>
          <p:cNvPr id="12" name="Shape 10"/>
          <p:cNvSpPr/>
          <p:nvPr/>
        </p:nvSpPr>
        <p:spPr>
          <a:xfrm>
            <a:off x="6364224" y="1673352"/>
            <a:ext cx="310896" cy="310896"/>
          </a:xfrm>
          <a:prstGeom prst="ellipse">
            <a:avLst/>
          </a:prstGeom>
          <a:solidFill>
            <a:srgbClr val="1C7293"/>
          </a:solidFill>
          <a:ln/>
        </p:spPr>
      </p:sp>
      <p:sp>
        <p:nvSpPr>
          <p:cNvPr id="13" name="Text 11"/>
          <p:cNvSpPr txBox="1"/>
          <p:nvPr/>
        </p:nvSpPr>
        <p:spPr>
          <a:xfrm>
            <a:off x="6364224" y="167335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4" name="Text 12"/>
          <p:cNvSpPr txBox="1"/>
          <p:nvPr/>
        </p:nvSpPr>
        <p:spPr>
          <a:xfrm>
            <a:off x="6766560" y="1655064"/>
            <a:ext cx="4754880" cy="274320"/>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Not everything is AI</a:t>
            </a:r>
            <a:endParaRPr lang="en-US" sz="1200" dirty="0"/>
          </a:p>
        </p:txBody>
      </p:sp>
      <p:sp>
        <p:nvSpPr>
          <p:cNvPr id="15" name="Text 13"/>
          <p:cNvSpPr txBox="1"/>
          <p:nvPr/>
        </p:nvSpPr>
        <p:spPr>
          <a:xfrm>
            <a:off x="6766560" y="1920240"/>
            <a:ext cx="4754880" cy="274320"/>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Pricing, feasibility, stock arithmetic, state transitions are all deterministic.</a:t>
            </a:r>
            <a:endParaRPr lang="en-US" sz="950" dirty="0"/>
          </a:p>
        </p:txBody>
      </p:sp>
      <p:sp>
        <p:nvSpPr>
          <p:cNvPr id="16" name="Text 14"/>
          <p:cNvSpPr txBox="1"/>
          <p:nvPr/>
        </p:nvSpPr>
        <p:spPr>
          <a:xfrm>
            <a:off x="6766560" y="2194560"/>
            <a:ext cx="4754880" cy="274320"/>
          </a:xfrm>
          <a:prstGeom prst="rect">
            <a:avLst/>
          </a:prstGeom>
          <a:noFill/>
          <a:ln/>
        </p:spPr>
        <p:txBody>
          <a:bodyPr wrap="square" lIns="0" tIns="0" rIns="0" bIns="0" rtlCol="0" anchor="ctr"/>
          <a:lstStyle/>
          <a:p>
            <a:pPr indent="0" marL="0">
              <a:buNone/>
            </a:pPr>
            <a:r>
              <a:rPr lang="en-US" sz="900" i="1" dirty="0">
                <a:solidFill>
                  <a:srgbClr val="B23A48"/>
                </a:solidFill>
                <a:latin typeface="Calibri" pitchFamily="34" charset="0"/>
                <a:ea typeface="Calibri" pitchFamily="34" charset="-122"/>
                <a:cs typeface="Calibri" pitchFamily="34" charset="-120"/>
              </a:rPr>
              <a:t>→ 8 of 13 modules involve no AI at all - the answer to “isn't this a wrapper?”</a:t>
            </a:r>
            <a:endParaRPr lang="en-US" sz="900" dirty="0"/>
          </a:p>
        </p:txBody>
      </p:sp>
      <p:sp>
        <p:nvSpPr>
          <p:cNvPr id="17" name="Shape 15"/>
          <p:cNvSpPr/>
          <p:nvPr/>
        </p:nvSpPr>
        <p:spPr>
          <a:xfrm>
            <a:off x="548640" y="2651760"/>
            <a:ext cx="5440680" cy="1005840"/>
          </a:xfrm>
          <a:prstGeom prst="roundRect">
            <a:avLst>
              <a:gd name="adj" fmla="val 6364"/>
            </a:avLst>
          </a:prstGeom>
          <a:solidFill>
            <a:srgbClr val="F4F7FA"/>
          </a:solidFill>
          <a:ln w="12700">
            <a:solidFill>
              <a:srgbClr val="DCE5EE"/>
            </a:solidFill>
            <a:prstDash val="solid"/>
          </a:ln>
        </p:spPr>
      </p:sp>
      <p:sp>
        <p:nvSpPr>
          <p:cNvPr id="18" name="Shape 16"/>
          <p:cNvSpPr/>
          <p:nvPr/>
        </p:nvSpPr>
        <p:spPr>
          <a:xfrm>
            <a:off x="694944" y="2788920"/>
            <a:ext cx="310896" cy="310896"/>
          </a:xfrm>
          <a:prstGeom prst="ellipse">
            <a:avLst/>
          </a:prstGeom>
          <a:solidFill>
            <a:srgbClr val="1C7293"/>
          </a:solidFill>
          <a:ln/>
        </p:spPr>
      </p:sp>
      <p:sp>
        <p:nvSpPr>
          <p:cNvPr id="19" name="Text 17"/>
          <p:cNvSpPr txBox="1"/>
          <p:nvPr/>
        </p:nvSpPr>
        <p:spPr>
          <a:xfrm>
            <a:off x="694944" y="278892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8"/>
          <p:cNvSpPr txBox="1"/>
          <p:nvPr/>
        </p:nvSpPr>
        <p:spPr>
          <a:xfrm>
            <a:off x="1097280" y="2770632"/>
            <a:ext cx="4754880" cy="274320"/>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Shared schema, never forks</a:t>
            </a:r>
            <a:endParaRPr lang="en-US" sz="1200" dirty="0"/>
          </a:p>
        </p:txBody>
      </p:sp>
      <p:sp>
        <p:nvSpPr>
          <p:cNvPr id="21" name="Text 19"/>
          <p:cNvSpPr txBox="1"/>
          <p:nvPr/>
        </p:nvSpPr>
        <p:spPr>
          <a:xfrm>
            <a:off x="1097280" y="3035808"/>
            <a:ext cx="4754880" cy="274320"/>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tenant_id on every table. RLS as backstop. Config, not code.</a:t>
            </a:r>
            <a:endParaRPr lang="en-US" sz="950" dirty="0"/>
          </a:p>
        </p:txBody>
      </p:sp>
      <p:sp>
        <p:nvSpPr>
          <p:cNvPr id="22" name="Text 20"/>
          <p:cNvSpPr txBox="1"/>
          <p:nvPr/>
        </p:nvSpPr>
        <p:spPr>
          <a:xfrm>
            <a:off x="1097280" y="3310128"/>
            <a:ext cx="4754880" cy="274320"/>
          </a:xfrm>
          <a:prstGeom prst="rect">
            <a:avLst/>
          </a:prstGeom>
          <a:noFill/>
          <a:ln/>
        </p:spPr>
        <p:txBody>
          <a:bodyPr wrap="square" lIns="0" tIns="0" rIns="0" bIns="0" rtlCol="0" anchor="ctr"/>
          <a:lstStyle/>
          <a:p>
            <a:pPr indent="0" marL="0">
              <a:buNone/>
            </a:pPr>
            <a:r>
              <a:rPr lang="en-US" sz="900" i="1" dirty="0">
                <a:solidFill>
                  <a:srgbClr val="B23A48"/>
                </a:solidFill>
                <a:latin typeface="Calibri" pitchFamily="34" charset="0"/>
                <a:ea typeface="Calibri" pitchFamily="34" charset="-122"/>
                <a:cs typeface="Calibri" pitchFamily="34" charset="-120"/>
              </a:rPr>
              <a:t>→ A fork means two products and half the engineering time</a:t>
            </a:r>
            <a:endParaRPr lang="en-US" sz="900" dirty="0"/>
          </a:p>
        </p:txBody>
      </p:sp>
      <p:sp>
        <p:nvSpPr>
          <p:cNvPr id="23" name="Shape 21"/>
          <p:cNvSpPr/>
          <p:nvPr/>
        </p:nvSpPr>
        <p:spPr>
          <a:xfrm>
            <a:off x="6217920" y="2651760"/>
            <a:ext cx="5440680" cy="1005840"/>
          </a:xfrm>
          <a:prstGeom prst="roundRect">
            <a:avLst>
              <a:gd name="adj" fmla="val 6364"/>
            </a:avLst>
          </a:prstGeom>
          <a:solidFill>
            <a:srgbClr val="F4F7FA"/>
          </a:solidFill>
          <a:ln w="12700">
            <a:solidFill>
              <a:srgbClr val="DCE5EE"/>
            </a:solidFill>
            <a:prstDash val="solid"/>
          </a:ln>
        </p:spPr>
      </p:sp>
      <p:sp>
        <p:nvSpPr>
          <p:cNvPr id="24" name="Shape 22"/>
          <p:cNvSpPr/>
          <p:nvPr/>
        </p:nvSpPr>
        <p:spPr>
          <a:xfrm>
            <a:off x="6364224" y="2788920"/>
            <a:ext cx="310896" cy="310896"/>
          </a:xfrm>
          <a:prstGeom prst="ellipse">
            <a:avLst/>
          </a:prstGeom>
          <a:solidFill>
            <a:srgbClr val="1C7293"/>
          </a:solidFill>
          <a:ln/>
        </p:spPr>
      </p:sp>
      <p:sp>
        <p:nvSpPr>
          <p:cNvPr id="25" name="Text 23"/>
          <p:cNvSpPr txBox="1"/>
          <p:nvPr/>
        </p:nvSpPr>
        <p:spPr>
          <a:xfrm>
            <a:off x="6364224" y="278892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6" name="Text 24"/>
          <p:cNvSpPr txBox="1"/>
          <p:nvPr/>
        </p:nvSpPr>
        <p:spPr>
          <a:xfrm>
            <a:off x="6766560" y="2770632"/>
            <a:ext cx="4754880" cy="274320"/>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Modular monolith</a:t>
            </a:r>
            <a:endParaRPr lang="en-US" sz="1200" dirty="0"/>
          </a:p>
        </p:txBody>
      </p:sp>
      <p:sp>
        <p:nvSpPr>
          <p:cNvPr id="27" name="Text 25"/>
          <p:cNvSpPr txBox="1"/>
          <p:nvPr/>
        </p:nvSpPr>
        <p:spPr>
          <a:xfrm>
            <a:off x="6766560" y="3035808"/>
            <a:ext cx="4754880" cy="274320"/>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One deployable, hard module boundaries by interface contract.</a:t>
            </a:r>
            <a:endParaRPr lang="en-US" sz="950" dirty="0"/>
          </a:p>
        </p:txBody>
      </p:sp>
      <p:sp>
        <p:nvSpPr>
          <p:cNvPr id="28" name="Text 26"/>
          <p:cNvSpPr txBox="1"/>
          <p:nvPr/>
        </p:nvSpPr>
        <p:spPr>
          <a:xfrm>
            <a:off x="6766560" y="3310128"/>
            <a:ext cx="4754880" cy="274320"/>
          </a:xfrm>
          <a:prstGeom prst="rect">
            <a:avLst/>
          </a:prstGeom>
          <a:noFill/>
          <a:ln/>
        </p:spPr>
        <p:txBody>
          <a:bodyPr wrap="square" lIns="0" tIns="0" rIns="0" bIns="0" rtlCol="0" anchor="ctr"/>
          <a:lstStyle/>
          <a:p>
            <a:pPr indent="0" marL="0">
              <a:buNone/>
            </a:pPr>
            <a:r>
              <a:rPr lang="en-US" sz="900" i="1" dirty="0">
                <a:solidFill>
                  <a:srgbClr val="B23A48"/>
                </a:solidFill>
                <a:latin typeface="Calibri" pitchFamily="34" charset="0"/>
                <a:ea typeface="Calibri" pitchFamily="34" charset="-122"/>
                <a:cs typeface="Calibri" pitchFamily="34" charset="-120"/>
              </a:rPr>
              <a:t>→ ~20 req/s peak. Extraction path exists if ever needed</a:t>
            </a:r>
            <a:endParaRPr lang="en-US" sz="900" dirty="0"/>
          </a:p>
        </p:txBody>
      </p:sp>
      <p:sp>
        <p:nvSpPr>
          <p:cNvPr id="29" name="Shape 27"/>
          <p:cNvSpPr/>
          <p:nvPr/>
        </p:nvSpPr>
        <p:spPr>
          <a:xfrm>
            <a:off x="548640" y="3767328"/>
            <a:ext cx="5440680" cy="1005840"/>
          </a:xfrm>
          <a:prstGeom prst="roundRect">
            <a:avLst>
              <a:gd name="adj" fmla="val 6364"/>
            </a:avLst>
          </a:prstGeom>
          <a:solidFill>
            <a:srgbClr val="FFFFFF"/>
          </a:solidFill>
          <a:ln w="12700">
            <a:solidFill>
              <a:srgbClr val="DCE5EE"/>
            </a:solidFill>
            <a:prstDash val="solid"/>
          </a:ln>
        </p:spPr>
      </p:sp>
      <p:sp>
        <p:nvSpPr>
          <p:cNvPr id="30" name="Shape 28"/>
          <p:cNvSpPr/>
          <p:nvPr/>
        </p:nvSpPr>
        <p:spPr>
          <a:xfrm>
            <a:off x="694944" y="3904488"/>
            <a:ext cx="310896" cy="310896"/>
          </a:xfrm>
          <a:prstGeom prst="ellipse">
            <a:avLst/>
          </a:prstGeom>
          <a:solidFill>
            <a:srgbClr val="1C7293"/>
          </a:solidFill>
          <a:ln/>
        </p:spPr>
      </p:sp>
      <p:sp>
        <p:nvSpPr>
          <p:cNvPr id="31" name="Text 29"/>
          <p:cNvSpPr txBox="1"/>
          <p:nvPr/>
        </p:nvSpPr>
        <p:spPr>
          <a:xfrm>
            <a:off x="694944" y="390448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2" name="Text 30"/>
          <p:cNvSpPr txBox="1"/>
          <p:nvPr/>
        </p:nvSpPr>
        <p:spPr>
          <a:xfrm>
            <a:off x="1097280" y="3886200"/>
            <a:ext cx="4754880" cy="274320"/>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Events via outbox</a:t>
            </a:r>
            <a:endParaRPr lang="en-US" sz="1200" dirty="0"/>
          </a:p>
        </p:txBody>
      </p:sp>
      <p:sp>
        <p:nvSpPr>
          <p:cNvPr id="33" name="Text 31"/>
          <p:cNvSpPr txBox="1"/>
          <p:nvPr/>
        </p:nvSpPr>
        <p:spPr>
          <a:xfrm>
            <a:off x="1097280" y="4151376"/>
            <a:ext cx="4754880" cy="274320"/>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Postgres outbox + Celery. Not Kafka.</a:t>
            </a:r>
            <a:endParaRPr lang="en-US" sz="950" dirty="0"/>
          </a:p>
        </p:txBody>
      </p:sp>
      <p:sp>
        <p:nvSpPr>
          <p:cNvPr id="34" name="Text 32"/>
          <p:cNvSpPr txBox="1"/>
          <p:nvPr/>
        </p:nvSpPr>
        <p:spPr>
          <a:xfrm>
            <a:off x="1097280" y="4425696"/>
            <a:ext cx="4754880" cy="274320"/>
          </a:xfrm>
          <a:prstGeom prst="rect">
            <a:avLst/>
          </a:prstGeom>
          <a:noFill/>
          <a:ln/>
        </p:spPr>
        <p:txBody>
          <a:bodyPr wrap="square" lIns="0" tIns="0" rIns="0" bIns="0" rtlCol="0" anchor="ctr"/>
          <a:lstStyle/>
          <a:p>
            <a:pPr indent="0" marL="0">
              <a:buNone/>
            </a:pPr>
            <a:r>
              <a:rPr lang="en-US" sz="900" i="1" dirty="0">
                <a:solidFill>
                  <a:srgbClr val="B23A48"/>
                </a:solidFill>
                <a:latin typeface="Calibri" pitchFamily="34" charset="0"/>
                <a:ea typeface="Calibri" pitchFamily="34" charset="-122"/>
                <a:cs typeface="Calibri" pitchFamily="34" charset="-120"/>
              </a:rPr>
              <a:t>→ Keeps the merged halves from tangling</a:t>
            </a:r>
            <a:endParaRPr lang="en-US" sz="900" dirty="0"/>
          </a:p>
        </p:txBody>
      </p:sp>
      <p:sp>
        <p:nvSpPr>
          <p:cNvPr id="35" name="Shape 33"/>
          <p:cNvSpPr/>
          <p:nvPr/>
        </p:nvSpPr>
        <p:spPr>
          <a:xfrm>
            <a:off x="6217920" y="3767328"/>
            <a:ext cx="5440680" cy="1005840"/>
          </a:xfrm>
          <a:prstGeom prst="roundRect">
            <a:avLst>
              <a:gd name="adj" fmla="val 6364"/>
            </a:avLst>
          </a:prstGeom>
          <a:solidFill>
            <a:srgbClr val="FFFFFF"/>
          </a:solidFill>
          <a:ln w="12700">
            <a:solidFill>
              <a:srgbClr val="DCE5EE"/>
            </a:solidFill>
            <a:prstDash val="solid"/>
          </a:ln>
        </p:spPr>
      </p:sp>
      <p:sp>
        <p:nvSpPr>
          <p:cNvPr id="36" name="Shape 34"/>
          <p:cNvSpPr/>
          <p:nvPr/>
        </p:nvSpPr>
        <p:spPr>
          <a:xfrm>
            <a:off x="6364224" y="3904488"/>
            <a:ext cx="310896" cy="310896"/>
          </a:xfrm>
          <a:prstGeom prst="ellipse">
            <a:avLst/>
          </a:prstGeom>
          <a:solidFill>
            <a:srgbClr val="1C7293"/>
          </a:solidFill>
          <a:ln/>
        </p:spPr>
      </p:sp>
      <p:sp>
        <p:nvSpPr>
          <p:cNvPr id="37" name="Text 35"/>
          <p:cNvSpPr txBox="1"/>
          <p:nvPr/>
        </p:nvSpPr>
        <p:spPr>
          <a:xfrm>
            <a:off x="6364224" y="390448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8" name="Text 36"/>
          <p:cNvSpPr txBox="1"/>
          <p:nvPr/>
        </p:nvSpPr>
        <p:spPr>
          <a:xfrm>
            <a:off x="6766560" y="3886200"/>
            <a:ext cx="4754880" cy="274320"/>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State in Postgres</a:t>
            </a:r>
            <a:endParaRPr lang="en-US" sz="1200" dirty="0"/>
          </a:p>
        </p:txBody>
      </p:sp>
      <p:sp>
        <p:nvSpPr>
          <p:cNvPr id="39" name="Text 37"/>
          <p:cNvSpPr txBox="1"/>
          <p:nvPr/>
        </p:nvSpPr>
        <p:spPr>
          <a:xfrm>
            <a:off x="6766560" y="4151376"/>
            <a:ext cx="4754880" cy="274320"/>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Redis caches hot turns only. Any worker picks up any turn.</a:t>
            </a:r>
            <a:endParaRPr lang="en-US" sz="950" dirty="0"/>
          </a:p>
        </p:txBody>
      </p:sp>
      <p:sp>
        <p:nvSpPr>
          <p:cNvPr id="40" name="Text 38"/>
          <p:cNvSpPr txBox="1"/>
          <p:nvPr/>
        </p:nvSpPr>
        <p:spPr>
          <a:xfrm>
            <a:off x="6766560" y="4425696"/>
            <a:ext cx="4754880" cy="274320"/>
          </a:xfrm>
          <a:prstGeom prst="rect">
            <a:avLst/>
          </a:prstGeom>
          <a:noFill/>
          <a:ln/>
        </p:spPr>
        <p:txBody>
          <a:bodyPr wrap="square" lIns="0" tIns="0" rIns="0" bIns="0" rtlCol="0" anchor="ctr"/>
          <a:lstStyle/>
          <a:p>
            <a:pPr indent="0" marL="0">
              <a:buNone/>
            </a:pPr>
            <a:r>
              <a:rPr lang="en-US" sz="900" i="1" dirty="0">
                <a:solidFill>
                  <a:srgbClr val="B23A48"/>
                </a:solidFill>
                <a:latin typeface="Calibri" pitchFamily="34" charset="0"/>
                <a:ea typeface="Calibri" pitchFamily="34" charset="-122"/>
                <a:cs typeface="Calibri" pitchFamily="34" charset="-120"/>
              </a:rPr>
              <a:t>→ Horizontal scaling becomes a config change</a:t>
            </a:r>
            <a:endParaRPr lang="en-US" sz="900" dirty="0"/>
          </a:p>
        </p:txBody>
      </p:sp>
      <p:sp>
        <p:nvSpPr>
          <p:cNvPr id="41" name="Shape 39"/>
          <p:cNvSpPr/>
          <p:nvPr/>
        </p:nvSpPr>
        <p:spPr>
          <a:xfrm>
            <a:off x="548640" y="4882896"/>
            <a:ext cx="5440680" cy="1005840"/>
          </a:xfrm>
          <a:prstGeom prst="roundRect">
            <a:avLst>
              <a:gd name="adj" fmla="val 6364"/>
            </a:avLst>
          </a:prstGeom>
          <a:solidFill>
            <a:srgbClr val="F4F7FA"/>
          </a:solidFill>
          <a:ln w="12700">
            <a:solidFill>
              <a:srgbClr val="DCE5EE"/>
            </a:solidFill>
            <a:prstDash val="solid"/>
          </a:ln>
        </p:spPr>
      </p:sp>
      <p:sp>
        <p:nvSpPr>
          <p:cNvPr id="42" name="Shape 40"/>
          <p:cNvSpPr/>
          <p:nvPr/>
        </p:nvSpPr>
        <p:spPr>
          <a:xfrm>
            <a:off x="694944" y="5020056"/>
            <a:ext cx="310896" cy="310896"/>
          </a:xfrm>
          <a:prstGeom prst="ellipse">
            <a:avLst/>
          </a:prstGeom>
          <a:solidFill>
            <a:srgbClr val="1C7293"/>
          </a:solidFill>
          <a:ln/>
        </p:spPr>
      </p:sp>
      <p:sp>
        <p:nvSpPr>
          <p:cNvPr id="43" name="Text 41"/>
          <p:cNvSpPr txBox="1"/>
          <p:nvPr/>
        </p:nvSpPr>
        <p:spPr>
          <a:xfrm>
            <a:off x="694944" y="502005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44" name="Text 42"/>
          <p:cNvSpPr txBox="1"/>
          <p:nvPr/>
        </p:nvSpPr>
        <p:spPr>
          <a:xfrm>
            <a:off x="1097280" y="5001768"/>
            <a:ext cx="4754880" cy="274320"/>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Idempotency everywhere</a:t>
            </a:r>
            <a:endParaRPr lang="en-US" sz="1200" dirty="0"/>
          </a:p>
        </p:txBody>
      </p:sp>
      <p:sp>
        <p:nvSpPr>
          <p:cNvPr id="45" name="Text 43"/>
          <p:cNvSpPr txBox="1"/>
          <p:nvPr/>
        </p:nvSpPr>
        <p:spPr>
          <a:xfrm>
            <a:off x="1097280" y="5266944"/>
            <a:ext cx="4754880" cy="274320"/>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Unique (tenant_id, provider_message_id). Dedupe key on every send.</a:t>
            </a:r>
            <a:endParaRPr lang="en-US" sz="950" dirty="0"/>
          </a:p>
        </p:txBody>
      </p:sp>
      <p:sp>
        <p:nvSpPr>
          <p:cNvPr id="46" name="Text 44"/>
          <p:cNvSpPr txBox="1"/>
          <p:nvPr/>
        </p:nvSpPr>
        <p:spPr>
          <a:xfrm>
            <a:off x="1097280" y="5541264"/>
            <a:ext cx="4754880" cy="274320"/>
          </a:xfrm>
          <a:prstGeom prst="rect">
            <a:avLst/>
          </a:prstGeom>
          <a:noFill/>
          <a:ln/>
        </p:spPr>
        <p:txBody>
          <a:bodyPr wrap="square" lIns="0" tIns="0" rIns="0" bIns="0" rtlCol="0" anchor="ctr"/>
          <a:lstStyle/>
          <a:p>
            <a:pPr indent="0" marL="0">
              <a:buNone/>
            </a:pPr>
            <a:r>
              <a:rPr lang="en-US" sz="900" i="1" dirty="0">
                <a:solidFill>
                  <a:srgbClr val="B23A48"/>
                </a:solidFill>
                <a:latin typeface="Calibri" pitchFamily="34" charset="0"/>
                <a:ea typeface="Calibri" pitchFamily="34" charset="-122"/>
                <a:cs typeface="Calibri" pitchFamily="34" charset="-120"/>
              </a:rPr>
              <a:t>→ A double-sent quotation is an account-losing bug</a:t>
            </a:r>
            <a:endParaRPr lang="en-US" sz="900" dirty="0"/>
          </a:p>
        </p:txBody>
      </p:sp>
      <p:sp>
        <p:nvSpPr>
          <p:cNvPr id="47" name="Shape 45"/>
          <p:cNvSpPr/>
          <p:nvPr/>
        </p:nvSpPr>
        <p:spPr>
          <a:xfrm>
            <a:off x="6217920" y="4882896"/>
            <a:ext cx="5440680" cy="1005840"/>
          </a:xfrm>
          <a:prstGeom prst="roundRect">
            <a:avLst>
              <a:gd name="adj" fmla="val 6364"/>
            </a:avLst>
          </a:prstGeom>
          <a:solidFill>
            <a:srgbClr val="F4F7FA"/>
          </a:solidFill>
          <a:ln w="12700">
            <a:solidFill>
              <a:srgbClr val="DCE5EE"/>
            </a:solidFill>
            <a:prstDash val="solid"/>
          </a:ln>
        </p:spPr>
      </p:sp>
      <p:sp>
        <p:nvSpPr>
          <p:cNvPr id="48" name="Shape 46"/>
          <p:cNvSpPr/>
          <p:nvPr/>
        </p:nvSpPr>
        <p:spPr>
          <a:xfrm>
            <a:off x="6364224" y="5020056"/>
            <a:ext cx="310896" cy="310896"/>
          </a:xfrm>
          <a:prstGeom prst="ellipse">
            <a:avLst/>
          </a:prstGeom>
          <a:solidFill>
            <a:srgbClr val="1C7293"/>
          </a:solidFill>
          <a:ln/>
        </p:spPr>
      </p:sp>
      <p:sp>
        <p:nvSpPr>
          <p:cNvPr id="49" name="Text 47"/>
          <p:cNvSpPr txBox="1"/>
          <p:nvPr/>
        </p:nvSpPr>
        <p:spPr>
          <a:xfrm>
            <a:off x="6364224" y="502005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50" name="Text 48"/>
          <p:cNvSpPr txBox="1"/>
          <p:nvPr/>
        </p:nvSpPr>
        <p:spPr>
          <a:xfrm>
            <a:off x="6766560" y="5001768"/>
            <a:ext cx="4754880" cy="274320"/>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Analytics off rollups</a:t>
            </a:r>
            <a:endParaRPr lang="en-US" sz="1200" dirty="0"/>
          </a:p>
        </p:txBody>
      </p:sp>
      <p:sp>
        <p:nvSpPr>
          <p:cNvPr id="51" name="Text 49"/>
          <p:cNvSpPr txBox="1"/>
          <p:nvPr/>
        </p:nvSpPr>
        <p:spPr>
          <a:xfrm>
            <a:off x="6766560" y="5266944"/>
            <a:ext cx="4754880" cy="274320"/>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Dashboard reads precomputed tables only.</a:t>
            </a:r>
            <a:endParaRPr lang="en-US" sz="950" dirty="0"/>
          </a:p>
        </p:txBody>
      </p:sp>
      <p:sp>
        <p:nvSpPr>
          <p:cNvPr id="52" name="Text 50"/>
          <p:cNvSpPr txBox="1"/>
          <p:nvPr/>
        </p:nvSpPr>
        <p:spPr>
          <a:xfrm>
            <a:off x="6766560" y="5541264"/>
            <a:ext cx="4754880" cy="274320"/>
          </a:xfrm>
          <a:prstGeom prst="rect">
            <a:avLst/>
          </a:prstGeom>
          <a:noFill/>
          <a:ln/>
        </p:spPr>
        <p:txBody>
          <a:bodyPr wrap="square" lIns="0" tIns="0" rIns="0" bIns="0" rtlCol="0" anchor="ctr"/>
          <a:lstStyle/>
          <a:p>
            <a:pPr indent="0" marL="0">
              <a:buNone/>
            </a:pPr>
            <a:r>
              <a:rPr lang="en-US" sz="900" i="1" dirty="0">
                <a:solidFill>
                  <a:srgbClr val="B23A48"/>
                </a:solidFill>
                <a:latin typeface="Calibri" pitchFamily="34" charset="0"/>
                <a:ea typeface="Calibri" pitchFamily="34" charset="-122"/>
                <a:cs typeface="Calibri" pitchFamily="34" charset="-120"/>
              </a:rPr>
              <a:t>→ Analytics must never slow live operations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MODULES</a:t>
            </a:r>
            <a:endParaRPr lang="en-US" sz="1050" dirty="0"/>
          </a:p>
        </p:txBody>
      </p:sp>
      <p:sp>
        <p:nvSpPr>
          <p:cNvPr id="3" name="Text 1"/>
          <p:cNvSpPr txBox="1"/>
          <p:nvPr/>
        </p:nvSpPr>
        <p:spPr>
          <a:xfrm>
            <a:off x="548640" y="512064"/>
            <a:ext cx="11064240" cy="566928"/>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Thirteen modules</a:t>
            </a:r>
            <a:endParaRPr lang="en-US" sz="2800" dirty="0"/>
          </a:p>
        </p:txBody>
      </p:sp>
      <p:sp>
        <p:nvSpPr>
          <p:cNvPr id="4" name="Shape 2"/>
          <p:cNvSpPr/>
          <p:nvPr/>
        </p:nvSpPr>
        <p:spPr>
          <a:xfrm>
            <a:off x="548640" y="1170432"/>
            <a:ext cx="11064240" cy="338328"/>
          </a:xfrm>
          <a:prstGeom prst="roundRect">
            <a:avLst>
              <a:gd name="adj" fmla="val 18919"/>
            </a:avLst>
          </a:prstGeom>
          <a:solidFill>
            <a:srgbClr val="FFFFFF"/>
          </a:solidFill>
          <a:ln/>
        </p:spPr>
      </p:sp>
      <p:sp>
        <p:nvSpPr>
          <p:cNvPr id="5" name="Shape 3"/>
          <p:cNvSpPr/>
          <p:nvPr/>
        </p:nvSpPr>
        <p:spPr>
          <a:xfrm>
            <a:off x="658368" y="1216152"/>
            <a:ext cx="246888" cy="246888"/>
          </a:xfrm>
          <a:prstGeom prst="ellipse">
            <a:avLst/>
          </a:prstGeom>
          <a:solidFill>
            <a:srgbClr val="065A82"/>
          </a:solidFill>
          <a:ln/>
        </p:spPr>
      </p:sp>
      <p:sp>
        <p:nvSpPr>
          <p:cNvPr id="6" name="Text 4"/>
          <p:cNvSpPr txBox="1"/>
          <p:nvPr/>
        </p:nvSpPr>
        <p:spPr>
          <a:xfrm>
            <a:off x="658368" y="1216152"/>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txBox="1"/>
          <p:nvPr/>
        </p:nvSpPr>
        <p:spPr>
          <a:xfrm>
            <a:off x="1005840" y="1197864"/>
            <a:ext cx="1737360" cy="28346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platform</a:t>
            </a:r>
            <a:endParaRPr lang="en-US" sz="1150" dirty="0"/>
          </a:p>
        </p:txBody>
      </p:sp>
      <p:sp>
        <p:nvSpPr>
          <p:cNvPr id="8" name="Text 6"/>
          <p:cNvSpPr txBox="1"/>
          <p:nvPr/>
        </p:nvSpPr>
        <p:spPr>
          <a:xfrm>
            <a:off x="2788920" y="1197864"/>
            <a:ext cx="7315200" cy="283464"/>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Tenancy, auth, roles, plans, usage metering, audit log</a:t>
            </a:r>
            <a:endParaRPr lang="en-US" sz="950" dirty="0"/>
          </a:p>
        </p:txBody>
      </p:sp>
      <p:sp>
        <p:nvSpPr>
          <p:cNvPr id="9" name="Text 7"/>
          <p:cNvSpPr txBox="1"/>
          <p:nvPr/>
        </p:nvSpPr>
        <p:spPr>
          <a:xfrm>
            <a:off x="10241280" y="1197864"/>
            <a:ext cx="1280160" cy="283464"/>
          </a:xfrm>
          <a:prstGeom prst="rect">
            <a:avLst/>
          </a:prstGeom>
          <a:noFill/>
          <a:ln/>
        </p:spPr>
        <p:txBody>
          <a:bodyPr wrap="square" lIns="0" tIns="0" rIns="0" bIns="0" rtlCol="0" anchor="ctr"/>
          <a:lstStyle/>
          <a:p>
            <a:pPr algn="r" indent="0" marL="0">
              <a:buNone/>
            </a:pPr>
            <a:r>
              <a:rPr lang="en-US" sz="900" b="1" dirty="0">
                <a:solidFill>
                  <a:srgbClr val="5A6B7B"/>
                </a:solidFill>
                <a:latin typeface="Calibri" pitchFamily="34" charset="0"/>
                <a:ea typeface="Calibri" pitchFamily="34" charset="-122"/>
                <a:cs typeface="Calibri" pitchFamily="34" charset="-120"/>
              </a:rPr>
              <a:t>Both</a:t>
            </a:r>
            <a:endParaRPr lang="en-US" sz="900" dirty="0"/>
          </a:p>
        </p:txBody>
      </p:sp>
      <p:sp>
        <p:nvSpPr>
          <p:cNvPr id="10" name="Shape 8"/>
          <p:cNvSpPr/>
          <p:nvPr/>
        </p:nvSpPr>
        <p:spPr>
          <a:xfrm>
            <a:off x="548640" y="1554480"/>
            <a:ext cx="11064240" cy="338328"/>
          </a:xfrm>
          <a:prstGeom prst="roundRect">
            <a:avLst>
              <a:gd name="adj" fmla="val 18919"/>
            </a:avLst>
          </a:prstGeom>
          <a:solidFill>
            <a:srgbClr val="F4F7FA"/>
          </a:solidFill>
          <a:ln/>
        </p:spPr>
      </p:sp>
      <p:sp>
        <p:nvSpPr>
          <p:cNvPr id="11" name="Shape 9"/>
          <p:cNvSpPr/>
          <p:nvPr/>
        </p:nvSpPr>
        <p:spPr>
          <a:xfrm>
            <a:off x="658368" y="1600200"/>
            <a:ext cx="246888" cy="246888"/>
          </a:xfrm>
          <a:prstGeom prst="ellipse">
            <a:avLst/>
          </a:prstGeom>
          <a:solidFill>
            <a:srgbClr val="065A82"/>
          </a:solidFill>
          <a:ln/>
        </p:spPr>
      </p:sp>
      <p:sp>
        <p:nvSpPr>
          <p:cNvPr id="12" name="Text 10"/>
          <p:cNvSpPr txBox="1"/>
          <p:nvPr/>
        </p:nvSpPr>
        <p:spPr>
          <a:xfrm>
            <a:off x="658368" y="1600200"/>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1"/>
          <p:cNvSpPr txBox="1"/>
          <p:nvPr/>
        </p:nvSpPr>
        <p:spPr>
          <a:xfrm>
            <a:off x="1005840" y="1581912"/>
            <a:ext cx="1737360" cy="28346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channels</a:t>
            </a:r>
            <a:endParaRPr lang="en-US" sz="1150" dirty="0"/>
          </a:p>
        </p:txBody>
      </p:sp>
      <p:sp>
        <p:nvSpPr>
          <p:cNvPr id="14" name="Text 12"/>
          <p:cNvSpPr txBox="1"/>
          <p:nvPr/>
        </p:nvSpPr>
        <p:spPr>
          <a:xfrm>
            <a:off x="2788920" y="1581912"/>
            <a:ext cx="7315200" cy="283464"/>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Provider adapters, inbound normalisation, outbound dispatcher with dedupe + DLQ</a:t>
            </a:r>
            <a:endParaRPr lang="en-US" sz="950" dirty="0"/>
          </a:p>
        </p:txBody>
      </p:sp>
      <p:sp>
        <p:nvSpPr>
          <p:cNvPr id="15" name="Text 13"/>
          <p:cNvSpPr txBox="1"/>
          <p:nvPr/>
        </p:nvSpPr>
        <p:spPr>
          <a:xfrm>
            <a:off x="10241280" y="1581912"/>
            <a:ext cx="1280160" cy="283464"/>
          </a:xfrm>
          <a:prstGeom prst="rect">
            <a:avLst/>
          </a:prstGeom>
          <a:noFill/>
          <a:ln/>
        </p:spPr>
        <p:txBody>
          <a:bodyPr wrap="square" lIns="0" tIns="0" rIns="0" bIns="0" rtlCol="0" anchor="ctr"/>
          <a:lstStyle/>
          <a:p>
            <a:pPr algn="r" indent="0" marL="0">
              <a:buNone/>
            </a:pPr>
            <a:r>
              <a:rPr lang="en-US" sz="900" b="1" dirty="0">
                <a:solidFill>
                  <a:srgbClr val="5A6B7B"/>
                </a:solidFill>
                <a:latin typeface="Calibri" pitchFamily="34" charset="0"/>
                <a:ea typeface="Calibri" pitchFamily="34" charset="-122"/>
                <a:cs typeface="Calibri" pitchFamily="34" charset="-120"/>
              </a:rPr>
              <a:t>Both</a:t>
            </a:r>
            <a:endParaRPr lang="en-US" sz="900" dirty="0"/>
          </a:p>
        </p:txBody>
      </p:sp>
      <p:sp>
        <p:nvSpPr>
          <p:cNvPr id="16" name="Shape 14"/>
          <p:cNvSpPr/>
          <p:nvPr/>
        </p:nvSpPr>
        <p:spPr>
          <a:xfrm>
            <a:off x="548640" y="1938528"/>
            <a:ext cx="11064240" cy="338328"/>
          </a:xfrm>
          <a:prstGeom prst="roundRect">
            <a:avLst>
              <a:gd name="adj" fmla="val 18919"/>
            </a:avLst>
          </a:prstGeom>
          <a:solidFill>
            <a:srgbClr val="FFFFFF"/>
          </a:solidFill>
          <a:ln/>
        </p:spPr>
      </p:sp>
      <p:sp>
        <p:nvSpPr>
          <p:cNvPr id="17" name="Shape 15"/>
          <p:cNvSpPr/>
          <p:nvPr/>
        </p:nvSpPr>
        <p:spPr>
          <a:xfrm>
            <a:off x="658368" y="1984248"/>
            <a:ext cx="246888" cy="246888"/>
          </a:xfrm>
          <a:prstGeom prst="ellipse">
            <a:avLst/>
          </a:prstGeom>
          <a:solidFill>
            <a:srgbClr val="065A82"/>
          </a:solidFill>
          <a:ln/>
        </p:spPr>
      </p:sp>
      <p:sp>
        <p:nvSpPr>
          <p:cNvPr id="18" name="Text 16"/>
          <p:cNvSpPr txBox="1"/>
          <p:nvPr/>
        </p:nvSpPr>
        <p:spPr>
          <a:xfrm>
            <a:off x="658368" y="1984248"/>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9" name="Text 17"/>
          <p:cNvSpPr txBox="1"/>
          <p:nvPr/>
        </p:nvSpPr>
        <p:spPr>
          <a:xfrm>
            <a:off x="1005840" y="1965960"/>
            <a:ext cx="1737360" cy="28346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conversations</a:t>
            </a:r>
            <a:endParaRPr lang="en-US" sz="1150" dirty="0"/>
          </a:p>
        </p:txBody>
      </p:sp>
      <p:sp>
        <p:nvSpPr>
          <p:cNvPr id="20" name="Text 18"/>
          <p:cNvSpPr txBox="1"/>
          <p:nvPr/>
        </p:nvSpPr>
        <p:spPr>
          <a:xfrm>
            <a:off x="2788920" y="1965960"/>
            <a:ext cx="7315200" cy="283464"/>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Turn router, intent, extraction, sentiment for routing, human handoff</a:t>
            </a:r>
            <a:endParaRPr lang="en-US" sz="950" dirty="0"/>
          </a:p>
        </p:txBody>
      </p:sp>
      <p:sp>
        <p:nvSpPr>
          <p:cNvPr id="21" name="Text 19"/>
          <p:cNvSpPr txBox="1"/>
          <p:nvPr/>
        </p:nvSpPr>
        <p:spPr>
          <a:xfrm>
            <a:off x="10241280" y="1965960"/>
            <a:ext cx="1280160" cy="283464"/>
          </a:xfrm>
          <a:prstGeom prst="rect">
            <a:avLst/>
          </a:prstGeom>
          <a:noFill/>
          <a:ln/>
        </p:spPr>
        <p:txBody>
          <a:bodyPr wrap="square" lIns="0" tIns="0" rIns="0" bIns="0" rtlCol="0" anchor="ctr"/>
          <a:lstStyle/>
          <a:p>
            <a:pPr algn="r" indent="0" marL="0">
              <a:buNone/>
            </a:pPr>
            <a:r>
              <a:rPr lang="en-US" sz="900" b="1" dirty="0">
                <a:solidFill>
                  <a:srgbClr val="5A6B7B"/>
                </a:solidFill>
                <a:latin typeface="Calibri" pitchFamily="34" charset="0"/>
                <a:ea typeface="Calibri" pitchFamily="34" charset="-122"/>
                <a:cs typeface="Calibri" pitchFamily="34" charset="-120"/>
              </a:rPr>
              <a:t>Both</a:t>
            </a:r>
            <a:endParaRPr lang="en-US" sz="900" dirty="0"/>
          </a:p>
        </p:txBody>
      </p:sp>
      <p:sp>
        <p:nvSpPr>
          <p:cNvPr id="22" name="Shape 20"/>
          <p:cNvSpPr/>
          <p:nvPr/>
        </p:nvSpPr>
        <p:spPr>
          <a:xfrm>
            <a:off x="548640" y="2322576"/>
            <a:ext cx="11064240" cy="338328"/>
          </a:xfrm>
          <a:prstGeom prst="roundRect">
            <a:avLst>
              <a:gd name="adj" fmla="val 18919"/>
            </a:avLst>
          </a:prstGeom>
          <a:solidFill>
            <a:srgbClr val="F4F7FA"/>
          </a:solidFill>
          <a:ln/>
        </p:spPr>
      </p:sp>
      <p:sp>
        <p:nvSpPr>
          <p:cNvPr id="23" name="Shape 21"/>
          <p:cNvSpPr/>
          <p:nvPr/>
        </p:nvSpPr>
        <p:spPr>
          <a:xfrm>
            <a:off x="658368" y="2368296"/>
            <a:ext cx="246888" cy="246888"/>
          </a:xfrm>
          <a:prstGeom prst="ellipse">
            <a:avLst/>
          </a:prstGeom>
          <a:solidFill>
            <a:srgbClr val="1C7293"/>
          </a:solidFill>
          <a:ln/>
        </p:spPr>
      </p:sp>
      <p:sp>
        <p:nvSpPr>
          <p:cNvPr id="24" name="Text 22"/>
          <p:cNvSpPr txBox="1"/>
          <p:nvPr/>
        </p:nvSpPr>
        <p:spPr>
          <a:xfrm>
            <a:off x="658368" y="2368296"/>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5" name="Text 23"/>
          <p:cNvSpPr txBox="1"/>
          <p:nvPr/>
        </p:nvSpPr>
        <p:spPr>
          <a:xfrm>
            <a:off x="1005840" y="2350008"/>
            <a:ext cx="1737360" cy="28346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business</a:t>
            </a:r>
            <a:endParaRPr lang="en-US" sz="1150" dirty="0"/>
          </a:p>
        </p:txBody>
      </p:sp>
      <p:sp>
        <p:nvSpPr>
          <p:cNvPr id="26" name="Text 24"/>
          <p:cNvSpPr txBox="1"/>
          <p:nvPr/>
        </p:nvSpPr>
        <p:spPr>
          <a:xfrm>
            <a:off x="2788920" y="2350008"/>
            <a:ext cx="7315200" cy="283464"/>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Services, pricing rules, areas, parts, crews - tenant config as data</a:t>
            </a:r>
            <a:endParaRPr lang="en-US" sz="950" dirty="0"/>
          </a:p>
        </p:txBody>
      </p:sp>
      <p:sp>
        <p:nvSpPr>
          <p:cNvPr id="27" name="Text 25"/>
          <p:cNvSpPr txBox="1"/>
          <p:nvPr/>
        </p:nvSpPr>
        <p:spPr>
          <a:xfrm>
            <a:off x="10241280" y="2350008"/>
            <a:ext cx="1280160" cy="283464"/>
          </a:xfrm>
          <a:prstGeom prst="rect">
            <a:avLst/>
          </a:prstGeom>
          <a:noFill/>
          <a:ln/>
        </p:spPr>
        <p:txBody>
          <a:bodyPr wrap="square" lIns="0" tIns="0" rIns="0" bIns="0" rtlCol="0" anchor="ctr"/>
          <a:lstStyle/>
          <a:p>
            <a:pPr algn="r" indent="0" marL="0">
              <a:buNone/>
            </a:pPr>
            <a:r>
              <a:rPr lang="en-US" sz="900" b="1" dirty="0">
                <a:solidFill>
                  <a:srgbClr val="2E8B57"/>
                </a:solidFill>
                <a:latin typeface="Calibri" pitchFamily="34" charset="0"/>
                <a:ea typeface="Calibri" pitchFamily="34" charset="-122"/>
                <a:cs typeface="Calibri" pitchFamily="34" charset="-120"/>
              </a:rPr>
              <a:t>Service</a:t>
            </a:r>
            <a:endParaRPr lang="en-US" sz="900" dirty="0"/>
          </a:p>
        </p:txBody>
      </p:sp>
      <p:sp>
        <p:nvSpPr>
          <p:cNvPr id="28" name="Shape 26"/>
          <p:cNvSpPr/>
          <p:nvPr/>
        </p:nvSpPr>
        <p:spPr>
          <a:xfrm>
            <a:off x="548640" y="2706624"/>
            <a:ext cx="11064240" cy="338328"/>
          </a:xfrm>
          <a:prstGeom prst="roundRect">
            <a:avLst>
              <a:gd name="adj" fmla="val 18919"/>
            </a:avLst>
          </a:prstGeom>
          <a:solidFill>
            <a:srgbClr val="FFFFFF"/>
          </a:solidFill>
          <a:ln/>
        </p:spPr>
      </p:sp>
      <p:sp>
        <p:nvSpPr>
          <p:cNvPr id="29" name="Shape 27"/>
          <p:cNvSpPr/>
          <p:nvPr/>
        </p:nvSpPr>
        <p:spPr>
          <a:xfrm>
            <a:off x="658368" y="2752344"/>
            <a:ext cx="246888" cy="246888"/>
          </a:xfrm>
          <a:prstGeom prst="ellipse">
            <a:avLst/>
          </a:prstGeom>
          <a:solidFill>
            <a:srgbClr val="F2A104"/>
          </a:solidFill>
          <a:ln/>
        </p:spPr>
      </p:sp>
      <p:sp>
        <p:nvSpPr>
          <p:cNvPr id="30" name="Text 28"/>
          <p:cNvSpPr txBox="1"/>
          <p:nvPr/>
        </p:nvSpPr>
        <p:spPr>
          <a:xfrm>
            <a:off x="658368" y="2752344"/>
            <a:ext cx="246888" cy="246888"/>
          </a:xfrm>
          <a:prstGeom prst="rect">
            <a:avLst/>
          </a:prstGeom>
          <a:noFill/>
          <a:ln/>
        </p:spPr>
        <p:txBody>
          <a:bodyPr wrap="square" lIns="0" tIns="0" rIns="0" bIns="0" rtlCol="0" anchor="ctr"/>
          <a:lstStyle/>
          <a:p>
            <a:pPr algn="ctr" indent="0" marL="0">
              <a:buNone/>
            </a:pPr>
            <a:r>
              <a:rPr lang="en-US" sz="1000" b="1" dirty="0">
                <a:solidFill>
                  <a:srgbClr val="1A2733"/>
                </a:solidFill>
                <a:latin typeface="Calibri" pitchFamily="34" charset="0"/>
                <a:ea typeface="Calibri" pitchFamily="34" charset="-122"/>
                <a:cs typeface="Calibri" pitchFamily="34" charset="-120"/>
              </a:rPr>
              <a:t>5</a:t>
            </a:r>
            <a:endParaRPr lang="en-US" sz="1000" dirty="0"/>
          </a:p>
        </p:txBody>
      </p:sp>
      <p:sp>
        <p:nvSpPr>
          <p:cNvPr id="31" name="Text 29"/>
          <p:cNvSpPr txBox="1"/>
          <p:nvPr/>
        </p:nvSpPr>
        <p:spPr>
          <a:xfrm>
            <a:off x="1005840" y="2734056"/>
            <a:ext cx="1737360" cy="28346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catalog</a:t>
            </a:r>
            <a:endParaRPr lang="en-US" sz="1150" dirty="0"/>
          </a:p>
        </p:txBody>
      </p:sp>
      <p:sp>
        <p:nvSpPr>
          <p:cNvPr id="32" name="Text 30"/>
          <p:cNvSpPr txBox="1"/>
          <p:nvPr/>
        </p:nvSpPr>
        <p:spPr>
          <a:xfrm>
            <a:off x="2788920" y="2734056"/>
            <a:ext cx="7315200" cy="283464"/>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Catalogue ingestion behind one port; sync, reconciliation, search index</a:t>
            </a:r>
            <a:endParaRPr lang="en-US" sz="950" dirty="0"/>
          </a:p>
        </p:txBody>
      </p:sp>
      <p:sp>
        <p:nvSpPr>
          <p:cNvPr id="33" name="Text 31"/>
          <p:cNvSpPr txBox="1"/>
          <p:nvPr/>
        </p:nvSpPr>
        <p:spPr>
          <a:xfrm>
            <a:off x="10241280" y="2734056"/>
            <a:ext cx="1280160" cy="283464"/>
          </a:xfrm>
          <a:prstGeom prst="rect">
            <a:avLst/>
          </a:prstGeom>
          <a:noFill/>
          <a:ln/>
        </p:spPr>
        <p:txBody>
          <a:bodyPr wrap="square" lIns="0" tIns="0" rIns="0" bIns="0" rtlCol="0" anchor="ctr"/>
          <a:lstStyle/>
          <a:p>
            <a:pPr algn="r" indent="0" marL="0">
              <a:buNone/>
            </a:pPr>
            <a:r>
              <a:rPr lang="en-US" sz="900" b="1" dirty="0">
                <a:solidFill>
                  <a:srgbClr val="1C7293"/>
                </a:solidFill>
                <a:latin typeface="Calibri" pitchFamily="34" charset="0"/>
                <a:ea typeface="Calibri" pitchFamily="34" charset="-122"/>
                <a:cs typeface="Calibri" pitchFamily="34" charset="-120"/>
              </a:rPr>
              <a:t>Product</a:t>
            </a:r>
            <a:endParaRPr lang="en-US" sz="900" dirty="0"/>
          </a:p>
        </p:txBody>
      </p:sp>
      <p:sp>
        <p:nvSpPr>
          <p:cNvPr id="34" name="Shape 32"/>
          <p:cNvSpPr/>
          <p:nvPr/>
        </p:nvSpPr>
        <p:spPr>
          <a:xfrm>
            <a:off x="548640" y="3090672"/>
            <a:ext cx="11064240" cy="338328"/>
          </a:xfrm>
          <a:prstGeom prst="roundRect">
            <a:avLst>
              <a:gd name="adj" fmla="val 18919"/>
            </a:avLst>
          </a:prstGeom>
          <a:solidFill>
            <a:srgbClr val="F4F7FA"/>
          </a:solidFill>
          <a:ln/>
        </p:spPr>
      </p:sp>
      <p:sp>
        <p:nvSpPr>
          <p:cNvPr id="35" name="Shape 33"/>
          <p:cNvSpPr/>
          <p:nvPr/>
        </p:nvSpPr>
        <p:spPr>
          <a:xfrm>
            <a:off x="658368" y="3136392"/>
            <a:ext cx="246888" cy="246888"/>
          </a:xfrm>
          <a:prstGeom prst="ellipse">
            <a:avLst/>
          </a:prstGeom>
          <a:solidFill>
            <a:srgbClr val="065A82"/>
          </a:solidFill>
          <a:ln/>
        </p:spPr>
      </p:sp>
      <p:sp>
        <p:nvSpPr>
          <p:cNvPr id="36" name="Text 34"/>
          <p:cNvSpPr txBox="1"/>
          <p:nvPr/>
        </p:nvSpPr>
        <p:spPr>
          <a:xfrm>
            <a:off x="658368" y="3136392"/>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7" name="Text 35"/>
          <p:cNvSpPr txBox="1"/>
          <p:nvPr/>
        </p:nvSpPr>
        <p:spPr>
          <a:xfrm>
            <a:off x="1005840" y="3118104"/>
            <a:ext cx="1737360" cy="28346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contacts</a:t>
            </a:r>
            <a:endParaRPr lang="en-US" sz="1150" dirty="0"/>
          </a:p>
        </p:txBody>
      </p:sp>
      <p:sp>
        <p:nvSpPr>
          <p:cNvPr id="38" name="Text 36"/>
          <p:cNvSpPr txBox="1"/>
          <p:nvPr/>
        </p:nvSpPr>
        <p:spPr>
          <a:xfrm>
            <a:off x="2788920" y="3118104"/>
            <a:ext cx="7315200" cy="283464"/>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The unified lead-and-customer record, scoring, derived metrics</a:t>
            </a:r>
            <a:endParaRPr lang="en-US" sz="950" dirty="0"/>
          </a:p>
        </p:txBody>
      </p:sp>
      <p:sp>
        <p:nvSpPr>
          <p:cNvPr id="39" name="Text 37"/>
          <p:cNvSpPr txBox="1"/>
          <p:nvPr/>
        </p:nvSpPr>
        <p:spPr>
          <a:xfrm>
            <a:off x="10241280" y="3118104"/>
            <a:ext cx="1280160" cy="283464"/>
          </a:xfrm>
          <a:prstGeom prst="rect">
            <a:avLst/>
          </a:prstGeom>
          <a:noFill/>
          <a:ln/>
        </p:spPr>
        <p:txBody>
          <a:bodyPr wrap="square" lIns="0" tIns="0" rIns="0" bIns="0" rtlCol="0" anchor="ctr"/>
          <a:lstStyle/>
          <a:p>
            <a:pPr algn="r" indent="0" marL="0">
              <a:buNone/>
            </a:pPr>
            <a:r>
              <a:rPr lang="en-US" sz="900" b="1" dirty="0">
                <a:solidFill>
                  <a:srgbClr val="5A6B7B"/>
                </a:solidFill>
                <a:latin typeface="Calibri" pitchFamily="34" charset="0"/>
                <a:ea typeface="Calibri" pitchFamily="34" charset="-122"/>
                <a:cs typeface="Calibri" pitchFamily="34" charset="-120"/>
              </a:rPr>
              <a:t>Both</a:t>
            </a:r>
            <a:endParaRPr lang="en-US" sz="900" dirty="0"/>
          </a:p>
        </p:txBody>
      </p:sp>
      <p:sp>
        <p:nvSpPr>
          <p:cNvPr id="40" name="Shape 38"/>
          <p:cNvSpPr/>
          <p:nvPr/>
        </p:nvSpPr>
        <p:spPr>
          <a:xfrm>
            <a:off x="548640" y="3474720"/>
            <a:ext cx="11064240" cy="338328"/>
          </a:xfrm>
          <a:prstGeom prst="roundRect">
            <a:avLst>
              <a:gd name="adj" fmla="val 18919"/>
            </a:avLst>
          </a:prstGeom>
          <a:solidFill>
            <a:srgbClr val="FFFFFF"/>
          </a:solidFill>
          <a:ln/>
        </p:spPr>
      </p:sp>
      <p:sp>
        <p:nvSpPr>
          <p:cNvPr id="41" name="Shape 39"/>
          <p:cNvSpPr/>
          <p:nvPr/>
        </p:nvSpPr>
        <p:spPr>
          <a:xfrm>
            <a:off x="658368" y="3520440"/>
            <a:ext cx="246888" cy="246888"/>
          </a:xfrm>
          <a:prstGeom prst="ellipse">
            <a:avLst/>
          </a:prstGeom>
          <a:solidFill>
            <a:srgbClr val="F2A104"/>
          </a:solidFill>
          <a:ln/>
        </p:spPr>
      </p:sp>
      <p:sp>
        <p:nvSpPr>
          <p:cNvPr id="42" name="Text 40"/>
          <p:cNvSpPr txBox="1"/>
          <p:nvPr/>
        </p:nvSpPr>
        <p:spPr>
          <a:xfrm>
            <a:off x="658368" y="3520440"/>
            <a:ext cx="246888" cy="246888"/>
          </a:xfrm>
          <a:prstGeom prst="rect">
            <a:avLst/>
          </a:prstGeom>
          <a:noFill/>
          <a:ln/>
        </p:spPr>
        <p:txBody>
          <a:bodyPr wrap="square" lIns="0" tIns="0" rIns="0" bIns="0" rtlCol="0" anchor="ctr"/>
          <a:lstStyle/>
          <a:p>
            <a:pPr algn="ctr" indent="0" marL="0">
              <a:buNone/>
            </a:pPr>
            <a:r>
              <a:rPr lang="en-US" sz="1000" b="1" dirty="0">
                <a:solidFill>
                  <a:srgbClr val="1A2733"/>
                </a:solidFill>
                <a:latin typeface="Calibri" pitchFamily="34" charset="0"/>
                <a:ea typeface="Calibri" pitchFamily="34" charset="-122"/>
                <a:cs typeface="Calibri" pitchFamily="34" charset="-120"/>
              </a:rPr>
              <a:t>7</a:t>
            </a:r>
            <a:endParaRPr lang="en-US" sz="1000" dirty="0"/>
          </a:p>
        </p:txBody>
      </p:sp>
      <p:sp>
        <p:nvSpPr>
          <p:cNvPr id="43" name="Text 41"/>
          <p:cNvSpPr txBox="1"/>
          <p:nvPr/>
        </p:nvSpPr>
        <p:spPr>
          <a:xfrm>
            <a:off x="1005840" y="3502152"/>
            <a:ext cx="1737360" cy="28346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feasibility</a:t>
            </a:r>
            <a:endParaRPr lang="en-US" sz="1150" dirty="0"/>
          </a:p>
        </p:txBody>
      </p:sp>
      <p:sp>
        <p:nvSpPr>
          <p:cNvPr id="44" name="Text 42"/>
          <p:cNvSpPr txBox="1"/>
          <p:nvPr/>
        </p:nvSpPr>
        <p:spPr>
          <a:xfrm>
            <a:off x="2788920" y="3502152"/>
            <a:ext cx="7315200" cy="283464"/>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Service · area · parts · crew · size. Deterministic. ZERO LLM.</a:t>
            </a:r>
            <a:endParaRPr lang="en-US" sz="950" dirty="0"/>
          </a:p>
        </p:txBody>
      </p:sp>
      <p:sp>
        <p:nvSpPr>
          <p:cNvPr id="45" name="Text 43"/>
          <p:cNvSpPr txBox="1"/>
          <p:nvPr/>
        </p:nvSpPr>
        <p:spPr>
          <a:xfrm>
            <a:off x="10241280" y="3502152"/>
            <a:ext cx="1280160" cy="283464"/>
          </a:xfrm>
          <a:prstGeom prst="rect">
            <a:avLst/>
          </a:prstGeom>
          <a:noFill/>
          <a:ln/>
        </p:spPr>
        <p:txBody>
          <a:bodyPr wrap="square" lIns="0" tIns="0" rIns="0" bIns="0" rtlCol="0" anchor="ctr"/>
          <a:lstStyle/>
          <a:p>
            <a:pPr algn="r" indent="0" marL="0">
              <a:buNone/>
            </a:pPr>
            <a:r>
              <a:rPr lang="en-US" sz="900" b="1" dirty="0">
                <a:solidFill>
                  <a:srgbClr val="2E8B57"/>
                </a:solidFill>
                <a:latin typeface="Calibri" pitchFamily="34" charset="0"/>
                <a:ea typeface="Calibri" pitchFamily="34" charset="-122"/>
                <a:cs typeface="Calibri" pitchFamily="34" charset="-120"/>
              </a:rPr>
              <a:t>Service</a:t>
            </a:r>
            <a:endParaRPr lang="en-US" sz="900" dirty="0"/>
          </a:p>
        </p:txBody>
      </p:sp>
      <p:sp>
        <p:nvSpPr>
          <p:cNvPr id="46" name="Shape 44"/>
          <p:cNvSpPr/>
          <p:nvPr/>
        </p:nvSpPr>
        <p:spPr>
          <a:xfrm>
            <a:off x="548640" y="3858768"/>
            <a:ext cx="11064240" cy="338328"/>
          </a:xfrm>
          <a:prstGeom prst="roundRect">
            <a:avLst>
              <a:gd name="adj" fmla="val 18919"/>
            </a:avLst>
          </a:prstGeom>
          <a:solidFill>
            <a:srgbClr val="F4F7FA"/>
          </a:solidFill>
          <a:ln/>
        </p:spPr>
      </p:sp>
      <p:sp>
        <p:nvSpPr>
          <p:cNvPr id="47" name="Shape 45"/>
          <p:cNvSpPr/>
          <p:nvPr/>
        </p:nvSpPr>
        <p:spPr>
          <a:xfrm>
            <a:off x="658368" y="3904488"/>
            <a:ext cx="246888" cy="246888"/>
          </a:xfrm>
          <a:prstGeom prst="ellipse">
            <a:avLst/>
          </a:prstGeom>
          <a:solidFill>
            <a:srgbClr val="1C7293"/>
          </a:solidFill>
          <a:ln/>
        </p:spPr>
      </p:sp>
      <p:sp>
        <p:nvSpPr>
          <p:cNvPr id="48" name="Text 46"/>
          <p:cNvSpPr txBox="1"/>
          <p:nvPr/>
        </p:nvSpPr>
        <p:spPr>
          <a:xfrm>
            <a:off x="658368" y="3904488"/>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49" name="Text 47"/>
          <p:cNvSpPr txBox="1"/>
          <p:nvPr/>
        </p:nvSpPr>
        <p:spPr>
          <a:xfrm>
            <a:off x="1005840" y="3886200"/>
            <a:ext cx="1737360" cy="28346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quotations</a:t>
            </a:r>
            <a:endParaRPr lang="en-US" sz="1150" dirty="0"/>
          </a:p>
        </p:txBody>
      </p:sp>
      <p:sp>
        <p:nvSpPr>
          <p:cNvPr id="50" name="Text 48"/>
          <p:cNvSpPr txBox="1"/>
          <p:nvPr/>
        </p:nvSpPr>
        <p:spPr>
          <a:xfrm>
            <a:off x="2788920" y="3886200"/>
            <a:ext cx="7315200" cy="283464"/>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Deterministic pricing, LLM narrative, approval workflow, PDF</a:t>
            </a:r>
            <a:endParaRPr lang="en-US" sz="950" dirty="0"/>
          </a:p>
        </p:txBody>
      </p:sp>
      <p:sp>
        <p:nvSpPr>
          <p:cNvPr id="51" name="Text 49"/>
          <p:cNvSpPr txBox="1"/>
          <p:nvPr/>
        </p:nvSpPr>
        <p:spPr>
          <a:xfrm>
            <a:off x="10241280" y="3886200"/>
            <a:ext cx="1280160" cy="283464"/>
          </a:xfrm>
          <a:prstGeom prst="rect">
            <a:avLst/>
          </a:prstGeom>
          <a:noFill/>
          <a:ln/>
        </p:spPr>
        <p:txBody>
          <a:bodyPr wrap="square" lIns="0" tIns="0" rIns="0" bIns="0" rtlCol="0" anchor="ctr"/>
          <a:lstStyle/>
          <a:p>
            <a:pPr algn="r" indent="0" marL="0">
              <a:buNone/>
            </a:pPr>
            <a:r>
              <a:rPr lang="en-US" sz="900" b="1" dirty="0">
                <a:solidFill>
                  <a:srgbClr val="2E8B57"/>
                </a:solidFill>
                <a:latin typeface="Calibri" pitchFamily="34" charset="0"/>
                <a:ea typeface="Calibri" pitchFamily="34" charset="-122"/>
                <a:cs typeface="Calibri" pitchFamily="34" charset="-120"/>
              </a:rPr>
              <a:t>Service</a:t>
            </a:r>
            <a:endParaRPr lang="en-US" sz="900" dirty="0"/>
          </a:p>
        </p:txBody>
      </p:sp>
      <p:sp>
        <p:nvSpPr>
          <p:cNvPr id="52" name="Shape 50"/>
          <p:cNvSpPr/>
          <p:nvPr/>
        </p:nvSpPr>
        <p:spPr>
          <a:xfrm>
            <a:off x="548640" y="4242816"/>
            <a:ext cx="11064240" cy="338328"/>
          </a:xfrm>
          <a:prstGeom prst="roundRect">
            <a:avLst>
              <a:gd name="adj" fmla="val 18919"/>
            </a:avLst>
          </a:prstGeom>
          <a:solidFill>
            <a:srgbClr val="FFFFFF"/>
          </a:solidFill>
          <a:ln/>
        </p:spPr>
      </p:sp>
      <p:sp>
        <p:nvSpPr>
          <p:cNvPr id="53" name="Shape 51"/>
          <p:cNvSpPr/>
          <p:nvPr/>
        </p:nvSpPr>
        <p:spPr>
          <a:xfrm>
            <a:off x="658368" y="4288536"/>
            <a:ext cx="246888" cy="246888"/>
          </a:xfrm>
          <a:prstGeom prst="ellipse">
            <a:avLst/>
          </a:prstGeom>
          <a:solidFill>
            <a:srgbClr val="1C7293"/>
          </a:solidFill>
          <a:ln/>
        </p:spPr>
      </p:sp>
      <p:sp>
        <p:nvSpPr>
          <p:cNvPr id="54" name="Text 52"/>
          <p:cNvSpPr txBox="1"/>
          <p:nvPr/>
        </p:nvSpPr>
        <p:spPr>
          <a:xfrm>
            <a:off x="658368" y="4288536"/>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55" name="Text 53"/>
          <p:cNvSpPr txBox="1"/>
          <p:nvPr/>
        </p:nvSpPr>
        <p:spPr>
          <a:xfrm>
            <a:off x="1005840" y="4270248"/>
            <a:ext cx="1737360" cy="28346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orders</a:t>
            </a:r>
            <a:endParaRPr lang="en-US" sz="1150" dirty="0"/>
          </a:p>
        </p:txBody>
      </p:sp>
      <p:sp>
        <p:nvSpPr>
          <p:cNvPr id="56" name="Text 54"/>
          <p:cNvSpPr txBox="1"/>
          <p:nvPr/>
        </p:nvSpPr>
        <p:spPr>
          <a:xfrm>
            <a:off x="2788920" y="4270248"/>
            <a:ext cx="7315200" cy="283464"/>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Cart, order placement, fulfilment, delivery, cancellation, refunds</a:t>
            </a:r>
            <a:endParaRPr lang="en-US" sz="950" dirty="0"/>
          </a:p>
        </p:txBody>
      </p:sp>
      <p:sp>
        <p:nvSpPr>
          <p:cNvPr id="57" name="Text 55"/>
          <p:cNvSpPr txBox="1"/>
          <p:nvPr/>
        </p:nvSpPr>
        <p:spPr>
          <a:xfrm>
            <a:off x="10241280" y="4270248"/>
            <a:ext cx="1280160" cy="283464"/>
          </a:xfrm>
          <a:prstGeom prst="rect">
            <a:avLst/>
          </a:prstGeom>
          <a:noFill/>
          <a:ln/>
        </p:spPr>
        <p:txBody>
          <a:bodyPr wrap="square" lIns="0" tIns="0" rIns="0" bIns="0" rtlCol="0" anchor="ctr"/>
          <a:lstStyle/>
          <a:p>
            <a:pPr algn="r" indent="0" marL="0">
              <a:buNone/>
            </a:pPr>
            <a:r>
              <a:rPr lang="en-US" sz="900" b="1" dirty="0">
                <a:solidFill>
                  <a:srgbClr val="1C7293"/>
                </a:solidFill>
                <a:latin typeface="Calibri" pitchFamily="34" charset="0"/>
                <a:ea typeface="Calibri" pitchFamily="34" charset="-122"/>
                <a:cs typeface="Calibri" pitchFamily="34" charset="-120"/>
              </a:rPr>
              <a:t>Product</a:t>
            </a:r>
            <a:endParaRPr lang="en-US" sz="900" dirty="0"/>
          </a:p>
        </p:txBody>
      </p:sp>
      <p:sp>
        <p:nvSpPr>
          <p:cNvPr id="58" name="Shape 56"/>
          <p:cNvSpPr/>
          <p:nvPr/>
        </p:nvSpPr>
        <p:spPr>
          <a:xfrm>
            <a:off x="548640" y="4626864"/>
            <a:ext cx="11064240" cy="338328"/>
          </a:xfrm>
          <a:prstGeom prst="roundRect">
            <a:avLst>
              <a:gd name="adj" fmla="val 18919"/>
            </a:avLst>
          </a:prstGeom>
          <a:solidFill>
            <a:srgbClr val="F4F7FA"/>
          </a:solidFill>
          <a:ln/>
        </p:spPr>
      </p:sp>
      <p:sp>
        <p:nvSpPr>
          <p:cNvPr id="59" name="Shape 57"/>
          <p:cNvSpPr/>
          <p:nvPr/>
        </p:nvSpPr>
        <p:spPr>
          <a:xfrm>
            <a:off x="658368" y="4672584"/>
            <a:ext cx="246888" cy="246888"/>
          </a:xfrm>
          <a:prstGeom prst="ellipse">
            <a:avLst/>
          </a:prstGeom>
          <a:solidFill>
            <a:srgbClr val="1C7293"/>
          </a:solidFill>
          <a:ln/>
        </p:spPr>
      </p:sp>
      <p:sp>
        <p:nvSpPr>
          <p:cNvPr id="60" name="Text 58"/>
          <p:cNvSpPr txBox="1"/>
          <p:nvPr/>
        </p:nvSpPr>
        <p:spPr>
          <a:xfrm>
            <a:off x="658368" y="4672584"/>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61" name="Text 59"/>
          <p:cNvSpPr txBox="1"/>
          <p:nvPr/>
        </p:nvSpPr>
        <p:spPr>
          <a:xfrm>
            <a:off x="1005840" y="4654296"/>
            <a:ext cx="1737360" cy="28346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jobs</a:t>
            </a:r>
            <a:endParaRPr lang="en-US" sz="1150" dirty="0"/>
          </a:p>
        </p:txBody>
      </p:sp>
      <p:sp>
        <p:nvSpPr>
          <p:cNvPr id="62" name="Text 60"/>
          <p:cNvSpPr txBox="1"/>
          <p:nvPr/>
        </p:nvSpPr>
        <p:spPr>
          <a:xfrm>
            <a:off x="2788920" y="4654296"/>
            <a:ext cx="7315200" cy="283464"/>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Accepted quotation becomes a job. Parts reserved, crew allocated</a:t>
            </a:r>
            <a:endParaRPr lang="en-US" sz="950" dirty="0"/>
          </a:p>
        </p:txBody>
      </p:sp>
      <p:sp>
        <p:nvSpPr>
          <p:cNvPr id="63" name="Text 61"/>
          <p:cNvSpPr txBox="1"/>
          <p:nvPr/>
        </p:nvSpPr>
        <p:spPr>
          <a:xfrm>
            <a:off x="10241280" y="4654296"/>
            <a:ext cx="1280160" cy="283464"/>
          </a:xfrm>
          <a:prstGeom prst="rect">
            <a:avLst/>
          </a:prstGeom>
          <a:noFill/>
          <a:ln/>
        </p:spPr>
        <p:txBody>
          <a:bodyPr wrap="square" lIns="0" tIns="0" rIns="0" bIns="0" rtlCol="0" anchor="ctr"/>
          <a:lstStyle/>
          <a:p>
            <a:pPr algn="r" indent="0" marL="0">
              <a:buNone/>
            </a:pPr>
            <a:r>
              <a:rPr lang="en-US" sz="900" b="1" dirty="0">
                <a:solidFill>
                  <a:srgbClr val="2E8B57"/>
                </a:solidFill>
                <a:latin typeface="Calibri" pitchFamily="34" charset="0"/>
                <a:ea typeface="Calibri" pitchFamily="34" charset="-122"/>
                <a:cs typeface="Calibri" pitchFamily="34" charset="-120"/>
              </a:rPr>
              <a:t>Service</a:t>
            </a:r>
            <a:endParaRPr lang="en-US" sz="900" dirty="0"/>
          </a:p>
        </p:txBody>
      </p:sp>
      <p:sp>
        <p:nvSpPr>
          <p:cNvPr id="64" name="Shape 62"/>
          <p:cNvSpPr/>
          <p:nvPr/>
        </p:nvSpPr>
        <p:spPr>
          <a:xfrm>
            <a:off x="548640" y="5010912"/>
            <a:ext cx="11064240" cy="338328"/>
          </a:xfrm>
          <a:prstGeom prst="roundRect">
            <a:avLst>
              <a:gd name="adj" fmla="val 18919"/>
            </a:avLst>
          </a:prstGeom>
          <a:solidFill>
            <a:srgbClr val="FFFFFF"/>
          </a:solidFill>
          <a:ln/>
        </p:spPr>
      </p:sp>
      <p:sp>
        <p:nvSpPr>
          <p:cNvPr id="65" name="Shape 63"/>
          <p:cNvSpPr/>
          <p:nvPr/>
        </p:nvSpPr>
        <p:spPr>
          <a:xfrm>
            <a:off x="658368" y="5056632"/>
            <a:ext cx="246888" cy="246888"/>
          </a:xfrm>
          <a:prstGeom prst="ellipse">
            <a:avLst/>
          </a:prstGeom>
          <a:solidFill>
            <a:srgbClr val="065A82"/>
          </a:solidFill>
          <a:ln/>
        </p:spPr>
      </p:sp>
      <p:sp>
        <p:nvSpPr>
          <p:cNvPr id="66" name="Text 64"/>
          <p:cNvSpPr txBox="1"/>
          <p:nvPr/>
        </p:nvSpPr>
        <p:spPr>
          <a:xfrm>
            <a:off x="658368" y="5056632"/>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67" name="Text 65"/>
          <p:cNvSpPr txBox="1"/>
          <p:nvPr/>
        </p:nvSpPr>
        <p:spPr>
          <a:xfrm>
            <a:off x="1005840" y="5038344"/>
            <a:ext cx="1737360" cy="28346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feedback</a:t>
            </a:r>
            <a:endParaRPr lang="en-US" sz="1150" dirty="0"/>
          </a:p>
        </p:txBody>
      </p:sp>
      <p:sp>
        <p:nvSpPr>
          <p:cNvPr id="68" name="Text 66"/>
          <p:cNvSpPr txBox="1"/>
          <p:nvPr/>
        </p:nvSpPr>
        <p:spPr>
          <a:xfrm>
            <a:off x="2788920" y="5038344"/>
            <a:ext cx="7315200" cy="283464"/>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Rating trigger, 1-5 capture, branching actions, tickets</a:t>
            </a:r>
            <a:endParaRPr lang="en-US" sz="950" dirty="0"/>
          </a:p>
        </p:txBody>
      </p:sp>
      <p:sp>
        <p:nvSpPr>
          <p:cNvPr id="69" name="Text 67"/>
          <p:cNvSpPr txBox="1"/>
          <p:nvPr/>
        </p:nvSpPr>
        <p:spPr>
          <a:xfrm>
            <a:off x="10241280" y="5038344"/>
            <a:ext cx="1280160" cy="283464"/>
          </a:xfrm>
          <a:prstGeom prst="rect">
            <a:avLst/>
          </a:prstGeom>
          <a:noFill/>
          <a:ln/>
        </p:spPr>
        <p:txBody>
          <a:bodyPr wrap="square" lIns="0" tIns="0" rIns="0" bIns="0" rtlCol="0" anchor="ctr"/>
          <a:lstStyle/>
          <a:p>
            <a:pPr algn="r" indent="0" marL="0">
              <a:buNone/>
            </a:pPr>
            <a:r>
              <a:rPr lang="en-US" sz="900" b="1" dirty="0">
                <a:solidFill>
                  <a:srgbClr val="5A6B7B"/>
                </a:solidFill>
                <a:latin typeface="Calibri" pitchFamily="34" charset="0"/>
                <a:ea typeface="Calibri" pitchFamily="34" charset="-122"/>
                <a:cs typeface="Calibri" pitchFamily="34" charset="-120"/>
              </a:rPr>
              <a:t>Both</a:t>
            </a:r>
            <a:endParaRPr lang="en-US" sz="900" dirty="0"/>
          </a:p>
        </p:txBody>
      </p:sp>
      <p:sp>
        <p:nvSpPr>
          <p:cNvPr id="70" name="Shape 68"/>
          <p:cNvSpPr/>
          <p:nvPr/>
        </p:nvSpPr>
        <p:spPr>
          <a:xfrm>
            <a:off x="548640" y="5394960"/>
            <a:ext cx="11064240" cy="338328"/>
          </a:xfrm>
          <a:prstGeom prst="roundRect">
            <a:avLst>
              <a:gd name="adj" fmla="val 18919"/>
            </a:avLst>
          </a:prstGeom>
          <a:solidFill>
            <a:srgbClr val="F4F7FA"/>
          </a:solidFill>
          <a:ln/>
        </p:spPr>
      </p:sp>
      <p:sp>
        <p:nvSpPr>
          <p:cNvPr id="71" name="Shape 69"/>
          <p:cNvSpPr/>
          <p:nvPr/>
        </p:nvSpPr>
        <p:spPr>
          <a:xfrm>
            <a:off x="658368" y="5440680"/>
            <a:ext cx="246888" cy="246888"/>
          </a:xfrm>
          <a:prstGeom prst="ellipse">
            <a:avLst/>
          </a:prstGeom>
          <a:solidFill>
            <a:srgbClr val="5A6B7B"/>
          </a:solidFill>
          <a:ln/>
        </p:spPr>
      </p:sp>
      <p:sp>
        <p:nvSpPr>
          <p:cNvPr id="72" name="Text 70"/>
          <p:cNvSpPr txBox="1"/>
          <p:nvPr/>
        </p:nvSpPr>
        <p:spPr>
          <a:xfrm>
            <a:off x="658368" y="5440680"/>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73" name="Text 71"/>
          <p:cNvSpPr txBox="1"/>
          <p:nvPr/>
        </p:nvSpPr>
        <p:spPr>
          <a:xfrm>
            <a:off x="1005840" y="5422392"/>
            <a:ext cx="1737360" cy="28346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engagement</a:t>
            </a:r>
            <a:endParaRPr lang="en-US" sz="1150" dirty="0"/>
          </a:p>
        </p:txBody>
      </p:sp>
      <p:sp>
        <p:nvSpPr>
          <p:cNvPr id="74" name="Text 72"/>
          <p:cNvSpPr txBox="1"/>
          <p:nvPr/>
        </p:nvSpPr>
        <p:spPr>
          <a:xfrm>
            <a:off x="2788920" y="5422392"/>
            <a:ext cx="7315200" cy="283464"/>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Campaigns, coupons, loyalty, referrals, suppression guardrails</a:t>
            </a:r>
            <a:endParaRPr lang="en-US" sz="950" dirty="0"/>
          </a:p>
        </p:txBody>
      </p:sp>
      <p:sp>
        <p:nvSpPr>
          <p:cNvPr id="75" name="Text 73"/>
          <p:cNvSpPr txBox="1"/>
          <p:nvPr/>
        </p:nvSpPr>
        <p:spPr>
          <a:xfrm>
            <a:off x="10241280" y="5422392"/>
            <a:ext cx="1280160" cy="283464"/>
          </a:xfrm>
          <a:prstGeom prst="rect">
            <a:avLst/>
          </a:prstGeom>
          <a:noFill/>
          <a:ln/>
        </p:spPr>
        <p:txBody>
          <a:bodyPr wrap="square" lIns="0" tIns="0" rIns="0" bIns="0" rtlCol="0" anchor="ctr"/>
          <a:lstStyle/>
          <a:p>
            <a:pPr algn="r" indent="0" marL="0">
              <a:buNone/>
            </a:pPr>
            <a:r>
              <a:rPr lang="en-US" sz="900" b="1" dirty="0">
                <a:solidFill>
                  <a:srgbClr val="5A6B7B"/>
                </a:solidFill>
                <a:latin typeface="Calibri" pitchFamily="34" charset="0"/>
                <a:ea typeface="Calibri" pitchFamily="34" charset="-122"/>
                <a:cs typeface="Calibri" pitchFamily="34" charset="-120"/>
              </a:rPr>
              <a:t>Both</a:t>
            </a:r>
            <a:endParaRPr lang="en-US" sz="900" dirty="0"/>
          </a:p>
        </p:txBody>
      </p:sp>
      <p:sp>
        <p:nvSpPr>
          <p:cNvPr id="76" name="Shape 74"/>
          <p:cNvSpPr/>
          <p:nvPr/>
        </p:nvSpPr>
        <p:spPr>
          <a:xfrm>
            <a:off x="548640" y="5779008"/>
            <a:ext cx="11064240" cy="338328"/>
          </a:xfrm>
          <a:prstGeom prst="roundRect">
            <a:avLst>
              <a:gd name="adj" fmla="val 18919"/>
            </a:avLst>
          </a:prstGeom>
          <a:solidFill>
            <a:srgbClr val="FFFFFF"/>
          </a:solidFill>
          <a:ln/>
        </p:spPr>
      </p:sp>
      <p:sp>
        <p:nvSpPr>
          <p:cNvPr id="77" name="Shape 75"/>
          <p:cNvSpPr/>
          <p:nvPr/>
        </p:nvSpPr>
        <p:spPr>
          <a:xfrm>
            <a:off x="658368" y="5824728"/>
            <a:ext cx="246888" cy="246888"/>
          </a:xfrm>
          <a:prstGeom prst="ellipse">
            <a:avLst/>
          </a:prstGeom>
          <a:solidFill>
            <a:srgbClr val="065A82"/>
          </a:solidFill>
          <a:ln/>
        </p:spPr>
      </p:sp>
      <p:sp>
        <p:nvSpPr>
          <p:cNvPr id="78" name="Text 76"/>
          <p:cNvSpPr txBox="1"/>
          <p:nvPr/>
        </p:nvSpPr>
        <p:spPr>
          <a:xfrm>
            <a:off x="658368" y="5824728"/>
            <a:ext cx="2468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79" name="Text 77"/>
          <p:cNvSpPr txBox="1"/>
          <p:nvPr/>
        </p:nvSpPr>
        <p:spPr>
          <a:xfrm>
            <a:off x="1005840" y="5806440"/>
            <a:ext cx="1737360" cy="28346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analytics</a:t>
            </a:r>
            <a:endParaRPr lang="en-US" sz="1150" dirty="0"/>
          </a:p>
        </p:txBody>
      </p:sp>
      <p:sp>
        <p:nvSpPr>
          <p:cNvPr id="80" name="Text 78"/>
          <p:cNvSpPr txBox="1"/>
          <p:nvPr/>
        </p:nvSpPr>
        <p:spPr>
          <a:xfrm>
            <a:off x="2788920" y="5806440"/>
            <a:ext cx="7315200" cy="283464"/>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Precomputed daily rollups - the only thing the dashboard reads</a:t>
            </a:r>
            <a:endParaRPr lang="en-US" sz="950" dirty="0"/>
          </a:p>
        </p:txBody>
      </p:sp>
      <p:sp>
        <p:nvSpPr>
          <p:cNvPr id="81" name="Text 79"/>
          <p:cNvSpPr txBox="1"/>
          <p:nvPr/>
        </p:nvSpPr>
        <p:spPr>
          <a:xfrm>
            <a:off x="10241280" y="5806440"/>
            <a:ext cx="1280160" cy="283464"/>
          </a:xfrm>
          <a:prstGeom prst="rect">
            <a:avLst/>
          </a:prstGeom>
          <a:noFill/>
          <a:ln/>
        </p:spPr>
        <p:txBody>
          <a:bodyPr wrap="square" lIns="0" tIns="0" rIns="0" bIns="0" rtlCol="0" anchor="ctr"/>
          <a:lstStyle/>
          <a:p>
            <a:pPr algn="r" indent="0" marL="0">
              <a:buNone/>
            </a:pPr>
            <a:r>
              <a:rPr lang="en-US" sz="900" b="1" dirty="0">
                <a:solidFill>
                  <a:srgbClr val="5A6B7B"/>
                </a:solidFill>
                <a:latin typeface="Calibri" pitchFamily="34" charset="0"/>
                <a:ea typeface="Calibri" pitchFamily="34" charset="-122"/>
                <a:cs typeface="Calibri" pitchFamily="34" charset="-120"/>
              </a:rPr>
              <a:t>Both</a:t>
            </a:r>
            <a:endParaRPr lang="en-US" sz="900" dirty="0"/>
          </a:p>
        </p:txBody>
      </p:sp>
      <p:sp>
        <p:nvSpPr>
          <p:cNvPr id="82" name="Text 80"/>
          <p:cNvSpPr txBox="1"/>
          <p:nvPr/>
        </p:nvSpPr>
        <p:spPr>
          <a:xfrm>
            <a:off x="548640" y="6263640"/>
            <a:ext cx="11064240" cy="274320"/>
          </a:xfrm>
          <a:prstGeom prst="rect">
            <a:avLst/>
          </a:prstGeom>
          <a:noFill/>
          <a:ln/>
        </p:spPr>
        <p:txBody>
          <a:bodyPr wrap="square" lIns="0" tIns="0" rIns="0" bIns="0" rtlCol="0" anchor="ctr"/>
          <a:lstStyle/>
          <a:p>
            <a:pPr indent="0" marL="0">
              <a:buNone/>
            </a:pPr>
            <a:r>
              <a:rPr lang="en-US" sz="1050" i="1" dirty="0">
                <a:solidFill>
                  <a:srgbClr val="065A82"/>
                </a:solidFill>
                <a:latin typeface="Calibri" pitchFamily="34" charset="0"/>
                <a:ea typeface="Calibri" pitchFamily="34" charset="-122"/>
                <a:cs typeface="Calibri" pitchFamily="34" charset="-120"/>
              </a:rPr>
              <a:t>Amber = carries the differentiator.   Each module owns its tables; nothing reaches into another module's tables.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CORE FLOW</a:t>
            </a:r>
            <a:endParaRPr lang="en-US" sz="1050" dirty="0"/>
          </a:p>
        </p:txBody>
      </p:sp>
      <p:sp>
        <p:nvSpPr>
          <p:cNvPr id="3" name="Text 1"/>
          <p:cNvSpPr txBox="1"/>
          <p:nvPr/>
        </p:nvSpPr>
        <p:spPr>
          <a:xfrm>
            <a:off x="548640" y="512064"/>
            <a:ext cx="11064240" cy="566928"/>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Service mode: enquiry to approved quote</a:t>
            </a:r>
            <a:endParaRPr lang="en-US" sz="2800" dirty="0"/>
          </a:p>
        </p:txBody>
      </p:sp>
      <p:sp>
        <p:nvSpPr>
          <p:cNvPr id="4" name="Shape 2"/>
          <p:cNvSpPr/>
          <p:nvPr/>
        </p:nvSpPr>
        <p:spPr>
          <a:xfrm>
            <a:off x="548640" y="1188720"/>
            <a:ext cx="2057400" cy="777240"/>
          </a:xfrm>
          <a:prstGeom prst="roundRect">
            <a:avLst>
              <a:gd name="adj" fmla="val 8235"/>
            </a:avLst>
          </a:prstGeom>
          <a:solidFill>
            <a:srgbClr val="1C7293"/>
          </a:solidFill>
          <a:ln/>
        </p:spPr>
      </p:sp>
      <p:sp>
        <p:nvSpPr>
          <p:cNvPr id="5" name="Text 3"/>
          <p:cNvSpPr txBox="1"/>
          <p:nvPr/>
        </p:nvSpPr>
        <p:spPr>
          <a:xfrm>
            <a:off x="548640" y="1188720"/>
            <a:ext cx="2057400" cy="7772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Customer</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messages</a:t>
            </a:r>
            <a:endParaRPr lang="en-US" sz="1000" dirty="0"/>
          </a:p>
        </p:txBody>
      </p:sp>
      <p:sp>
        <p:nvSpPr>
          <p:cNvPr id="6" name="Shape 4"/>
          <p:cNvSpPr/>
          <p:nvPr/>
        </p:nvSpPr>
        <p:spPr>
          <a:xfrm>
            <a:off x="2633472" y="1517904"/>
            <a:ext cx="146304" cy="182880"/>
          </a:xfrm>
          <a:prstGeom prst="rightArrow">
            <a:avLst/>
          </a:prstGeom>
          <a:solidFill>
            <a:srgbClr val="AAB8C4"/>
          </a:solidFill>
          <a:ln/>
        </p:spPr>
      </p:sp>
      <p:sp>
        <p:nvSpPr>
          <p:cNvPr id="7" name="Shape 5"/>
          <p:cNvSpPr/>
          <p:nvPr/>
        </p:nvSpPr>
        <p:spPr>
          <a:xfrm>
            <a:off x="2816352" y="1188720"/>
            <a:ext cx="2057400" cy="777240"/>
          </a:xfrm>
          <a:prstGeom prst="roundRect">
            <a:avLst>
              <a:gd name="adj" fmla="val 8235"/>
            </a:avLst>
          </a:prstGeom>
          <a:solidFill>
            <a:srgbClr val="065A82"/>
          </a:solidFill>
          <a:ln/>
        </p:spPr>
      </p:sp>
      <p:sp>
        <p:nvSpPr>
          <p:cNvPr id="8" name="Text 6"/>
          <p:cNvSpPr txBox="1"/>
          <p:nvPr/>
        </p:nvSpPr>
        <p:spPr>
          <a:xfrm>
            <a:off x="2816352" y="1188720"/>
            <a:ext cx="2057400" cy="7772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AI disclosure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logged</a:t>
            </a:r>
            <a:endParaRPr lang="en-US" sz="1000" dirty="0"/>
          </a:p>
        </p:txBody>
      </p:sp>
      <p:sp>
        <p:nvSpPr>
          <p:cNvPr id="9" name="Shape 7"/>
          <p:cNvSpPr/>
          <p:nvPr/>
        </p:nvSpPr>
        <p:spPr>
          <a:xfrm>
            <a:off x="4901184" y="1517904"/>
            <a:ext cx="146304" cy="182880"/>
          </a:xfrm>
          <a:prstGeom prst="rightArrow">
            <a:avLst/>
          </a:prstGeom>
          <a:solidFill>
            <a:srgbClr val="AAB8C4"/>
          </a:solidFill>
          <a:ln/>
        </p:spPr>
      </p:sp>
      <p:sp>
        <p:nvSpPr>
          <p:cNvPr id="10" name="Shape 8"/>
          <p:cNvSpPr/>
          <p:nvPr/>
        </p:nvSpPr>
        <p:spPr>
          <a:xfrm>
            <a:off x="5084064" y="1188720"/>
            <a:ext cx="2057400" cy="777240"/>
          </a:xfrm>
          <a:prstGeom prst="roundRect">
            <a:avLst>
              <a:gd name="adj" fmla="val 8235"/>
            </a:avLst>
          </a:prstGeom>
          <a:solidFill>
            <a:srgbClr val="1C7293"/>
          </a:solidFill>
          <a:ln/>
        </p:spPr>
      </p:sp>
      <p:sp>
        <p:nvSpPr>
          <p:cNvPr id="11" name="Text 9"/>
          <p:cNvSpPr txBox="1"/>
          <p:nvPr/>
        </p:nvSpPr>
        <p:spPr>
          <a:xfrm>
            <a:off x="5084064" y="1188720"/>
            <a:ext cx="2057400" cy="7772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Qualify -</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ask only what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is missing</a:t>
            </a:r>
            <a:endParaRPr lang="en-US" sz="1000" dirty="0"/>
          </a:p>
        </p:txBody>
      </p:sp>
      <p:sp>
        <p:nvSpPr>
          <p:cNvPr id="12" name="Shape 10"/>
          <p:cNvSpPr/>
          <p:nvPr/>
        </p:nvSpPr>
        <p:spPr>
          <a:xfrm>
            <a:off x="7168896" y="1517904"/>
            <a:ext cx="146304" cy="182880"/>
          </a:xfrm>
          <a:prstGeom prst="rightArrow">
            <a:avLst/>
          </a:prstGeom>
          <a:solidFill>
            <a:srgbClr val="AAB8C4"/>
          </a:solidFill>
          <a:ln/>
        </p:spPr>
      </p:sp>
      <p:sp>
        <p:nvSpPr>
          <p:cNvPr id="13" name="Shape 11"/>
          <p:cNvSpPr/>
          <p:nvPr/>
        </p:nvSpPr>
        <p:spPr>
          <a:xfrm>
            <a:off x="7351776" y="1188720"/>
            <a:ext cx="2057400" cy="777240"/>
          </a:xfrm>
          <a:prstGeom prst="roundRect">
            <a:avLst>
              <a:gd name="adj" fmla="val 8235"/>
            </a:avLst>
          </a:prstGeom>
          <a:solidFill>
            <a:srgbClr val="1C7293"/>
          </a:solidFill>
          <a:ln/>
        </p:spPr>
      </p:sp>
      <p:sp>
        <p:nvSpPr>
          <p:cNvPr id="14" name="Text 12"/>
          <p:cNvSpPr txBox="1"/>
          <p:nvPr/>
        </p:nvSpPr>
        <p:spPr>
          <a:xfrm>
            <a:off x="7351776" y="1188720"/>
            <a:ext cx="2057400" cy="7772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Extract to</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structured</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schema</a:t>
            </a:r>
            <a:endParaRPr lang="en-US" sz="1000" dirty="0"/>
          </a:p>
        </p:txBody>
      </p:sp>
      <p:sp>
        <p:nvSpPr>
          <p:cNvPr id="15" name="Shape 13"/>
          <p:cNvSpPr/>
          <p:nvPr/>
        </p:nvSpPr>
        <p:spPr>
          <a:xfrm>
            <a:off x="9436608" y="1517904"/>
            <a:ext cx="146304" cy="182880"/>
          </a:xfrm>
          <a:prstGeom prst="rightArrow">
            <a:avLst/>
          </a:prstGeom>
          <a:solidFill>
            <a:srgbClr val="AAB8C4"/>
          </a:solidFill>
          <a:ln/>
        </p:spPr>
      </p:sp>
      <p:sp>
        <p:nvSpPr>
          <p:cNvPr id="16" name="Shape 14"/>
          <p:cNvSpPr/>
          <p:nvPr/>
        </p:nvSpPr>
        <p:spPr>
          <a:xfrm>
            <a:off x="9619488" y="1188720"/>
            <a:ext cx="2057400" cy="777240"/>
          </a:xfrm>
          <a:prstGeom prst="roundRect">
            <a:avLst>
              <a:gd name="adj" fmla="val 8235"/>
            </a:avLst>
          </a:prstGeom>
          <a:solidFill>
            <a:srgbClr val="065A82"/>
          </a:solidFill>
          <a:ln/>
        </p:spPr>
      </p:sp>
      <p:sp>
        <p:nvSpPr>
          <p:cNvPr id="17" name="Text 15"/>
          <p:cNvSpPr txBox="1"/>
          <p:nvPr/>
        </p:nvSpPr>
        <p:spPr>
          <a:xfrm>
            <a:off x="9619488" y="1188720"/>
            <a:ext cx="2057400" cy="7772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Score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the lead</a:t>
            </a:r>
            <a:endParaRPr lang="en-US" sz="1000" dirty="0"/>
          </a:p>
        </p:txBody>
      </p:sp>
      <p:sp>
        <p:nvSpPr>
          <p:cNvPr id="18" name="Shape 16"/>
          <p:cNvSpPr/>
          <p:nvPr/>
        </p:nvSpPr>
        <p:spPr>
          <a:xfrm>
            <a:off x="5943600" y="2029968"/>
            <a:ext cx="237744" cy="256032"/>
          </a:xfrm>
          <a:prstGeom prst="downArrow">
            <a:avLst/>
          </a:prstGeom>
          <a:solidFill>
            <a:srgbClr val="AAB8C4"/>
          </a:solidFill>
          <a:ln/>
        </p:spPr>
      </p:sp>
      <p:sp>
        <p:nvSpPr>
          <p:cNvPr id="19" name="Shape 17"/>
          <p:cNvSpPr/>
          <p:nvPr/>
        </p:nvSpPr>
        <p:spPr>
          <a:xfrm>
            <a:off x="548640" y="2359152"/>
            <a:ext cx="11064240" cy="1188720"/>
          </a:xfrm>
          <a:prstGeom prst="roundRect">
            <a:avLst>
              <a:gd name="adj" fmla="val 5385"/>
            </a:avLst>
          </a:prstGeom>
          <a:solidFill>
            <a:srgbClr val="F4F7FA"/>
          </a:solidFill>
          <a:ln w="12700">
            <a:solidFill>
              <a:srgbClr val="F2A104"/>
            </a:solidFill>
            <a:prstDash val="solid"/>
          </a:ln>
        </p:spPr>
      </p:sp>
      <p:sp>
        <p:nvSpPr>
          <p:cNvPr id="20" name="Text 18"/>
          <p:cNvSpPr txBox="1"/>
          <p:nvPr/>
        </p:nvSpPr>
        <p:spPr>
          <a:xfrm>
            <a:off x="777240" y="2432304"/>
            <a:ext cx="7315200" cy="237744"/>
          </a:xfrm>
          <a:prstGeom prst="rect">
            <a:avLst/>
          </a:prstGeom>
          <a:noFill/>
          <a:ln/>
        </p:spPr>
        <p:txBody>
          <a:bodyPr wrap="square" lIns="0" tIns="0" rIns="0" bIns="0" rtlCol="0" anchor="ctr"/>
          <a:lstStyle/>
          <a:p>
            <a:pPr indent="0" marL="0">
              <a:buNone/>
            </a:pPr>
            <a:r>
              <a:rPr lang="en-US" sz="1000" b="1" spc="100" kern="0" dirty="0">
                <a:solidFill>
                  <a:srgbClr val="1A2733"/>
                </a:solidFill>
                <a:latin typeface="Calibri" pitchFamily="34" charset="0"/>
                <a:ea typeface="Calibri" pitchFamily="34" charset="-122"/>
                <a:cs typeface="Calibri" pitchFamily="34" charset="-120"/>
              </a:rPr>
              <a:t>FEASIBILITY — deterministic rules, zero LLM, each returns a REASON</a:t>
            </a:r>
            <a:endParaRPr lang="en-US" sz="1000" dirty="0"/>
          </a:p>
        </p:txBody>
      </p:sp>
      <p:sp>
        <p:nvSpPr>
          <p:cNvPr id="21" name="Shape 19"/>
          <p:cNvSpPr/>
          <p:nvPr/>
        </p:nvSpPr>
        <p:spPr>
          <a:xfrm>
            <a:off x="822960" y="2724912"/>
            <a:ext cx="2011680" cy="694944"/>
          </a:xfrm>
          <a:prstGeom prst="roundRect">
            <a:avLst>
              <a:gd name="adj" fmla="val 9211"/>
            </a:avLst>
          </a:prstGeom>
          <a:solidFill>
            <a:srgbClr val="F2A104"/>
          </a:solidFill>
          <a:ln/>
        </p:spPr>
      </p:sp>
      <p:sp>
        <p:nvSpPr>
          <p:cNvPr id="22" name="Text 20"/>
          <p:cNvSpPr txBox="1"/>
          <p:nvPr/>
        </p:nvSpPr>
        <p:spPr>
          <a:xfrm>
            <a:off x="822960" y="2724912"/>
            <a:ext cx="2011680" cy="694944"/>
          </a:xfrm>
          <a:prstGeom prst="rect">
            <a:avLst/>
          </a:prstGeom>
          <a:noFill/>
          <a:ln/>
        </p:spPr>
        <p:txBody>
          <a:bodyPr wrap="square" lIns="0" tIns="0" rIns="0" bIns="0" rtlCol="0" anchor="ctr"/>
          <a:lstStyle/>
          <a:p>
            <a:pPr algn="ctr" indent="0" marL="0">
              <a:buNone/>
            </a:pPr>
            <a:r>
              <a:rPr lang="en-US" sz="1000" b="1" dirty="0">
                <a:solidFill>
                  <a:srgbClr val="1A2733"/>
                </a:solidFill>
                <a:latin typeface="Calibri" pitchFamily="34" charset="0"/>
                <a:ea typeface="Calibri" pitchFamily="34" charset="-122"/>
                <a:cs typeface="Calibri" pitchFamily="34" charset="-120"/>
              </a:rPr>
              <a:t>service</a:t>
            </a:r>
            <a:endParaRPr lang="en-US" sz="1000" dirty="0"/>
          </a:p>
          <a:p>
            <a:pPr algn="ctr" indent="0" marL="0">
              <a:buNone/>
            </a:pPr>
            <a:r>
              <a:rPr lang="en-US" sz="1000" b="1" dirty="0">
                <a:solidFill>
                  <a:srgbClr val="1A2733"/>
                </a:solidFill>
                <a:latin typeface="Calibri" pitchFamily="34" charset="0"/>
                <a:ea typeface="Calibri" pitchFamily="34" charset="-122"/>
                <a:cs typeface="Calibri" pitchFamily="34" charset="-120"/>
              </a:rPr>
              <a:t>match</a:t>
            </a:r>
            <a:endParaRPr lang="en-US" sz="1000" dirty="0"/>
          </a:p>
        </p:txBody>
      </p:sp>
      <p:sp>
        <p:nvSpPr>
          <p:cNvPr id="23" name="Shape 21"/>
          <p:cNvSpPr/>
          <p:nvPr/>
        </p:nvSpPr>
        <p:spPr>
          <a:xfrm>
            <a:off x="2999232" y="2724912"/>
            <a:ext cx="2011680" cy="694944"/>
          </a:xfrm>
          <a:prstGeom prst="roundRect">
            <a:avLst>
              <a:gd name="adj" fmla="val 9211"/>
            </a:avLst>
          </a:prstGeom>
          <a:solidFill>
            <a:srgbClr val="F2A104"/>
          </a:solidFill>
          <a:ln/>
        </p:spPr>
      </p:sp>
      <p:sp>
        <p:nvSpPr>
          <p:cNvPr id="24" name="Text 22"/>
          <p:cNvSpPr txBox="1"/>
          <p:nvPr/>
        </p:nvSpPr>
        <p:spPr>
          <a:xfrm>
            <a:off x="2999232" y="2724912"/>
            <a:ext cx="2011680" cy="694944"/>
          </a:xfrm>
          <a:prstGeom prst="rect">
            <a:avLst/>
          </a:prstGeom>
          <a:noFill/>
          <a:ln/>
        </p:spPr>
        <p:txBody>
          <a:bodyPr wrap="square" lIns="0" tIns="0" rIns="0" bIns="0" rtlCol="0" anchor="ctr"/>
          <a:lstStyle/>
          <a:p>
            <a:pPr algn="ctr" indent="0" marL="0">
              <a:buNone/>
            </a:pPr>
            <a:r>
              <a:rPr lang="en-US" sz="1000" b="1" dirty="0">
                <a:solidFill>
                  <a:srgbClr val="1A2733"/>
                </a:solidFill>
                <a:latin typeface="Calibri" pitchFamily="34" charset="0"/>
                <a:ea typeface="Calibri" pitchFamily="34" charset="-122"/>
                <a:cs typeface="Calibri" pitchFamily="34" charset="-120"/>
              </a:rPr>
              <a:t>area</a:t>
            </a:r>
            <a:endParaRPr lang="en-US" sz="1000" dirty="0"/>
          </a:p>
          <a:p>
            <a:pPr algn="ctr" indent="0" marL="0">
              <a:buNone/>
            </a:pPr>
            <a:r>
              <a:rPr lang="en-US" sz="1000" b="1" dirty="0">
                <a:solidFill>
                  <a:srgbClr val="1A2733"/>
                </a:solidFill>
                <a:latin typeface="Calibri" pitchFamily="34" charset="0"/>
                <a:ea typeface="Calibri" pitchFamily="34" charset="-122"/>
                <a:cs typeface="Calibri" pitchFamily="34" charset="-120"/>
              </a:rPr>
              <a:t>match</a:t>
            </a:r>
            <a:endParaRPr lang="en-US" sz="1000" dirty="0"/>
          </a:p>
        </p:txBody>
      </p:sp>
      <p:sp>
        <p:nvSpPr>
          <p:cNvPr id="25" name="Shape 23"/>
          <p:cNvSpPr/>
          <p:nvPr/>
        </p:nvSpPr>
        <p:spPr>
          <a:xfrm>
            <a:off x="5175504" y="2724912"/>
            <a:ext cx="2011680" cy="694944"/>
          </a:xfrm>
          <a:prstGeom prst="roundRect">
            <a:avLst>
              <a:gd name="adj" fmla="val 9211"/>
            </a:avLst>
          </a:prstGeom>
          <a:solidFill>
            <a:srgbClr val="F2A104"/>
          </a:solidFill>
          <a:ln/>
        </p:spPr>
      </p:sp>
      <p:sp>
        <p:nvSpPr>
          <p:cNvPr id="26" name="Text 24"/>
          <p:cNvSpPr txBox="1"/>
          <p:nvPr/>
        </p:nvSpPr>
        <p:spPr>
          <a:xfrm>
            <a:off x="5175504" y="2724912"/>
            <a:ext cx="2011680" cy="694944"/>
          </a:xfrm>
          <a:prstGeom prst="rect">
            <a:avLst/>
          </a:prstGeom>
          <a:noFill/>
          <a:ln/>
        </p:spPr>
        <p:txBody>
          <a:bodyPr wrap="square" lIns="0" tIns="0" rIns="0" bIns="0" rtlCol="0" anchor="ctr"/>
          <a:lstStyle/>
          <a:p>
            <a:pPr algn="ctr" indent="0" marL="0">
              <a:buNone/>
            </a:pPr>
            <a:r>
              <a:rPr lang="en-US" sz="1000" b="1" dirty="0">
                <a:solidFill>
                  <a:srgbClr val="1A2733"/>
                </a:solidFill>
                <a:latin typeface="Calibri" pitchFamily="34" charset="0"/>
                <a:ea typeface="Calibri" pitchFamily="34" charset="-122"/>
                <a:cs typeface="Calibri" pitchFamily="34" charset="-120"/>
              </a:rPr>
              <a:t>parts</a:t>
            </a:r>
            <a:endParaRPr lang="en-US" sz="1000" dirty="0"/>
          </a:p>
          <a:p>
            <a:pPr algn="ctr" indent="0" marL="0">
              <a:buNone/>
            </a:pPr>
            <a:r>
              <a:rPr lang="en-US" sz="1000" b="1" dirty="0">
                <a:solidFill>
                  <a:srgbClr val="1A2733"/>
                </a:solidFill>
                <a:latin typeface="Calibri" pitchFamily="34" charset="0"/>
                <a:ea typeface="Calibri" pitchFamily="34" charset="-122"/>
                <a:cs typeface="Calibri" pitchFamily="34" charset="-120"/>
              </a:rPr>
              <a:t>sufficient</a:t>
            </a:r>
            <a:endParaRPr lang="en-US" sz="1000" dirty="0"/>
          </a:p>
        </p:txBody>
      </p:sp>
      <p:sp>
        <p:nvSpPr>
          <p:cNvPr id="27" name="Shape 25"/>
          <p:cNvSpPr/>
          <p:nvPr/>
        </p:nvSpPr>
        <p:spPr>
          <a:xfrm>
            <a:off x="7351776" y="2724912"/>
            <a:ext cx="2011680" cy="694944"/>
          </a:xfrm>
          <a:prstGeom prst="roundRect">
            <a:avLst>
              <a:gd name="adj" fmla="val 9211"/>
            </a:avLst>
          </a:prstGeom>
          <a:solidFill>
            <a:srgbClr val="F2A104"/>
          </a:solidFill>
          <a:ln/>
        </p:spPr>
      </p:sp>
      <p:sp>
        <p:nvSpPr>
          <p:cNvPr id="28" name="Text 26"/>
          <p:cNvSpPr txBox="1"/>
          <p:nvPr/>
        </p:nvSpPr>
        <p:spPr>
          <a:xfrm>
            <a:off x="7351776" y="2724912"/>
            <a:ext cx="2011680" cy="694944"/>
          </a:xfrm>
          <a:prstGeom prst="rect">
            <a:avLst/>
          </a:prstGeom>
          <a:noFill/>
          <a:ln/>
        </p:spPr>
        <p:txBody>
          <a:bodyPr wrap="square" lIns="0" tIns="0" rIns="0" bIns="0" rtlCol="0" anchor="ctr"/>
          <a:lstStyle/>
          <a:p>
            <a:pPr algn="ctr" indent="0" marL="0">
              <a:buNone/>
            </a:pPr>
            <a:r>
              <a:rPr lang="en-US" sz="1000" b="1" dirty="0">
                <a:solidFill>
                  <a:srgbClr val="1A2733"/>
                </a:solidFill>
                <a:latin typeface="Calibri" pitchFamily="34" charset="0"/>
                <a:ea typeface="Calibri" pitchFamily="34" charset="-122"/>
                <a:cs typeface="Calibri" pitchFamily="34" charset="-120"/>
              </a:rPr>
              <a:t>crew</a:t>
            </a:r>
            <a:endParaRPr lang="en-US" sz="1000" dirty="0"/>
          </a:p>
          <a:p>
            <a:pPr algn="ctr" indent="0" marL="0">
              <a:buNone/>
            </a:pPr>
            <a:r>
              <a:rPr lang="en-US" sz="1000" b="1" dirty="0">
                <a:solidFill>
                  <a:srgbClr val="1A2733"/>
                </a:solidFill>
                <a:latin typeface="Calibri" pitchFamily="34" charset="0"/>
                <a:ea typeface="Calibri" pitchFamily="34" charset="-122"/>
                <a:cs typeface="Calibri" pitchFamily="34" charset="-120"/>
              </a:rPr>
              <a:t>available</a:t>
            </a:r>
            <a:endParaRPr lang="en-US" sz="1000" dirty="0"/>
          </a:p>
        </p:txBody>
      </p:sp>
      <p:sp>
        <p:nvSpPr>
          <p:cNvPr id="29" name="Shape 27"/>
          <p:cNvSpPr/>
          <p:nvPr/>
        </p:nvSpPr>
        <p:spPr>
          <a:xfrm>
            <a:off x="9528048" y="2724912"/>
            <a:ext cx="2011680" cy="694944"/>
          </a:xfrm>
          <a:prstGeom prst="roundRect">
            <a:avLst>
              <a:gd name="adj" fmla="val 9211"/>
            </a:avLst>
          </a:prstGeom>
          <a:solidFill>
            <a:srgbClr val="F2A104"/>
          </a:solidFill>
          <a:ln/>
        </p:spPr>
      </p:sp>
      <p:sp>
        <p:nvSpPr>
          <p:cNvPr id="30" name="Text 28"/>
          <p:cNvSpPr txBox="1"/>
          <p:nvPr/>
        </p:nvSpPr>
        <p:spPr>
          <a:xfrm>
            <a:off x="9528048" y="2724912"/>
            <a:ext cx="2011680" cy="694944"/>
          </a:xfrm>
          <a:prstGeom prst="rect">
            <a:avLst/>
          </a:prstGeom>
          <a:noFill/>
          <a:ln/>
        </p:spPr>
        <p:txBody>
          <a:bodyPr wrap="square" lIns="0" tIns="0" rIns="0" bIns="0" rtlCol="0" anchor="ctr"/>
          <a:lstStyle/>
          <a:p>
            <a:pPr algn="ctr" indent="0" marL="0">
              <a:buNone/>
            </a:pPr>
            <a:r>
              <a:rPr lang="en-US" sz="1000" b="1" dirty="0">
                <a:solidFill>
                  <a:srgbClr val="1A2733"/>
                </a:solidFill>
                <a:latin typeface="Calibri" pitchFamily="34" charset="0"/>
                <a:ea typeface="Calibri" pitchFamily="34" charset="-122"/>
                <a:cs typeface="Calibri" pitchFamily="34" charset="-120"/>
              </a:rPr>
              <a:t>size in</a:t>
            </a:r>
            <a:endParaRPr lang="en-US" sz="1000" dirty="0"/>
          </a:p>
          <a:p>
            <a:pPr algn="ctr" indent="0" marL="0">
              <a:buNone/>
            </a:pPr>
            <a:r>
              <a:rPr lang="en-US" sz="1000" b="1" dirty="0">
                <a:solidFill>
                  <a:srgbClr val="1A2733"/>
                </a:solidFill>
                <a:latin typeface="Calibri" pitchFamily="34" charset="0"/>
                <a:ea typeface="Calibri" pitchFamily="34" charset="-122"/>
                <a:cs typeface="Calibri" pitchFamily="34" charset="-120"/>
              </a:rPr>
              <a:t>bounds</a:t>
            </a:r>
            <a:endParaRPr lang="en-US" sz="1000" dirty="0"/>
          </a:p>
        </p:txBody>
      </p:sp>
      <p:sp>
        <p:nvSpPr>
          <p:cNvPr id="31" name="Shape 29"/>
          <p:cNvSpPr/>
          <p:nvPr/>
        </p:nvSpPr>
        <p:spPr>
          <a:xfrm>
            <a:off x="3017520" y="3602736"/>
            <a:ext cx="237744" cy="256032"/>
          </a:xfrm>
          <a:prstGeom prst="downArrow">
            <a:avLst/>
          </a:prstGeom>
          <a:solidFill>
            <a:srgbClr val="2E8B57"/>
          </a:solidFill>
          <a:ln/>
        </p:spPr>
      </p:sp>
      <p:sp>
        <p:nvSpPr>
          <p:cNvPr id="32" name="Shape 30"/>
          <p:cNvSpPr/>
          <p:nvPr/>
        </p:nvSpPr>
        <p:spPr>
          <a:xfrm>
            <a:off x="8778240" y="3602736"/>
            <a:ext cx="237744" cy="256032"/>
          </a:xfrm>
          <a:prstGeom prst="downArrow">
            <a:avLst/>
          </a:prstGeom>
          <a:solidFill>
            <a:srgbClr val="B23A48"/>
          </a:solidFill>
          <a:ln/>
        </p:spPr>
      </p:sp>
      <p:sp>
        <p:nvSpPr>
          <p:cNvPr id="33" name="Shape 31"/>
          <p:cNvSpPr/>
          <p:nvPr/>
        </p:nvSpPr>
        <p:spPr>
          <a:xfrm>
            <a:off x="548640" y="3931920"/>
            <a:ext cx="5394960" cy="1920240"/>
          </a:xfrm>
          <a:prstGeom prst="roundRect">
            <a:avLst>
              <a:gd name="adj" fmla="val 3333"/>
            </a:avLst>
          </a:prstGeom>
          <a:solidFill>
            <a:srgbClr val="F4F7FA"/>
          </a:solidFill>
          <a:ln w="12700">
            <a:solidFill>
              <a:srgbClr val="2E8B57"/>
            </a:solidFill>
            <a:prstDash val="solid"/>
          </a:ln>
        </p:spPr>
      </p:sp>
      <p:sp>
        <p:nvSpPr>
          <p:cNvPr id="34" name="Text 32"/>
          <p:cNvSpPr txBox="1"/>
          <p:nvPr/>
        </p:nvSpPr>
        <p:spPr>
          <a:xfrm>
            <a:off x="777240" y="4023360"/>
            <a:ext cx="1828800" cy="237744"/>
          </a:xfrm>
          <a:prstGeom prst="rect">
            <a:avLst/>
          </a:prstGeom>
          <a:noFill/>
          <a:ln/>
        </p:spPr>
        <p:txBody>
          <a:bodyPr wrap="square" lIns="0" tIns="0" rIns="0" bIns="0" rtlCol="0" anchor="ctr"/>
          <a:lstStyle/>
          <a:p>
            <a:pPr indent="0" marL="0">
              <a:buNone/>
            </a:pPr>
            <a:r>
              <a:rPr lang="en-US" sz="1000" b="1" spc="100" kern="0" dirty="0">
                <a:solidFill>
                  <a:srgbClr val="2E8B57"/>
                </a:solidFill>
                <a:latin typeface="Calibri" pitchFamily="34" charset="0"/>
                <a:ea typeface="Calibri" pitchFamily="34" charset="-122"/>
                <a:cs typeface="Calibri" pitchFamily="34" charset="-120"/>
              </a:rPr>
              <a:t>PASSES</a:t>
            </a:r>
            <a:endParaRPr lang="en-US" sz="1000" dirty="0"/>
          </a:p>
        </p:txBody>
      </p:sp>
      <p:sp>
        <p:nvSpPr>
          <p:cNvPr id="35" name="Shape 33"/>
          <p:cNvSpPr/>
          <p:nvPr/>
        </p:nvSpPr>
        <p:spPr>
          <a:xfrm>
            <a:off x="822960" y="4370832"/>
            <a:ext cx="128016" cy="128016"/>
          </a:xfrm>
          <a:prstGeom prst="ellipse">
            <a:avLst/>
          </a:prstGeom>
          <a:solidFill>
            <a:srgbClr val="2E8B57"/>
          </a:solidFill>
          <a:ln/>
        </p:spPr>
      </p:sp>
      <p:sp>
        <p:nvSpPr>
          <p:cNvPr id="36" name="Text 34"/>
          <p:cNvSpPr txBox="1"/>
          <p:nvPr/>
        </p:nvSpPr>
        <p:spPr>
          <a:xfrm>
            <a:off x="1051560" y="4315968"/>
            <a:ext cx="4754880" cy="256032"/>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Price computed from rate card — CODE, not the model</a:t>
            </a:r>
            <a:endParaRPr lang="en-US" sz="1000" dirty="0"/>
          </a:p>
        </p:txBody>
      </p:sp>
      <p:sp>
        <p:nvSpPr>
          <p:cNvPr id="37" name="Shape 35"/>
          <p:cNvSpPr/>
          <p:nvPr/>
        </p:nvSpPr>
        <p:spPr>
          <a:xfrm>
            <a:off x="822960" y="4654296"/>
            <a:ext cx="128016" cy="128016"/>
          </a:xfrm>
          <a:prstGeom prst="ellipse">
            <a:avLst/>
          </a:prstGeom>
          <a:solidFill>
            <a:srgbClr val="2E8B57"/>
          </a:solidFill>
          <a:ln/>
        </p:spPr>
      </p:sp>
      <p:sp>
        <p:nvSpPr>
          <p:cNvPr id="38" name="Text 36"/>
          <p:cNvSpPr txBox="1"/>
          <p:nvPr/>
        </p:nvSpPr>
        <p:spPr>
          <a:xfrm>
            <a:off x="1051560" y="4599432"/>
            <a:ext cx="4754880" cy="256032"/>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LLM writes the covering narrative only</a:t>
            </a:r>
            <a:endParaRPr lang="en-US" sz="1000" dirty="0"/>
          </a:p>
        </p:txBody>
      </p:sp>
      <p:sp>
        <p:nvSpPr>
          <p:cNvPr id="39" name="Shape 37"/>
          <p:cNvSpPr/>
          <p:nvPr/>
        </p:nvSpPr>
        <p:spPr>
          <a:xfrm>
            <a:off x="822960" y="4937760"/>
            <a:ext cx="128016" cy="128016"/>
          </a:xfrm>
          <a:prstGeom prst="ellipse">
            <a:avLst/>
          </a:prstGeom>
          <a:solidFill>
            <a:srgbClr val="2E8B57"/>
          </a:solidFill>
          <a:ln/>
        </p:spPr>
      </p:sp>
      <p:sp>
        <p:nvSpPr>
          <p:cNvPr id="40" name="Text 38"/>
          <p:cNvSpPr txBox="1"/>
          <p:nvPr/>
        </p:nvSpPr>
        <p:spPr>
          <a:xfrm>
            <a:off x="1051560" y="4882896"/>
            <a:ext cx="4754880" cy="256032"/>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Draft quotation + PDF built</a:t>
            </a:r>
            <a:endParaRPr lang="en-US" sz="1000" dirty="0"/>
          </a:p>
        </p:txBody>
      </p:sp>
      <p:sp>
        <p:nvSpPr>
          <p:cNvPr id="41" name="Shape 39"/>
          <p:cNvSpPr/>
          <p:nvPr/>
        </p:nvSpPr>
        <p:spPr>
          <a:xfrm>
            <a:off x="822960" y="5221224"/>
            <a:ext cx="128016" cy="128016"/>
          </a:xfrm>
          <a:prstGeom prst="ellipse">
            <a:avLst/>
          </a:prstGeom>
          <a:solidFill>
            <a:srgbClr val="F2A104"/>
          </a:solidFill>
          <a:ln/>
        </p:spPr>
      </p:sp>
      <p:sp>
        <p:nvSpPr>
          <p:cNvPr id="42" name="Text 40"/>
          <p:cNvSpPr txBox="1"/>
          <p:nvPr/>
        </p:nvSpPr>
        <p:spPr>
          <a:xfrm>
            <a:off x="1051560" y="5166360"/>
            <a:ext cx="4754880" cy="256032"/>
          </a:xfrm>
          <a:prstGeom prst="rect">
            <a:avLst/>
          </a:prstGeom>
          <a:noFill/>
          <a:ln/>
        </p:spPr>
        <p:txBody>
          <a:bodyPr wrap="square" lIns="0" tIns="0" rIns="0" bIns="0" rtlCol="0" anchor="ctr"/>
          <a:lstStyle/>
          <a:p>
            <a:pPr indent="0" marL="0">
              <a:buNone/>
            </a:pPr>
            <a:r>
              <a:rPr lang="en-US" sz="1000" b="1" dirty="0">
                <a:solidFill>
                  <a:srgbClr val="21295C"/>
                </a:solidFill>
                <a:latin typeface="Calibri" pitchFamily="34" charset="0"/>
                <a:ea typeface="Calibri" pitchFamily="34" charset="-122"/>
                <a:cs typeface="Calibri" pitchFamily="34" charset="-120"/>
              </a:rPr>
              <a:t>OWNER APPROVES on their phone — mandatory gate</a:t>
            </a:r>
            <a:endParaRPr lang="en-US" sz="1000" dirty="0"/>
          </a:p>
        </p:txBody>
      </p:sp>
      <p:sp>
        <p:nvSpPr>
          <p:cNvPr id="43" name="Shape 41"/>
          <p:cNvSpPr/>
          <p:nvPr/>
        </p:nvSpPr>
        <p:spPr>
          <a:xfrm>
            <a:off x="822960" y="5504688"/>
            <a:ext cx="128016" cy="128016"/>
          </a:xfrm>
          <a:prstGeom prst="ellipse">
            <a:avLst/>
          </a:prstGeom>
          <a:solidFill>
            <a:srgbClr val="2E8B57"/>
          </a:solidFill>
          <a:ln/>
        </p:spPr>
      </p:sp>
      <p:sp>
        <p:nvSpPr>
          <p:cNvPr id="44" name="Text 42"/>
          <p:cNvSpPr txBox="1"/>
          <p:nvPr/>
        </p:nvSpPr>
        <p:spPr>
          <a:xfrm>
            <a:off x="1051560" y="5449824"/>
            <a:ext cx="4754880" cy="256032"/>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Sent to customer → accepted → becomes a job</a:t>
            </a:r>
            <a:endParaRPr lang="en-US" sz="1000" dirty="0"/>
          </a:p>
        </p:txBody>
      </p:sp>
      <p:sp>
        <p:nvSpPr>
          <p:cNvPr id="45" name="Shape 43"/>
          <p:cNvSpPr/>
          <p:nvPr/>
        </p:nvSpPr>
        <p:spPr>
          <a:xfrm>
            <a:off x="6217920" y="3931920"/>
            <a:ext cx="5394960" cy="1920240"/>
          </a:xfrm>
          <a:prstGeom prst="roundRect">
            <a:avLst>
              <a:gd name="adj" fmla="val 3333"/>
            </a:avLst>
          </a:prstGeom>
          <a:solidFill>
            <a:srgbClr val="F7EDEE"/>
          </a:solidFill>
          <a:ln w="12700">
            <a:solidFill>
              <a:srgbClr val="B23A48"/>
            </a:solidFill>
            <a:prstDash val="solid"/>
          </a:ln>
        </p:spPr>
      </p:sp>
      <p:sp>
        <p:nvSpPr>
          <p:cNvPr id="46" name="Text 44"/>
          <p:cNvSpPr txBox="1"/>
          <p:nvPr/>
        </p:nvSpPr>
        <p:spPr>
          <a:xfrm>
            <a:off x="6446520" y="4023360"/>
            <a:ext cx="1828800" cy="237744"/>
          </a:xfrm>
          <a:prstGeom prst="rect">
            <a:avLst/>
          </a:prstGeom>
          <a:noFill/>
          <a:ln/>
        </p:spPr>
        <p:txBody>
          <a:bodyPr wrap="square" lIns="0" tIns="0" rIns="0" bIns="0" rtlCol="0" anchor="ctr"/>
          <a:lstStyle/>
          <a:p>
            <a:pPr indent="0" marL="0">
              <a:buNone/>
            </a:pPr>
            <a:r>
              <a:rPr lang="en-US" sz="1000" b="1" spc="100" kern="0" dirty="0">
                <a:solidFill>
                  <a:srgbClr val="B23A48"/>
                </a:solidFill>
                <a:latin typeface="Calibri" pitchFamily="34" charset="0"/>
                <a:ea typeface="Calibri" pitchFamily="34" charset="-122"/>
                <a:cs typeface="Calibri" pitchFamily="34" charset="-120"/>
              </a:rPr>
              <a:t>FAILS</a:t>
            </a:r>
            <a:endParaRPr lang="en-US" sz="1000" dirty="0"/>
          </a:p>
        </p:txBody>
      </p:sp>
      <p:sp>
        <p:nvSpPr>
          <p:cNvPr id="47" name="Shape 45"/>
          <p:cNvSpPr/>
          <p:nvPr/>
        </p:nvSpPr>
        <p:spPr>
          <a:xfrm>
            <a:off x="6492240" y="4370832"/>
            <a:ext cx="128016" cy="128016"/>
          </a:xfrm>
          <a:prstGeom prst="ellipse">
            <a:avLst/>
          </a:prstGeom>
          <a:solidFill>
            <a:srgbClr val="5A6B7B"/>
          </a:solidFill>
          <a:ln/>
        </p:spPr>
      </p:sp>
      <p:sp>
        <p:nvSpPr>
          <p:cNvPr id="48" name="Text 46"/>
          <p:cNvSpPr txBox="1"/>
          <p:nvPr/>
        </p:nvSpPr>
        <p:spPr>
          <a:xfrm>
            <a:off x="6720840" y="4315968"/>
            <a:ext cx="4754880" cy="256032"/>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Structured reasons returned, never a bare no</a:t>
            </a:r>
            <a:endParaRPr lang="en-US" sz="1000" dirty="0"/>
          </a:p>
        </p:txBody>
      </p:sp>
      <p:sp>
        <p:nvSpPr>
          <p:cNvPr id="49" name="Shape 47"/>
          <p:cNvSpPr/>
          <p:nvPr/>
        </p:nvSpPr>
        <p:spPr>
          <a:xfrm>
            <a:off x="6492240" y="4654296"/>
            <a:ext cx="128016" cy="128016"/>
          </a:xfrm>
          <a:prstGeom prst="ellipse">
            <a:avLst/>
          </a:prstGeom>
          <a:solidFill>
            <a:srgbClr val="B23A48"/>
          </a:solidFill>
          <a:ln/>
        </p:spPr>
      </p:sp>
      <p:sp>
        <p:nvSpPr>
          <p:cNvPr id="50" name="Text 48"/>
          <p:cNvSpPr txBox="1"/>
          <p:nvPr/>
        </p:nvSpPr>
        <p:spPr>
          <a:xfrm>
            <a:off x="6720840" y="4599432"/>
            <a:ext cx="4754880" cy="256032"/>
          </a:xfrm>
          <a:prstGeom prst="rect">
            <a:avLst/>
          </a:prstGeom>
          <a:noFill/>
          <a:ln/>
        </p:spPr>
        <p:txBody>
          <a:bodyPr wrap="square" lIns="0" tIns="0" rIns="0" bIns="0" rtlCol="0" anchor="ctr"/>
          <a:lstStyle/>
          <a:p>
            <a:pPr indent="0" marL="0">
              <a:buNone/>
            </a:pPr>
            <a:r>
              <a:rPr lang="en-US" sz="1000" b="1" dirty="0">
                <a:solidFill>
                  <a:srgbClr val="21295C"/>
                </a:solidFill>
                <a:latin typeface="Calibri" pitchFamily="34" charset="0"/>
                <a:ea typeface="Calibri" pitchFamily="34" charset="-122"/>
                <a:cs typeface="Calibri" pitchFamily="34" charset="-120"/>
              </a:rPr>
              <a:t>ROUTED TO THE OWNER — never auto-closed</a:t>
            </a:r>
            <a:endParaRPr lang="en-US" sz="1000" dirty="0"/>
          </a:p>
        </p:txBody>
      </p:sp>
      <p:sp>
        <p:nvSpPr>
          <p:cNvPr id="51" name="Shape 49"/>
          <p:cNvSpPr/>
          <p:nvPr/>
        </p:nvSpPr>
        <p:spPr>
          <a:xfrm>
            <a:off x="6492240" y="4937760"/>
            <a:ext cx="128016" cy="128016"/>
          </a:xfrm>
          <a:prstGeom prst="ellipse">
            <a:avLst/>
          </a:prstGeom>
          <a:solidFill>
            <a:srgbClr val="5A6B7B"/>
          </a:solidFill>
          <a:ln/>
        </p:spPr>
      </p:sp>
      <p:sp>
        <p:nvSpPr>
          <p:cNvPr id="52" name="Text 50"/>
          <p:cNvSpPr txBox="1"/>
          <p:nvPr/>
        </p:nvSpPr>
        <p:spPr>
          <a:xfrm>
            <a:off x="6720840" y="4882896"/>
            <a:ext cx="4754880" cy="256032"/>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Owner may override and quote anyway</a:t>
            </a:r>
            <a:endParaRPr lang="en-US" sz="1000" dirty="0"/>
          </a:p>
        </p:txBody>
      </p:sp>
      <p:sp>
        <p:nvSpPr>
          <p:cNvPr id="53" name="Shape 51"/>
          <p:cNvSpPr/>
          <p:nvPr/>
        </p:nvSpPr>
        <p:spPr>
          <a:xfrm>
            <a:off x="6492240" y="5221224"/>
            <a:ext cx="128016" cy="128016"/>
          </a:xfrm>
          <a:prstGeom prst="ellipse">
            <a:avLst/>
          </a:prstGeom>
          <a:solidFill>
            <a:srgbClr val="5A6B7B"/>
          </a:solidFill>
          <a:ln/>
        </p:spPr>
      </p:sp>
      <p:sp>
        <p:nvSpPr>
          <p:cNvPr id="54" name="Text 52"/>
          <p:cNvSpPr txBox="1"/>
          <p:nvPr/>
        </p:nvSpPr>
        <p:spPr>
          <a:xfrm>
            <a:off x="6720840" y="5166360"/>
            <a:ext cx="4754880" cy="256032"/>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If declined: a non-final outcome, not a closed door</a:t>
            </a:r>
            <a:endParaRPr lang="en-US" sz="1000" dirty="0"/>
          </a:p>
        </p:txBody>
      </p:sp>
      <p:sp>
        <p:nvSpPr>
          <p:cNvPr id="55" name="Shape 53"/>
          <p:cNvSpPr/>
          <p:nvPr/>
        </p:nvSpPr>
        <p:spPr>
          <a:xfrm>
            <a:off x="6492240" y="5504688"/>
            <a:ext cx="128016" cy="128016"/>
          </a:xfrm>
          <a:prstGeom prst="ellipse">
            <a:avLst/>
          </a:prstGeom>
          <a:solidFill>
            <a:srgbClr val="5A6B7B"/>
          </a:solidFill>
          <a:ln/>
        </p:spPr>
      </p:sp>
      <p:sp>
        <p:nvSpPr>
          <p:cNvPr id="56" name="Text 54"/>
          <p:cNvSpPr txBox="1"/>
          <p:nvPr/>
        </p:nvSpPr>
        <p:spPr>
          <a:xfrm>
            <a:off x="6720840" y="5449824"/>
            <a:ext cx="4754880" cy="256032"/>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Documented route to a human review</a:t>
            </a:r>
            <a:endParaRPr lang="en-US" sz="1000" dirty="0"/>
          </a:p>
        </p:txBody>
      </p:sp>
      <p:sp>
        <p:nvSpPr>
          <p:cNvPr id="57" name="Shape 55"/>
          <p:cNvSpPr/>
          <p:nvPr/>
        </p:nvSpPr>
        <p:spPr>
          <a:xfrm>
            <a:off x="548640" y="6053328"/>
            <a:ext cx="11064240" cy="566928"/>
          </a:xfrm>
          <a:prstGeom prst="roundRect">
            <a:avLst>
              <a:gd name="adj" fmla="val 11290"/>
            </a:avLst>
          </a:prstGeom>
          <a:solidFill>
            <a:srgbClr val="F4F7FA"/>
          </a:solidFill>
          <a:ln w="12700">
            <a:solidFill>
              <a:srgbClr val="DCE5EE"/>
            </a:solidFill>
            <a:prstDash val="solid"/>
          </a:ln>
        </p:spPr>
      </p:sp>
      <p:sp>
        <p:nvSpPr>
          <p:cNvPr id="58" name="Text 56"/>
          <p:cNvSpPr txBox="1"/>
          <p:nvPr/>
        </p:nvSpPr>
        <p:spPr>
          <a:xfrm>
            <a:off x="777240" y="6053328"/>
            <a:ext cx="10607040" cy="566928"/>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WHY NO TERMINAL AUTO-REJECTION:  an automated decision that rejects a person with no human involved is the shape the law catches. The original design had “not feasible → lead closed”. That path is removed.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DIFFERENTIATOR</a:t>
            </a:r>
            <a:endParaRPr lang="en-US" sz="1050" dirty="0"/>
          </a:p>
        </p:txBody>
      </p:sp>
      <p:sp>
        <p:nvSpPr>
          <p:cNvPr id="3" name="Text 1"/>
          <p:cNvSpPr txBox="1"/>
          <p:nvPr/>
        </p:nvSpPr>
        <p:spPr>
          <a:xfrm>
            <a:off x="548640" y="512064"/>
            <a:ext cx="11064240" cy="566928"/>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The feasibility engine</a:t>
            </a:r>
            <a:endParaRPr lang="en-US" sz="2800" dirty="0"/>
          </a:p>
        </p:txBody>
      </p:sp>
      <p:sp>
        <p:nvSpPr>
          <p:cNvPr id="4" name="Text 2"/>
          <p:cNvSpPr txBox="1"/>
          <p:nvPr/>
        </p:nvSpPr>
        <p:spPr>
          <a:xfrm>
            <a:off x="548640" y="1115568"/>
            <a:ext cx="11064240" cy="292608"/>
          </a:xfrm>
          <a:prstGeom prst="rect">
            <a:avLst/>
          </a:prstGeom>
          <a:noFill/>
          <a:ln/>
        </p:spPr>
        <p:txBody>
          <a:bodyPr wrap="square" lIns="0" tIns="0" rIns="0" bIns="0" rtlCol="0" anchor="ctr"/>
          <a:lstStyle/>
          <a:p>
            <a:pPr indent="0" marL="0">
              <a:buNone/>
            </a:pPr>
            <a:r>
              <a:rPr lang="en-US" sz="1300" i="1" dirty="0">
                <a:solidFill>
                  <a:srgbClr val="5A6B7B"/>
                </a:solidFill>
                <a:latin typeface="Calibri" pitchFamily="34" charset="0"/>
                <a:ea typeface="Calibri" pitchFamily="34" charset="-122"/>
                <a:cs typeface="Calibri" pitchFamily="34" charset="-120"/>
              </a:rPr>
              <a:t>The single thing no examined competitor does: checking whether the business can actually do the job, before pricing it.</a:t>
            </a:r>
            <a:endParaRPr lang="en-US" sz="1300" dirty="0"/>
          </a:p>
        </p:txBody>
      </p:sp>
      <p:sp>
        <p:nvSpPr>
          <p:cNvPr id="5" name="Shape 3"/>
          <p:cNvSpPr/>
          <p:nvPr/>
        </p:nvSpPr>
        <p:spPr>
          <a:xfrm>
            <a:off x="548640" y="1536192"/>
            <a:ext cx="6949440" cy="585216"/>
          </a:xfrm>
          <a:prstGeom prst="roundRect">
            <a:avLst>
              <a:gd name="adj" fmla="val 10938"/>
            </a:avLst>
          </a:prstGeom>
          <a:solidFill>
            <a:srgbClr val="FFFFFF"/>
          </a:solidFill>
          <a:ln w="12700">
            <a:solidFill>
              <a:srgbClr val="DCE5EE"/>
            </a:solidFill>
            <a:prstDash val="solid"/>
          </a:ln>
        </p:spPr>
      </p:sp>
      <p:sp>
        <p:nvSpPr>
          <p:cNvPr id="6" name="Shape 4"/>
          <p:cNvSpPr/>
          <p:nvPr/>
        </p:nvSpPr>
        <p:spPr>
          <a:xfrm>
            <a:off x="713232" y="1664208"/>
            <a:ext cx="329184" cy="329184"/>
          </a:xfrm>
          <a:prstGeom prst="ellipse">
            <a:avLst/>
          </a:prstGeom>
          <a:solidFill>
            <a:srgbClr val="F2A104"/>
          </a:solidFill>
          <a:ln/>
        </p:spPr>
      </p:sp>
      <p:sp>
        <p:nvSpPr>
          <p:cNvPr id="7" name="Text 5"/>
          <p:cNvSpPr txBox="1"/>
          <p:nvPr/>
        </p:nvSpPr>
        <p:spPr>
          <a:xfrm>
            <a:off x="713232" y="1664208"/>
            <a:ext cx="329184" cy="329184"/>
          </a:xfrm>
          <a:prstGeom prst="rect">
            <a:avLst/>
          </a:prstGeom>
          <a:noFill/>
          <a:ln/>
        </p:spPr>
        <p:txBody>
          <a:bodyPr wrap="square" lIns="0" tIns="0" rIns="0" bIns="0" rtlCol="0" anchor="ctr"/>
          <a:lstStyle/>
          <a:p>
            <a:pPr algn="ctr" indent="0" marL="0">
              <a:buNone/>
            </a:pPr>
            <a:r>
              <a:rPr lang="en-US" sz="1000" b="1" dirty="0">
                <a:solidFill>
                  <a:srgbClr val="1A2733"/>
                </a:solidFill>
                <a:latin typeface="Calibri" pitchFamily="34" charset="0"/>
                <a:ea typeface="Calibri" pitchFamily="34" charset="-122"/>
                <a:cs typeface="Calibri" pitchFamily="34" charset="-120"/>
              </a:rPr>
              <a:t>1</a:t>
            </a:r>
            <a:endParaRPr lang="en-US" sz="1000" dirty="0"/>
          </a:p>
        </p:txBody>
      </p:sp>
      <p:sp>
        <p:nvSpPr>
          <p:cNvPr id="8" name="Text 6"/>
          <p:cNvSpPr txBox="1"/>
          <p:nvPr/>
        </p:nvSpPr>
        <p:spPr>
          <a:xfrm>
            <a:off x="1170432" y="1581912"/>
            <a:ext cx="2011680" cy="493776"/>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Service match</a:t>
            </a:r>
            <a:endParaRPr lang="en-US" sz="1200" dirty="0"/>
          </a:p>
        </p:txBody>
      </p:sp>
      <p:sp>
        <p:nvSpPr>
          <p:cNvPr id="9" name="Text 7"/>
          <p:cNvSpPr txBox="1"/>
          <p:nvPr/>
        </p:nvSpPr>
        <p:spPr>
          <a:xfrm>
            <a:off x="3200400" y="1581912"/>
            <a:ext cx="3017520" cy="493776"/>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Do they offer this work at all?</a:t>
            </a:r>
            <a:endParaRPr lang="en-US" sz="1000" dirty="0"/>
          </a:p>
        </p:txBody>
      </p:sp>
      <p:sp>
        <p:nvSpPr>
          <p:cNvPr id="10" name="Text 8"/>
          <p:cNvSpPr txBox="1"/>
          <p:nvPr/>
        </p:nvSpPr>
        <p:spPr>
          <a:xfrm>
            <a:off x="6263640" y="1581912"/>
            <a:ext cx="1143000" cy="493776"/>
          </a:xfrm>
          <a:prstGeom prst="rect">
            <a:avLst/>
          </a:prstGeom>
          <a:noFill/>
          <a:ln/>
        </p:spPr>
        <p:txBody>
          <a:bodyPr wrap="square" lIns="0" tIns="0" rIns="0" bIns="0" rtlCol="0" anchor="ctr"/>
          <a:lstStyle/>
          <a:p>
            <a:pPr algn="r" indent="0" marL="0">
              <a:buNone/>
            </a:pPr>
            <a:r>
              <a:rPr lang="en-US" sz="850" i="1" dirty="0">
                <a:solidFill>
                  <a:srgbClr val="1C7293"/>
                </a:solidFill>
                <a:latin typeface="Calibri" pitchFamily="34" charset="0"/>
                <a:ea typeface="Calibri" pitchFamily="34" charset="-122"/>
                <a:cs typeface="Calibri" pitchFamily="34" charset="-120"/>
              </a:rPr>
              <a:t>services table</a:t>
            </a:r>
            <a:endParaRPr lang="en-US" sz="850" dirty="0"/>
          </a:p>
        </p:txBody>
      </p:sp>
      <p:sp>
        <p:nvSpPr>
          <p:cNvPr id="11" name="Shape 9"/>
          <p:cNvSpPr/>
          <p:nvPr/>
        </p:nvSpPr>
        <p:spPr>
          <a:xfrm>
            <a:off x="548640" y="2194560"/>
            <a:ext cx="6949440" cy="585216"/>
          </a:xfrm>
          <a:prstGeom prst="roundRect">
            <a:avLst>
              <a:gd name="adj" fmla="val 10938"/>
            </a:avLst>
          </a:prstGeom>
          <a:solidFill>
            <a:srgbClr val="F4F7FA"/>
          </a:solidFill>
          <a:ln w="12700">
            <a:solidFill>
              <a:srgbClr val="DCE5EE"/>
            </a:solidFill>
            <a:prstDash val="solid"/>
          </a:ln>
        </p:spPr>
      </p:sp>
      <p:sp>
        <p:nvSpPr>
          <p:cNvPr id="12" name="Shape 10"/>
          <p:cNvSpPr/>
          <p:nvPr/>
        </p:nvSpPr>
        <p:spPr>
          <a:xfrm>
            <a:off x="713232" y="2322576"/>
            <a:ext cx="329184" cy="329184"/>
          </a:xfrm>
          <a:prstGeom prst="ellipse">
            <a:avLst/>
          </a:prstGeom>
          <a:solidFill>
            <a:srgbClr val="F2A104"/>
          </a:solidFill>
          <a:ln/>
        </p:spPr>
      </p:sp>
      <p:sp>
        <p:nvSpPr>
          <p:cNvPr id="13" name="Text 11"/>
          <p:cNvSpPr txBox="1"/>
          <p:nvPr/>
        </p:nvSpPr>
        <p:spPr>
          <a:xfrm>
            <a:off x="713232" y="2322576"/>
            <a:ext cx="329184" cy="329184"/>
          </a:xfrm>
          <a:prstGeom prst="rect">
            <a:avLst/>
          </a:prstGeom>
          <a:noFill/>
          <a:ln/>
        </p:spPr>
        <p:txBody>
          <a:bodyPr wrap="square" lIns="0" tIns="0" rIns="0" bIns="0" rtlCol="0" anchor="ctr"/>
          <a:lstStyle/>
          <a:p>
            <a:pPr algn="ctr" indent="0" marL="0">
              <a:buNone/>
            </a:pPr>
            <a:r>
              <a:rPr lang="en-US" sz="1000" b="1" dirty="0">
                <a:solidFill>
                  <a:srgbClr val="1A2733"/>
                </a:solidFill>
                <a:latin typeface="Calibri" pitchFamily="34" charset="0"/>
                <a:ea typeface="Calibri" pitchFamily="34" charset="-122"/>
                <a:cs typeface="Calibri" pitchFamily="34" charset="-120"/>
              </a:rPr>
              <a:t>2</a:t>
            </a:r>
            <a:endParaRPr lang="en-US" sz="1000" dirty="0"/>
          </a:p>
        </p:txBody>
      </p:sp>
      <p:sp>
        <p:nvSpPr>
          <p:cNvPr id="14" name="Text 12"/>
          <p:cNvSpPr txBox="1"/>
          <p:nvPr/>
        </p:nvSpPr>
        <p:spPr>
          <a:xfrm>
            <a:off x="1170432" y="2240280"/>
            <a:ext cx="2011680" cy="493776"/>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Area match</a:t>
            </a:r>
            <a:endParaRPr lang="en-US" sz="1200" dirty="0"/>
          </a:p>
        </p:txBody>
      </p:sp>
      <p:sp>
        <p:nvSpPr>
          <p:cNvPr id="15" name="Text 13"/>
          <p:cNvSpPr txBox="1"/>
          <p:nvPr/>
        </p:nvSpPr>
        <p:spPr>
          <a:xfrm>
            <a:off x="3200400" y="2240280"/>
            <a:ext cx="3017520" cy="493776"/>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Is the customer inside the area covered?</a:t>
            </a:r>
            <a:endParaRPr lang="en-US" sz="1000" dirty="0"/>
          </a:p>
        </p:txBody>
      </p:sp>
      <p:sp>
        <p:nvSpPr>
          <p:cNvPr id="16" name="Text 14"/>
          <p:cNvSpPr txBox="1"/>
          <p:nvPr/>
        </p:nvSpPr>
        <p:spPr>
          <a:xfrm>
            <a:off x="6263640" y="2240280"/>
            <a:ext cx="1143000" cy="493776"/>
          </a:xfrm>
          <a:prstGeom prst="rect">
            <a:avLst/>
          </a:prstGeom>
          <a:noFill/>
          <a:ln/>
        </p:spPr>
        <p:txBody>
          <a:bodyPr wrap="square" lIns="0" tIns="0" rIns="0" bIns="0" rtlCol="0" anchor="ctr"/>
          <a:lstStyle/>
          <a:p>
            <a:pPr algn="r" indent="0" marL="0">
              <a:buNone/>
            </a:pPr>
            <a:r>
              <a:rPr lang="en-US" sz="850" i="1" dirty="0">
                <a:solidFill>
                  <a:srgbClr val="1C7293"/>
                </a:solidFill>
                <a:latin typeface="Calibri" pitchFamily="34" charset="0"/>
                <a:ea typeface="Calibri" pitchFamily="34" charset="-122"/>
                <a:cs typeface="Calibri" pitchFamily="34" charset="-120"/>
              </a:rPr>
              <a:t>service_areas</a:t>
            </a:r>
            <a:endParaRPr lang="en-US" sz="850" dirty="0"/>
          </a:p>
        </p:txBody>
      </p:sp>
      <p:sp>
        <p:nvSpPr>
          <p:cNvPr id="17" name="Shape 15"/>
          <p:cNvSpPr/>
          <p:nvPr/>
        </p:nvSpPr>
        <p:spPr>
          <a:xfrm>
            <a:off x="548640" y="2852928"/>
            <a:ext cx="6949440" cy="585216"/>
          </a:xfrm>
          <a:prstGeom prst="roundRect">
            <a:avLst>
              <a:gd name="adj" fmla="val 10938"/>
            </a:avLst>
          </a:prstGeom>
          <a:solidFill>
            <a:srgbClr val="FFFFFF"/>
          </a:solidFill>
          <a:ln w="12700">
            <a:solidFill>
              <a:srgbClr val="DCE5EE"/>
            </a:solidFill>
            <a:prstDash val="solid"/>
          </a:ln>
        </p:spPr>
      </p:sp>
      <p:sp>
        <p:nvSpPr>
          <p:cNvPr id="18" name="Shape 16"/>
          <p:cNvSpPr/>
          <p:nvPr/>
        </p:nvSpPr>
        <p:spPr>
          <a:xfrm>
            <a:off x="713232" y="2980944"/>
            <a:ext cx="329184" cy="329184"/>
          </a:xfrm>
          <a:prstGeom prst="ellipse">
            <a:avLst/>
          </a:prstGeom>
          <a:solidFill>
            <a:srgbClr val="F2A104"/>
          </a:solidFill>
          <a:ln/>
        </p:spPr>
      </p:sp>
      <p:sp>
        <p:nvSpPr>
          <p:cNvPr id="19" name="Text 17"/>
          <p:cNvSpPr txBox="1"/>
          <p:nvPr/>
        </p:nvSpPr>
        <p:spPr>
          <a:xfrm>
            <a:off x="713232" y="2980944"/>
            <a:ext cx="329184" cy="329184"/>
          </a:xfrm>
          <a:prstGeom prst="rect">
            <a:avLst/>
          </a:prstGeom>
          <a:noFill/>
          <a:ln/>
        </p:spPr>
        <p:txBody>
          <a:bodyPr wrap="square" lIns="0" tIns="0" rIns="0" bIns="0" rtlCol="0" anchor="ctr"/>
          <a:lstStyle/>
          <a:p>
            <a:pPr algn="ctr" indent="0" marL="0">
              <a:buNone/>
            </a:pPr>
            <a:r>
              <a:rPr lang="en-US" sz="1000" b="1" dirty="0">
                <a:solidFill>
                  <a:srgbClr val="1A2733"/>
                </a:solidFill>
                <a:latin typeface="Calibri" pitchFamily="34" charset="0"/>
                <a:ea typeface="Calibri" pitchFamily="34" charset="-122"/>
                <a:cs typeface="Calibri" pitchFamily="34" charset="-120"/>
              </a:rPr>
              <a:t>3</a:t>
            </a:r>
            <a:endParaRPr lang="en-US" sz="1000" dirty="0"/>
          </a:p>
        </p:txBody>
      </p:sp>
      <p:sp>
        <p:nvSpPr>
          <p:cNvPr id="20" name="Text 18"/>
          <p:cNvSpPr txBox="1"/>
          <p:nvPr/>
        </p:nvSpPr>
        <p:spPr>
          <a:xfrm>
            <a:off x="1170432" y="2898648"/>
            <a:ext cx="2011680" cy="493776"/>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Parts sufficient</a:t>
            </a:r>
            <a:endParaRPr lang="en-US" sz="1200" dirty="0"/>
          </a:p>
        </p:txBody>
      </p:sp>
      <p:sp>
        <p:nvSpPr>
          <p:cNvPr id="21" name="Text 19"/>
          <p:cNvSpPr txBox="1"/>
          <p:nvPr/>
        </p:nvSpPr>
        <p:spPr>
          <a:xfrm>
            <a:off x="3200400" y="2898648"/>
            <a:ext cx="3017520" cy="493776"/>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Are the parts in stock for this job?</a:t>
            </a:r>
            <a:endParaRPr lang="en-US" sz="1000" dirty="0"/>
          </a:p>
        </p:txBody>
      </p:sp>
      <p:sp>
        <p:nvSpPr>
          <p:cNvPr id="22" name="Text 20"/>
          <p:cNvSpPr txBox="1"/>
          <p:nvPr/>
        </p:nvSpPr>
        <p:spPr>
          <a:xfrm>
            <a:off x="6263640" y="2898648"/>
            <a:ext cx="1143000" cy="493776"/>
          </a:xfrm>
          <a:prstGeom prst="rect">
            <a:avLst/>
          </a:prstGeom>
          <a:noFill/>
          <a:ln/>
        </p:spPr>
        <p:txBody>
          <a:bodyPr wrap="square" lIns="0" tIns="0" rIns="0" bIns="0" rtlCol="0" anchor="ctr"/>
          <a:lstStyle/>
          <a:p>
            <a:pPr algn="r" indent="0" marL="0">
              <a:buNone/>
            </a:pPr>
            <a:r>
              <a:rPr lang="en-US" sz="850" i="1" dirty="0">
                <a:solidFill>
                  <a:srgbClr val="1C7293"/>
                </a:solidFill>
                <a:latin typeface="Calibri" pitchFamily="34" charset="0"/>
                <a:ea typeface="Calibri" pitchFamily="34" charset="-122"/>
                <a:cs typeface="Calibri" pitchFamily="34" charset="-120"/>
              </a:rPr>
              <a:t>inventory_items</a:t>
            </a:r>
            <a:endParaRPr lang="en-US" sz="850" dirty="0"/>
          </a:p>
        </p:txBody>
      </p:sp>
      <p:sp>
        <p:nvSpPr>
          <p:cNvPr id="23" name="Shape 21"/>
          <p:cNvSpPr/>
          <p:nvPr/>
        </p:nvSpPr>
        <p:spPr>
          <a:xfrm>
            <a:off x="548640" y="3511296"/>
            <a:ext cx="6949440" cy="585216"/>
          </a:xfrm>
          <a:prstGeom prst="roundRect">
            <a:avLst>
              <a:gd name="adj" fmla="val 10938"/>
            </a:avLst>
          </a:prstGeom>
          <a:solidFill>
            <a:srgbClr val="F4F7FA"/>
          </a:solidFill>
          <a:ln w="12700">
            <a:solidFill>
              <a:srgbClr val="DCE5EE"/>
            </a:solidFill>
            <a:prstDash val="solid"/>
          </a:ln>
        </p:spPr>
      </p:sp>
      <p:sp>
        <p:nvSpPr>
          <p:cNvPr id="24" name="Shape 22"/>
          <p:cNvSpPr/>
          <p:nvPr/>
        </p:nvSpPr>
        <p:spPr>
          <a:xfrm>
            <a:off x="713232" y="3639312"/>
            <a:ext cx="329184" cy="329184"/>
          </a:xfrm>
          <a:prstGeom prst="ellipse">
            <a:avLst/>
          </a:prstGeom>
          <a:solidFill>
            <a:srgbClr val="F2A104"/>
          </a:solidFill>
          <a:ln/>
        </p:spPr>
      </p:sp>
      <p:sp>
        <p:nvSpPr>
          <p:cNvPr id="25" name="Text 23"/>
          <p:cNvSpPr txBox="1"/>
          <p:nvPr/>
        </p:nvSpPr>
        <p:spPr>
          <a:xfrm>
            <a:off x="713232" y="3639312"/>
            <a:ext cx="329184" cy="329184"/>
          </a:xfrm>
          <a:prstGeom prst="rect">
            <a:avLst/>
          </a:prstGeom>
          <a:noFill/>
          <a:ln/>
        </p:spPr>
        <p:txBody>
          <a:bodyPr wrap="square" lIns="0" tIns="0" rIns="0" bIns="0" rtlCol="0" anchor="ctr"/>
          <a:lstStyle/>
          <a:p>
            <a:pPr algn="ctr" indent="0" marL="0">
              <a:buNone/>
            </a:pPr>
            <a:r>
              <a:rPr lang="en-US" sz="1000" b="1" dirty="0">
                <a:solidFill>
                  <a:srgbClr val="1A2733"/>
                </a:solidFill>
                <a:latin typeface="Calibri" pitchFamily="34" charset="0"/>
                <a:ea typeface="Calibri" pitchFamily="34" charset="-122"/>
                <a:cs typeface="Calibri" pitchFamily="34" charset="-120"/>
              </a:rPr>
              <a:t>4</a:t>
            </a:r>
            <a:endParaRPr lang="en-US" sz="1000" dirty="0"/>
          </a:p>
        </p:txBody>
      </p:sp>
      <p:sp>
        <p:nvSpPr>
          <p:cNvPr id="26" name="Text 24"/>
          <p:cNvSpPr txBox="1"/>
          <p:nvPr/>
        </p:nvSpPr>
        <p:spPr>
          <a:xfrm>
            <a:off x="1170432" y="3557016"/>
            <a:ext cx="2011680" cy="493776"/>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Crew available</a:t>
            </a:r>
            <a:endParaRPr lang="en-US" sz="1200" dirty="0"/>
          </a:p>
        </p:txBody>
      </p:sp>
      <p:sp>
        <p:nvSpPr>
          <p:cNvPr id="27" name="Text 25"/>
          <p:cNvSpPr txBox="1"/>
          <p:nvPr/>
        </p:nvSpPr>
        <p:spPr>
          <a:xfrm>
            <a:off x="3200400" y="3557016"/>
            <a:ext cx="3017520" cy="493776"/>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Is there a team free in the window?</a:t>
            </a:r>
            <a:endParaRPr lang="en-US" sz="1000" dirty="0"/>
          </a:p>
        </p:txBody>
      </p:sp>
      <p:sp>
        <p:nvSpPr>
          <p:cNvPr id="28" name="Text 26"/>
          <p:cNvSpPr txBox="1"/>
          <p:nvPr/>
        </p:nvSpPr>
        <p:spPr>
          <a:xfrm>
            <a:off x="6263640" y="3557016"/>
            <a:ext cx="1143000" cy="493776"/>
          </a:xfrm>
          <a:prstGeom prst="rect">
            <a:avLst/>
          </a:prstGeom>
          <a:noFill/>
          <a:ln/>
        </p:spPr>
        <p:txBody>
          <a:bodyPr wrap="square" lIns="0" tIns="0" rIns="0" bIns="0" rtlCol="0" anchor="ctr"/>
          <a:lstStyle/>
          <a:p>
            <a:pPr algn="r" indent="0" marL="0">
              <a:buNone/>
            </a:pPr>
            <a:r>
              <a:rPr lang="en-US" sz="850" i="1" dirty="0">
                <a:solidFill>
                  <a:srgbClr val="1C7293"/>
                </a:solidFill>
                <a:latin typeface="Calibri" pitchFamily="34" charset="0"/>
                <a:ea typeface="Calibri" pitchFamily="34" charset="-122"/>
                <a:cs typeface="Calibri" pitchFamily="34" charset="-120"/>
              </a:rPr>
              <a:t>workforce</a:t>
            </a:r>
            <a:endParaRPr lang="en-US" sz="850" dirty="0"/>
          </a:p>
        </p:txBody>
      </p:sp>
      <p:sp>
        <p:nvSpPr>
          <p:cNvPr id="29" name="Shape 27"/>
          <p:cNvSpPr/>
          <p:nvPr/>
        </p:nvSpPr>
        <p:spPr>
          <a:xfrm>
            <a:off x="548640" y="4169664"/>
            <a:ext cx="6949440" cy="585216"/>
          </a:xfrm>
          <a:prstGeom prst="roundRect">
            <a:avLst>
              <a:gd name="adj" fmla="val 10938"/>
            </a:avLst>
          </a:prstGeom>
          <a:solidFill>
            <a:srgbClr val="FFFFFF"/>
          </a:solidFill>
          <a:ln w="12700">
            <a:solidFill>
              <a:srgbClr val="DCE5EE"/>
            </a:solidFill>
            <a:prstDash val="solid"/>
          </a:ln>
        </p:spPr>
      </p:sp>
      <p:sp>
        <p:nvSpPr>
          <p:cNvPr id="30" name="Shape 28"/>
          <p:cNvSpPr/>
          <p:nvPr/>
        </p:nvSpPr>
        <p:spPr>
          <a:xfrm>
            <a:off x="713232" y="4297680"/>
            <a:ext cx="329184" cy="329184"/>
          </a:xfrm>
          <a:prstGeom prst="ellipse">
            <a:avLst/>
          </a:prstGeom>
          <a:solidFill>
            <a:srgbClr val="F2A104"/>
          </a:solidFill>
          <a:ln/>
        </p:spPr>
      </p:sp>
      <p:sp>
        <p:nvSpPr>
          <p:cNvPr id="31" name="Text 29"/>
          <p:cNvSpPr txBox="1"/>
          <p:nvPr/>
        </p:nvSpPr>
        <p:spPr>
          <a:xfrm>
            <a:off x="713232" y="4297680"/>
            <a:ext cx="329184" cy="329184"/>
          </a:xfrm>
          <a:prstGeom prst="rect">
            <a:avLst/>
          </a:prstGeom>
          <a:noFill/>
          <a:ln/>
        </p:spPr>
        <p:txBody>
          <a:bodyPr wrap="square" lIns="0" tIns="0" rIns="0" bIns="0" rtlCol="0" anchor="ctr"/>
          <a:lstStyle/>
          <a:p>
            <a:pPr algn="ctr" indent="0" marL="0">
              <a:buNone/>
            </a:pPr>
            <a:r>
              <a:rPr lang="en-US" sz="1000" b="1" dirty="0">
                <a:solidFill>
                  <a:srgbClr val="1A2733"/>
                </a:solidFill>
                <a:latin typeface="Calibri" pitchFamily="34" charset="0"/>
                <a:ea typeface="Calibri" pitchFamily="34" charset="-122"/>
                <a:cs typeface="Calibri" pitchFamily="34" charset="-120"/>
              </a:rPr>
              <a:t>5</a:t>
            </a:r>
            <a:endParaRPr lang="en-US" sz="1000" dirty="0"/>
          </a:p>
        </p:txBody>
      </p:sp>
      <p:sp>
        <p:nvSpPr>
          <p:cNvPr id="32" name="Text 30"/>
          <p:cNvSpPr txBox="1"/>
          <p:nvPr/>
        </p:nvSpPr>
        <p:spPr>
          <a:xfrm>
            <a:off x="1170432" y="4215384"/>
            <a:ext cx="2011680" cy="493776"/>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Size in bounds</a:t>
            </a:r>
            <a:endParaRPr lang="en-US" sz="1200" dirty="0"/>
          </a:p>
        </p:txBody>
      </p:sp>
      <p:sp>
        <p:nvSpPr>
          <p:cNvPr id="33" name="Text 31"/>
          <p:cNvSpPr txBox="1"/>
          <p:nvPr/>
        </p:nvSpPr>
        <p:spPr>
          <a:xfrm>
            <a:off x="3200400" y="4215384"/>
            <a:ext cx="3017520" cy="493776"/>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Is the job within min and max they handle?</a:t>
            </a:r>
            <a:endParaRPr lang="en-US" sz="1000" dirty="0"/>
          </a:p>
        </p:txBody>
      </p:sp>
      <p:sp>
        <p:nvSpPr>
          <p:cNvPr id="34" name="Text 32"/>
          <p:cNvSpPr txBox="1"/>
          <p:nvPr/>
        </p:nvSpPr>
        <p:spPr>
          <a:xfrm>
            <a:off x="6263640" y="4215384"/>
            <a:ext cx="1143000" cy="493776"/>
          </a:xfrm>
          <a:prstGeom prst="rect">
            <a:avLst/>
          </a:prstGeom>
          <a:noFill/>
          <a:ln/>
        </p:spPr>
        <p:txBody>
          <a:bodyPr wrap="square" lIns="0" tIns="0" rIns="0" bIns="0" rtlCol="0" anchor="ctr"/>
          <a:lstStyle/>
          <a:p>
            <a:pPr algn="r" indent="0" marL="0">
              <a:buNone/>
            </a:pPr>
            <a:r>
              <a:rPr lang="en-US" sz="850" i="1" dirty="0">
                <a:solidFill>
                  <a:srgbClr val="1C7293"/>
                </a:solidFill>
                <a:latin typeface="Calibri" pitchFamily="34" charset="0"/>
                <a:ea typeface="Calibri" pitchFamily="34" charset="-122"/>
                <a:cs typeface="Calibri" pitchFamily="34" charset="-120"/>
              </a:rPr>
              <a:t>businesses</a:t>
            </a:r>
            <a:endParaRPr lang="en-US" sz="850" dirty="0"/>
          </a:p>
        </p:txBody>
      </p:sp>
      <p:sp>
        <p:nvSpPr>
          <p:cNvPr id="35" name="Shape 33"/>
          <p:cNvSpPr/>
          <p:nvPr/>
        </p:nvSpPr>
        <p:spPr>
          <a:xfrm>
            <a:off x="7726680" y="1536192"/>
            <a:ext cx="3886200" cy="3255264"/>
          </a:xfrm>
          <a:prstGeom prst="roundRect">
            <a:avLst>
              <a:gd name="adj" fmla="val 1966"/>
            </a:avLst>
          </a:prstGeom>
          <a:solidFill>
            <a:srgbClr val="21295C"/>
          </a:solidFill>
          <a:ln/>
        </p:spPr>
      </p:sp>
      <p:sp>
        <p:nvSpPr>
          <p:cNvPr id="36" name="Text 34"/>
          <p:cNvSpPr txBox="1"/>
          <p:nvPr/>
        </p:nvSpPr>
        <p:spPr>
          <a:xfrm>
            <a:off x="7955280" y="1664208"/>
            <a:ext cx="3474720" cy="256032"/>
          </a:xfrm>
          <a:prstGeom prst="rect">
            <a:avLst/>
          </a:prstGeom>
          <a:noFill/>
          <a:ln/>
        </p:spPr>
        <p:txBody>
          <a:bodyPr wrap="square" lIns="0" tIns="0" rIns="0" bIns="0" rtlCol="0" anchor="ctr"/>
          <a:lstStyle/>
          <a:p>
            <a:pPr indent="0" marL="0">
              <a:buNone/>
            </a:pPr>
            <a:r>
              <a:rPr lang="en-US" sz="1000" b="1" spc="100" kern="0" dirty="0">
                <a:solidFill>
                  <a:srgbClr val="F2A104"/>
                </a:solidFill>
                <a:latin typeface="Calibri" pitchFamily="34" charset="0"/>
                <a:ea typeface="Calibri" pitchFamily="34" charset="-122"/>
                <a:cs typeface="Calibri" pitchFamily="34" charset="-120"/>
              </a:rPr>
              <a:t>WHY THIS CANNOT BE FAKED</a:t>
            </a:r>
            <a:endParaRPr lang="en-US" sz="1000" dirty="0"/>
          </a:p>
        </p:txBody>
      </p:sp>
      <p:sp>
        <p:nvSpPr>
          <p:cNvPr id="37" name="Text 35"/>
          <p:cNvSpPr txBox="1"/>
          <p:nvPr/>
        </p:nvSpPr>
        <p:spPr>
          <a:xfrm>
            <a:off x="7955280" y="2011680"/>
            <a:ext cx="3474720" cy="26517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 language model can write a convincing quote. It cannot know that Team B is booked on Thursday, or that there are 12 units left in the van.</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 requires the business's live operational state - modelled, stored and queried.</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 is why it is the differentiator, and why it is deterministic code rather than a prompt.</a:t>
            </a:r>
            <a:endParaRPr lang="en-US" sz="1100" dirty="0"/>
          </a:p>
        </p:txBody>
      </p:sp>
      <p:sp>
        <p:nvSpPr>
          <p:cNvPr id="38" name="Shape 36"/>
          <p:cNvSpPr/>
          <p:nvPr/>
        </p:nvSpPr>
        <p:spPr>
          <a:xfrm>
            <a:off x="548640" y="4919472"/>
            <a:ext cx="11064240" cy="969264"/>
          </a:xfrm>
          <a:prstGeom prst="roundRect">
            <a:avLst>
              <a:gd name="adj" fmla="val 6604"/>
            </a:avLst>
          </a:prstGeom>
          <a:solidFill>
            <a:srgbClr val="F4F7FA"/>
          </a:solidFill>
          <a:ln w="12700">
            <a:solidFill>
              <a:srgbClr val="F2A104"/>
            </a:solidFill>
            <a:prstDash val="solid"/>
          </a:ln>
        </p:spPr>
      </p:sp>
      <p:sp>
        <p:nvSpPr>
          <p:cNvPr id="39" name="Text 37"/>
          <p:cNvSpPr txBox="1"/>
          <p:nvPr/>
        </p:nvSpPr>
        <p:spPr>
          <a:xfrm>
            <a:off x="777240" y="4992624"/>
            <a:ext cx="3657600" cy="237744"/>
          </a:xfrm>
          <a:prstGeom prst="rect">
            <a:avLst/>
          </a:prstGeom>
          <a:noFill/>
          <a:ln/>
        </p:spPr>
        <p:txBody>
          <a:bodyPr wrap="square" lIns="0" tIns="0" rIns="0" bIns="0" rtlCol="0" anchor="ctr"/>
          <a:lstStyle/>
          <a:p>
            <a:pPr indent="0" marL="0">
              <a:buNone/>
            </a:pPr>
            <a:r>
              <a:rPr lang="en-US" sz="950" b="1" spc="100" kern="0" dirty="0">
                <a:solidFill>
                  <a:srgbClr val="B23A48"/>
                </a:solidFill>
                <a:latin typeface="Calibri" pitchFamily="34" charset="0"/>
                <a:ea typeface="Calibri" pitchFamily="34" charset="-122"/>
                <a:cs typeface="Calibri" pitchFamily="34" charset="-120"/>
              </a:rPr>
              <a:t>THE OPERATIONAL WARNING</a:t>
            </a:r>
            <a:endParaRPr lang="en-US" sz="950" dirty="0"/>
          </a:p>
        </p:txBody>
      </p:sp>
      <p:sp>
        <p:nvSpPr>
          <p:cNvPr id="40" name="Text 38"/>
          <p:cNvSpPr txBox="1"/>
          <p:nvPr/>
        </p:nvSpPr>
        <p:spPr>
          <a:xfrm>
            <a:off x="777240" y="5230368"/>
            <a:ext cx="10607040" cy="566928"/>
          </a:xfrm>
          <a:prstGeom prst="rect">
            <a:avLst/>
          </a:prstGeom>
          <a:noFill/>
          <a:ln/>
        </p:spPr>
        <p:txBody>
          <a:bodyPr wrap="square" lIns="0" tIns="0" rIns="0" bIns="0" rtlCol="0" anchor="ctr"/>
          <a:lstStyle/>
          <a:p>
            <a:pPr indent="0" marL="0">
              <a:buNone/>
            </a:pPr>
            <a:r>
              <a:rPr lang="en-US" sz="1100" dirty="0">
                <a:solidFill>
                  <a:srgbClr val="1A2733"/>
                </a:solidFill>
                <a:latin typeface="Calibri" pitchFamily="34" charset="0"/>
                <a:ea typeface="Calibri" pitchFamily="34" charset="-122"/>
                <a:cs typeface="Calibri" pitchFamily="34" charset="-120"/>
              </a:rPr>
              <a:t>The most likely source of a bad customer experience is not a slightly wrong price - it is a booked crew that does not exist or a promised part that is not on the van.  Volatile data is never asserted without a live source; the agent degrades to “let me confirm” and escalates.</a:t>
            </a:r>
            <a:endParaRPr lang="en-US" sz="1100" dirty="0"/>
          </a:p>
        </p:txBody>
      </p:sp>
      <p:sp>
        <p:nvSpPr>
          <p:cNvPr id="41" name="Shape 39"/>
          <p:cNvSpPr/>
          <p:nvPr/>
        </p:nvSpPr>
        <p:spPr>
          <a:xfrm>
            <a:off x="548640" y="6053328"/>
            <a:ext cx="11064240" cy="566928"/>
          </a:xfrm>
          <a:prstGeom prst="roundRect">
            <a:avLst>
              <a:gd name="adj" fmla="val 11290"/>
            </a:avLst>
          </a:prstGeom>
          <a:solidFill>
            <a:srgbClr val="F4F7FA"/>
          </a:solidFill>
          <a:ln w="12700">
            <a:solidFill>
              <a:srgbClr val="DCE5EE"/>
            </a:solidFill>
            <a:prstDash val="solid"/>
          </a:ln>
        </p:spPr>
      </p:sp>
      <p:sp>
        <p:nvSpPr>
          <p:cNvPr id="42" name="Text 40"/>
          <p:cNvSpPr txBox="1"/>
          <p:nvPr/>
        </p:nvSpPr>
        <p:spPr>
          <a:xfrm>
            <a:off x="777240" y="6053328"/>
            <a:ext cx="10607040" cy="566928"/>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EVIDENCE:  confirmed by absence across every product examined, in two independent research threads.  Caveat carried honestly - an empty column can mean nobody thought of it, or that customers did not care. Validation calls will tell us which.</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CORE RULE</a:t>
            </a:r>
            <a:endParaRPr lang="en-US" sz="1050" dirty="0"/>
          </a:p>
        </p:txBody>
      </p:sp>
      <p:sp>
        <p:nvSpPr>
          <p:cNvPr id="3" name="Text 1"/>
          <p:cNvSpPr txBox="1"/>
          <p:nvPr/>
        </p:nvSpPr>
        <p:spPr>
          <a:xfrm>
            <a:off x="548640" y="512064"/>
            <a:ext cx="11064240" cy="566928"/>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How pricing works</a:t>
            </a:r>
            <a:endParaRPr lang="en-US" sz="2800" dirty="0"/>
          </a:p>
        </p:txBody>
      </p:sp>
      <p:sp>
        <p:nvSpPr>
          <p:cNvPr id="4" name="Shape 2"/>
          <p:cNvSpPr/>
          <p:nvPr/>
        </p:nvSpPr>
        <p:spPr>
          <a:xfrm>
            <a:off x="548640" y="1143000"/>
            <a:ext cx="11064240" cy="548640"/>
          </a:xfrm>
          <a:prstGeom prst="roundRect">
            <a:avLst>
              <a:gd name="adj" fmla="val 11667"/>
            </a:avLst>
          </a:prstGeom>
          <a:solidFill>
            <a:srgbClr val="21295C"/>
          </a:solidFill>
          <a:ln/>
        </p:spPr>
      </p:sp>
      <p:sp>
        <p:nvSpPr>
          <p:cNvPr id="5" name="Text 3"/>
          <p:cNvSpPr txBox="1"/>
          <p:nvPr/>
        </p:nvSpPr>
        <p:spPr>
          <a:xfrm>
            <a:off x="777240" y="1143000"/>
            <a:ext cx="10607040" cy="5486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The language model never produces a number. Code computes it from structured data a human approved.</a:t>
            </a:r>
            <a:endParaRPr lang="en-US" sz="1350" dirty="0"/>
          </a:p>
        </p:txBody>
      </p:sp>
      <p:sp>
        <p:nvSpPr>
          <p:cNvPr id="6" name="Shape 4"/>
          <p:cNvSpPr/>
          <p:nvPr/>
        </p:nvSpPr>
        <p:spPr>
          <a:xfrm>
            <a:off x="548640" y="1874520"/>
            <a:ext cx="1645920" cy="841248"/>
          </a:xfrm>
          <a:prstGeom prst="roundRect">
            <a:avLst>
              <a:gd name="adj" fmla="val 7609"/>
            </a:avLst>
          </a:prstGeom>
          <a:solidFill>
            <a:srgbClr val="5A6B7B"/>
          </a:solidFill>
          <a:ln/>
        </p:spPr>
      </p:sp>
      <p:sp>
        <p:nvSpPr>
          <p:cNvPr id="7" name="Text 5"/>
          <p:cNvSpPr txBox="1"/>
          <p:nvPr/>
        </p:nvSpPr>
        <p:spPr>
          <a:xfrm>
            <a:off x="548640" y="1874520"/>
            <a:ext cx="1645920" cy="8412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Documents</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uploaded</a:t>
            </a:r>
            <a:endParaRPr lang="en-US" sz="1050" dirty="0"/>
          </a:p>
        </p:txBody>
      </p:sp>
      <p:sp>
        <p:nvSpPr>
          <p:cNvPr id="8" name="Shape 6"/>
          <p:cNvSpPr/>
          <p:nvPr/>
        </p:nvSpPr>
        <p:spPr>
          <a:xfrm>
            <a:off x="2240280" y="2212848"/>
            <a:ext cx="164592" cy="182880"/>
          </a:xfrm>
          <a:prstGeom prst="rightArrow">
            <a:avLst/>
          </a:prstGeom>
          <a:solidFill>
            <a:srgbClr val="AAB8C4"/>
          </a:solidFill>
          <a:ln/>
        </p:spPr>
      </p:sp>
      <p:sp>
        <p:nvSpPr>
          <p:cNvPr id="9" name="Shape 7"/>
          <p:cNvSpPr/>
          <p:nvPr/>
        </p:nvSpPr>
        <p:spPr>
          <a:xfrm>
            <a:off x="2468880" y="1874520"/>
            <a:ext cx="1645920" cy="841248"/>
          </a:xfrm>
          <a:prstGeom prst="roundRect">
            <a:avLst>
              <a:gd name="adj" fmla="val 7609"/>
            </a:avLst>
          </a:prstGeom>
          <a:solidFill>
            <a:srgbClr val="1C7293"/>
          </a:solidFill>
          <a:ln/>
        </p:spPr>
      </p:sp>
      <p:sp>
        <p:nvSpPr>
          <p:cNvPr id="10" name="Text 8"/>
          <p:cNvSpPr txBox="1"/>
          <p:nvPr/>
        </p:nvSpPr>
        <p:spPr>
          <a:xfrm>
            <a:off x="2468880" y="1874520"/>
            <a:ext cx="1645920" cy="8412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AI drafts</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rate card</a:t>
            </a:r>
            <a:endParaRPr lang="en-US" sz="1050" dirty="0"/>
          </a:p>
        </p:txBody>
      </p:sp>
      <p:sp>
        <p:nvSpPr>
          <p:cNvPr id="11" name="Shape 9"/>
          <p:cNvSpPr/>
          <p:nvPr/>
        </p:nvSpPr>
        <p:spPr>
          <a:xfrm>
            <a:off x="4160520" y="2212848"/>
            <a:ext cx="164592" cy="182880"/>
          </a:xfrm>
          <a:prstGeom prst="rightArrow">
            <a:avLst/>
          </a:prstGeom>
          <a:solidFill>
            <a:srgbClr val="AAB8C4"/>
          </a:solidFill>
          <a:ln/>
        </p:spPr>
      </p:sp>
      <p:sp>
        <p:nvSpPr>
          <p:cNvPr id="12" name="Shape 10"/>
          <p:cNvSpPr/>
          <p:nvPr/>
        </p:nvSpPr>
        <p:spPr>
          <a:xfrm>
            <a:off x="4389120" y="1874520"/>
            <a:ext cx="1645920" cy="841248"/>
          </a:xfrm>
          <a:prstGeom prst="roundRect">
            <a:avLst>
              <a:gd name="adj" fmla="val 7609"/>
            </a:avLst>
          </a:prstGeom>
          <a:solidFill>
            <a:srgbClr val="F2A104"/>
          </a:solidFill>
          <a:ln/>
        </p:spPr>
      </p:sp>
      <p:sp>
        <p:nvSpPr>
          <p:cNvPr id="13" name="Text 11"/>
          <p:cNvSpPr txBox="1"/>
          <p:nvPr/>
        </p:nvSpPr>
        <p:spPr>
          <a:xfrm>
            <a:off x="4389120" y="1874520"/>
            <a:ext cx="1645920" cy="841248"/>
          </a:xfrm>
          <a:prstGeom prst="rect">
            <a:avLst/>
          </a:prstGeom>
          <a:noFill/>
          <a:ln/>
        </p:spPr>
        <p:txBody>
          <a:bodyPr wrap="square" lIns="0" tIns="0" rIns="0" bIns="0" rtlCol="0" anchor="ctr"/>
          <a:lstStyle/>
          <a:p>
            <a:pPr algn="ctr" indent="0" marL="0">
              <a:buNone/>
            </a:pPr>
            <a:r>
              <a:rPr lang="en-US" sz="1050" b="1" dirty="0">
                <a:solidFill>
                  <a:srgbClr val="1A2733"/>
                </a:solidFill>
                <a:latin typeface="Calibri" pitchFamily="34" charset="0"/>
                <a:ea typeface="Calibri" pitchFamily="34" charset="-122"/>
                <a:cs typeface="Calibri" pitchFamily="34" charset="-120"/>
              </a:rPr>
              <a:t>OWNER</a:t>
            </a:r>
            <a:endParaRPr lang="en-US" sz="1050" dirty="0"/>
          </a:p>
          <a:p>
            <a:pPr algn="ctr" indent="0" marL="0">
              <a:buNone/>
            </a:pPr>
            <a:r>
              <a:rPr lang="en-US" sz="1050" b="1" dirty="0">
                <a:solidFill>
                  <a:srgbClr val="1A2733"/>
                </a:solidFill>
                <a:latin typeface="Calibri" pitchFamily="34" charset="0"/>
                <a:ea typeface="Calibri" pitchFamily="34" charset="-122"/>
                <a:cs typeface="Calibri" pitchFamily="34" charset="-120"/>
              </a:rPr>
              <a:t>CONFIRMS</a:t>
            </a:r>
            <a:endParaRPr lang="en-US" sz="1050" dirty="0"/>
          </a:p>
        </p:txBody>
      </p:sp>
      <p:sp>
        <p:nvSpPr>
          <p:cNvPr id="14" name="Shape 12"/>
          <p:cNvSpPr/>
          <p:nvPr/>
        </p:nvSpPr>
        <p:spPr>
          <a:xfrm>
            <a:off x="6080760" y="2212848"/>
            <a:ext cx="164592" cy="182880"/>
          </a:xfrm>
          <a:prstGeom prst="rightArrow">
            <a:avLst/>
          </a:prstGeom>
          <a:solidFill>
            <a:srgbClr val="AAB8C4"/>
          </a:solidFill>
          <a:ln/>
        </p:spPr>
      </p:sp>
      <p:sp>
        <p:nvSpPr>
          <p:cNvPr id="15" name="Shape 13"/>
          <p:cNvSpPr/>
          <p:nvPr/>
        </p:nvSpPr>
        <p:spPr>
          <a:xfrm>
            <a:off x="6309360" y="1874520"/>
            <a:ext cx="1645920" cy="841248"/>
          </a:xfrm>
          <a:prstGeom prst="roundRect">
            <a:avLst>
              <a:gd name="adj" fmla="val 7609"/>
            </a:avLst>
          </a:prstGeom>
          <a:solidFill>
            <a:srgbClr val="065A82"/>
          </a:solidFill>
          <a:ln/>
        </p:spPr>
      </p:sp>
      <p:sp>
        <p:nvSpPr>
          <p:cNvPr id="16" name="Text 14"/>
          <p:cNvSpPr txBox="1"/>
          <p:nvPr/>
        </p:nvSpPr>
        <p:spPr>
          <a:xfrm>
            <a:off x="6309360" y="1874520"/>
            <a:ext cx="1645920" cy="8412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Code computes</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the price</a:t>
            </a:r>
            <a:endParaRPr lang="en-US" sz="1050" dirty="0"/>
          </a:p>
        </p:txBody>
      </p:sp>
      <p:sp>
        <p:nvSpPr>
          <p:cNvPr id="17" name="Shape 15"/>
          <p:cNvSpPr/>
          <p:nvPr/>
        </p:nvSpPr>
        <p:spPr>
          <a:xfrm>
            <a:off x="8001000" y="2212848"/>
            <a:ext cx="164592" cy="182880"/>
          </a:xfrm>
          <a:prstGeom prst="rightArrow">
            <a:avLst/>
          </a:prstGeom>
          <a:solidFill>
            <a:srgbClr val="AAB8C4"/>
          </a:solidFill>
          <a:ln/>
        </p:spPr>
      </p:sp>
      <p:sp>
        <p:nvSpPr>
          <p:cNvPr id="18" name="Shape 16"/>
          <p:cNvSpPr/>
          <p:nvPr/>
        </p:nvSpPr>
        <p:spPr>
          <a:xfrm>
            <a:off x="8229600" y="1874520"/>
            <a:ext cx="1645920" cy="841248"/>
          </a:xfrm>
          <a:prstGeom prst="roundRect">
            <a:avLst>
              <a:gd name="adj" fmla="val 7609"/>
            </a:avLst>
          </a:prstGeom>
          <a:solidFill>
            <a:srgbClr val="1C7293"/>
          </a:solidFill>
          <a:ln/>
        </p:spPr>
      </p:sp>
      <p:sp>
        <p:nvSpPr>
          <p:cNvPr id="19" name="Text 17"/>
          <p:cNvSpPr txBox="1"/>
          <p:nvPr/>
        </p:nvSpPr>
        <p:spPr>
          <a:xfrm>
            <a:off x="8229600" y="1874520"/>
            <a:ext cx="1645920" cy="8412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LLM writes</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prose only</a:t>
            </a:r>
            <a:endParaRPr lang="en-US" sz="1050" dirty="0"/>
          </a:p>
        </p:txBody>
      </p:sp>
      <p:sp>
        <p:nvSpPr>
          <p:cNvPr id="20" name="Shape 18"/>
          <p:cNvSpPr/>
          <p:nvPr/>
        </p:nvSpPr>
        <p:spPr>
          <a:xfrm>
            <a:off x="9921240" y="2212848"/>
            <a:ext cx="164592" cy="182880"/>
          </a:xfrm>
          <a:prstGeom prst="rightArrow">
            <a:avLst/>
          </a:prstGeom>
          <a:solidFill>
            <a:srgbClr val="AAB8C4"/>
          </a:solidFill>
          <a:ln/>
        </p:spPr>
      </p:sp>
      <p:sp>
        <p:nvSpPr>
          <p:cNvPr id="21" name="Shape 19"/>
          <p:cNvSpPr/>
          <p:nvPr/>
        </p:nvSpPr>
        <p:spPr>
          <a:xfrm>
            <a:off x="10149840" y="1874520"/>
            <a:ext cx="1645920" cy="841248"/>
          </a:xfrm>
          <a:prstGeom prst="roundRect">
            <a:avLst>
              <a:gd name="adj" fmla="val 7609"/>
            </a:avLst>
          </a:prstGeom>
          <a:solidFill>
            <a:srgbClr val="F2A104"/>
          </a:solidFill>
          <a:ln/>
        </p:spPr>
      </p:sp>
      <p:sp>
        <p:nvSpPr>
          <p:cNvPr id="22" name="Text 20"/>
          <p:cNvSpPr txBox="1"/>
          <p:nvPr/>
        </p:nvSpPr>
        <p:spPr>
          <a:xfrm>
            <a:off x="10149840" y="1874520"/>
            <a:ext cx="1645920" cy="841248"/>
          </a:xfrm>
          <a:prstGeom prst="rect">
            <a:avLst/>
          </a:prstGeom>
          <a:noFill/>
          <a:ln/>
        </p:spPr>
        <p:txBody>
          <a:bodyPr wrap="square" lIns="0" tIns="0" rIns="0" bIns="0" rtlCol="0" anchor="ctr"/>
          <a:lstStyle/>
          <a:p>
            <a:pPr algn="ctr" indent="0" marL="0">
              <a:buNone/>
            </a:pPr>
            <a:r>
              <a:rPr lang="en-US" sz="1050" b="1" dirty="0">
                <a:solidFill>
                  <a:srgbClr val="1A2733"/>
                </a:solidFill>
                <a:latin typeface="Calibri" pitchFamily="34" charset="0"/>
                <a:ea typeface="Calibri" pitchFamily="34" charset="-122"/>
                <a:cs typeface="Calibri" pitchFamily="34" charset="-120"/>
              </a:rPr>
              <a:t>OWNER</a:t>
            </a:r>
            <a:endParaRPr lang="en-US" sz="1050" dirty="0"/>
          </a:p>
          <a:p>
            <a:pPr algn="ctr" indent="0" marL="0">
              <a:buNone/>
            </a:pPr>
            <a:r>
              <a:rPr lang="en-US" sz="1050" b="1" dirty="0">
                <a:solidFill>
                  <a:srgbClr val="1A2733"/>
                </a:solidFill>
                <a:latin typeface="Calibri" pitchFamily="34" charset="0"/>
                <a:ea typeface="Calibri" pitchFamily="34" charset="-122"/>
                <a:cs typeface="Calibri" pitchFamily="34" charset="-120"/>
              </a:rPr>
              <a:t>APPROVES</a:t>
            </a:r>
            <a:endParaRPr lang="en-US" sz="1050" dirty="0"/>
          </a:p>
        </p:txBody>
      </p:sp>
      <p:sp>
        <p:nvSpPr>
          <p:cNvPr id="23" name="Text 21"/>
          <p:cNvSpPr txBox="1"/>
          <p:nvPr/>
        </p:nvSpPr>
        <p:spPr>
          <a:xfrm>
            <a:off x="548640" y="2779776"/>
            <a:ext cx="3657600" cy="219456"/>
          </a:xfrm>
          <a:prstGeom prst="rect">
            <a:avLst/>
          </a:prstGeom>
          <a:noFill/>
          <a:ln/>
        </p:spPr>
        <p:txBody>
          <a:bodyPr wrap="square" lIns="0" tIns="0" rIns="0" bIns="0" rtlCol="0" anchor="ctr"/>
          <a:lstStyle/>
          <a:p>
            <a:pPr indent="0" marL="0">
              <a:buNone/>
            </a:pPr>
            <a:r>
              <a:rPr lang="en-US" sz="900" b="1" spc="100" kern="0" dirty="0">
                <a:solidFill>
                  <a:srgbClr val="5A6B7B"/>
                </a:solidFill>
                <a:latin typeface="Calibri" pitchFamily="34" charset="0"/>
                <a:ea typeface="Calibri" pitchFamily="34" charset="-122"/>
                <a:cs typeface="Calibri" pitchFamily="34" charset="-120"/>
              </a:rPr>
              <a:t>SETUP  —  once, ~15 minutes</a:t>
            </a:r>
            <a:endParaRPr lang="en-US" sz="900" dirty="0"/>
          </a:p>
        </p:txBody>
      </p:sp>
      <p:sp>
        <p:nvSpPr>
          <p:cNvPr id="24" name="Text 22"/>
          <p:cNvSpPr txBox="1"/>
          <p:nvPr/>
        </p:nvSpPr>
        <p:spPr>
          <a:xfrm>
            <a:off x="6309360" y="2779776"/>
            <a:ext cx="5120640" cy="219456"/>
          </a:xfrm>
          <a:prstGeom prst="rect">
            <a:avLst/>
          </a:prstGeom>
          <a:noFill/>
          <a:ln/>
        </p:spPr>
        <p:txBody>
          <a:bodyPr wrap="square" lIns="0" tIns="0" rIns="0" bIns="0" rtlCol="0" anchor="ctr"/>
          <a:lstStyle/>
          <a:p>
            <a:pPr indent="0" marL="0">
              <a:buNone/>
            </a:pPr>
            <a:r>
              <a:rPr lang="en-US" sz="900" b="1" spc="100" kern="0" dirty="0">
                <a:solidFill>
                  <a:srgbClr val="5A6B7B"/>
                </a:solidFill>
                <a:latin typeface="Calibri" pitchFamily="34" charset="0"/>
                <a:ea typeface="Calibri" pitchFamily="34" charset="-122"/>
                <a:cs typeface="Calibri" pitchFamily="34" charset="-120"/>
              </a:rPr>
              <a:t>EVERY QUOTE  —  deterministic, versioned, auditable</a:t>
            </a:r>
            <a:endParaRPr lang="en-US" sz="900" dirty="0"/>
          </a:p>
        </p:txBody>
      </p:sp>
      <p:sp>
        <p:nvSpPr>
          <p:cNvPr id="25" name="Text 23"/>
          <p:cNvSpPr txBox="1"/>
          <p:nvPr/>
        </p:nvSpPr>
        <p:spPr>
          <a:xfrm>
            <a:off x="548640" y="3200400"/>
            <a:ext cx="11064240" cy="237744"/>
          </a:xfrm>
          <a:prstGeom prst="rect">
            <a:avLst/>
          </a:prstGeom>
          <a:noFill/>
          <a:ln/>
        </p:spPr>
        <p:txBody>
          <a:bodyPr wrap="square" lIns="0" tIns="0" rIns="0" bIns="0" rtlCol="0" anchor="ctr"/>
          <a:lstStyle/>
          <a:p>
            <a:pPr indent="0" marL="0">
              <a:buNone/>
            </a:pPr>
            <a:r>
              <a:rPr lang="en-US" sz="1000" b="1" spc="150" kern="0" dirty="0">
                <a:solidFill>
                  <a:srgbClr val="1C7293"/>
                </a:solidFill>
                <a:latin typeface="Calibri" pitchFamily="34" charset="0"/>
                <a:ea typeface="Calibri" pitchFamily="34" charset="-122"/>
                <a:cs typeface="Calibri" pitchFamily="34" charset="-120"/>
              </a:rPr>
              <a:t>WHAT RETRIEVAL IS AND IS NOT ALLOWED TO DO</a:t>
            </a:r>
            <a:endParaRPr lang="en-US" sz="1000" dirty="0"/>
          </a:p>
        </p:txBody>
      </p:sp>
      <p:sp>
        <p:nvSpPr>
          <p:cNvPr id="26" name="Shape 24"/>
          <p:cNvSpPr/>
          <p:nvPr/>
        </p:nvSpPr>
        <p:spPr>
          <a:xfrm>
            <a:off x="548640" y="3493008"/>
            <a:ext cx="5394960" cy="1371600"/>
          </a:xfrm>
          <a:prstGeom prst="roundRect">
            <a:avLst>
              <a:gd name="adj" fmla="val 4667"/>
            </a:avLst>
          </a:prstGeom>
          <a:solidFill>
            <a:srgbClr val="F4F7FA"/>
          </a:solidFill>
          <a:ln w="12700">
            <a:solidFill>
              <a:srgbClr val="2E8B57"/>
            </a:solidFill>
            <a:prstDash val="solid"/>
          </a:ln>
        </p:spPr>
      </p:sp>
      <p:sp>
        <p:nvSpPr>
          <p:cNvPr id="27" name="Text 25"/>
          <p:cNvSpPr txBox="1"/>
          <p:nvPr/>
        </p:nvSpPr>
        <p:spPr>
          <a:xfrm>
            <a:off x="777240" y="3584448"/>
            <a:ext cx="1828800" cy="219456"/>
          </a:xfrm>
          <a:prstGeom prst="rect">
            <a:avLst/>
          </a:prstGeom>
          <a:noFill/>
          <a:ln/>
        </p:spPr>
        <p:txBody>
          <a:bodyPr wrap="square" lIns="0" tIns="0" rIns="0" bIns="0" rtlCol="0" anchor="ctr"/>
          <a:lstStyle/>
          <a:p>
            <a:pPr indent="0" marL="0">
              <a:buNone/>
            </a:pPr>
            <a:r>
              <a:rPr lang="en-US" sz="950" b="1" spc="100" kern="0" dirty="0">
                <a:solidFill>
                  <a:srgbClr val="2E8B57"/>
                </a:solidFill>
                <a:latin typeface="Calibri" pitchFamily="34" charset="0"/>
                <a:ea typeface="Calibri" pitchFamily="34" charset="-122"/>
                <a:cs typeface="Calibri" pitchFamily="34" charset="-120"/>
              </a:rPr>
              <a:t>ALLOWED</a:t>
            </a:r>
            <a:endParaRPr lang="en-US" sz="950" dirty="0"/>
          </a:p>
        </p:txBody>
      </p:sp>
      <p:sp>
        <p:nvSpPr>
          <p:cNvPr id="28" name="Text 26"/>
          <p:cNvSpPr txBox="1"/>
          <p:nvPr/>
        </p:nvSpPr>
        <p:spPr>
          <a:xfrm>
            <a:off x="777240" y="3822192"/>
            <a:ext cx="4937760" cy="960120"/>
          </a:xfrm>
          <a:prstGeom prst="rect">
            <a:avLst/>
          </a:prstGeom>
          <a:noFill/>
          <a:ln/>
        </p:spPr>
        <p:txBody>
          <a:bodyPr wrap="square" lIns="0" tIns="0" rIns="0" bIns="0" rtlCol="0" anchor="ctr"/>
          <a:lstStyle/>
          <a:p>
            <a:pPr indent="0" marL="0">
              <a:buNone/>
            </a:pPr>
            <a:r>
              <a:rPr lang="en-US" sz="1100" dirty="0">
                <a:solidFill>
                  <a:srgbClr val="1A2733"/>
                </a:solidFill>
                <a:latin typeface="Calibri" pitchFamily="34" charset="0"/>
                <a:ea typeface="Calibri" pitchFamily="34" charset="-122"/>
                <a:cs typeface="Calibri" pitchFamily="34" charset="-120"/>
              </a:rPr>
              <a:t>Service descriptions · policies · FAQs · opening hours · what is included · guarantees</a:t>
            </a:r>
            <a:endParaRPr lang="en-US" sz="1100" dirty="0"/>
          </a:p>
          <a:p>
            <a:pPr indent="0" marL="0">
              <a:buNone/>
            </a:pPr>
            <a:endParaRPr lang="en-US" sz="1100" dirty="0"/>
          </a:p>
          <a:p>
            <a:pPr indent="0" marL="0">
              <a:buNone/>
            </a:pPr>
            <a:r>
              <a:rPr lang="en-US" sz="1100" dirty="0">
                <a:solidFill>
                  <a:srgbClr val="1A2733"/>
                </a:solidFill>
                <a:latin typeface="Calibri" pitchFamily="34" charset="0"/>
                <a:ea typeface="Calibri" pitchFamily="34" charset="-122"/>
                <a:cs typeface="Calibri" pitchFamily="34" charset="-120"/>
              </a:rPr>
              <a:t>Anything that is prose and does not become a number.</a:t>
            </a:r>
            <a:endParaRPr lang="en-US" sz="1100" dirty="0"/>
          </a:p>
        </p:txBody>
      </p:sp>
      <p:sp>
        <p:nvSpPr>
          <p:cNvPr id="29" name="Shape 27"/>
          <p:cNvSpPr/>
          <p:nvPr/>
        </p:nvSpPr>
        <p:spPr>
          <a:xfrm>
            <a:off x="6217920" y="3493008"/>
            <a:ext cx="5394960" cy="1371600"/>
          </a:xfrm>
          <a:prstGeom prst="roundRect">
            <a:avLst>
              <a:gd name="adj" fmla="val 4667"/>
            </a:avLst>
          </a:prstGeom>
          <a:solidFill>
            <a:srgbClr val="F7EDEE"/>
          </a:solidFill>
          <a:ln w="12700">
            <a:solidFill>
              <a:srgbClr val="B23A48"/>
            </a:solidFill>
            <a:prstDash val="solid"/>
          </a:ln>
        </p:spPr>
      </p:sp>
      <p:sp>
        <p:nvSpPr>
          <p:cNvPr id="30" name="Text 28"/>
          <p:cNvSpPr txBox="1"/>
          <p:nvPr/>
        </p:nvSpPr>
        <p:spPr>
          <a:xfrm>
            <a:off x="6446520" y="3584448"/>
            <a:ext cx="1828800" cy="219456"/>
          </a:xfrm>
          <a:prstGeom prst="rect">
            <a:avLst/>
          </a:prstGeom>
          <a:noFill/>
          <a:ln/>
        </p:spPr>
        <p:txBody>
          <a:bodyPr wrap="square" lIns="0" tIns="0" rIns="0" bIns="0" rtlCol="0" anchor="ctr"/>
          <a:lstStyle/>
          <a:p>
            <a:pPr indent="0" marL="0">
              <a:buNone/>
            </a:pPr>
            <a:r>
              <a:rPr lang="en-US" sz="950" b="1" spc="100" kern="0" dirty="0">
                <a:solidFill>
                  <a:srgbClr val="B23A48"/>
                </a:solidFill>
                <a:latin typeface="Calibri" pitchFamily="34" charset="0"/>
                <a:ea typeface="Calibri" pitchFamily="34" charset="-122"/>
                <a:cs typeface="Calibri" pitchFamily="34" charset="-120"/>
              </a:rPr>
              <a:t>NEVER</a:t>
            </a:r>
            <a:endParaRPr lang="en-US" sz="950" dirty="0"/>
          </a:p>
        </p:txBody>
      </p:sp>
      <p:sp>
        <p:nvSpPr>
          <p:cNvPr id="31" name="Text 29"/>
          <p:cNvSpPr txBox="1"/>
          <p:nvPr/>
        </p:nvSpPr>
        <p:spPr>
          <a:xfrm>
            <a:off x="6446520" y="3822192"/>
            <a:ext cx="4937760" cy="960120"/>
          </a:xfrm>
          <a:prstGeom prst="rect">
            <a:avLst/>
          </a:prstGeom>
          <a:noFill/>
          <a:ln/>
        </p:spPr>
        <p:txBody>
          <a:bodyPr wrap="square" lIns="0" tIns="0" rIns="0" bIns="0" rtlCol="0" anchor="ctr"/>
          <a:lstStyle/>
          <a:p>
            <a:pPr indent="0" marL="0">
              <a:buNone/>
            </a:pPr>
            <a:r>
              <a:rPr lang="en-US" sz="1100" dirty="0">
                <a:solidFill>
                  <a:srgbClr val="1A2733"/>
                </a:solidFill>
                <a:latin typeface="Calibri" pitchFamily="34" charset="0"/>
                <a:ea typeface="Calibri" pitchFamily="34" charset="-122"/>
                <a:cs typeface="Calibri" pitchFamily="34" charset="-120"/>
              </a:rPr>
              <a:t>Prices · rates · minimums · callout fees · multipliers · stock levels · availability</a:t>
            </a:r>
            <a:endParaRPr lang="en-US" sz="1100" dirty="0"/>
          </a:p>
          <a:p>
            <a:pPr indent="0" marL="0">
              <a:buNone/>
            </a:pPr>
            <a:endParaRPr lang="en-US" sz="1100" dirty="0"/>
          </a:p>
          <a:p>
            <a:pPr indent="0" marL="0">
              <a:buNone/>
            </a:pPr>
            <a:r>
              <a:rPr lang="en-US" sz="1100" dirty="0">
                <a:solidFill>
                  <a:srgbClr val="1A2733"/>
                </a:solidFill>
                <a:latin typeface="Calibri" pitchFamily="34" charset="0"/>
                <a:ea typeface="Calibri" pitchFamily="34" charset="-122"/>
                <a:cs typeface="Calibri" pitchFamily="34" charset="-120"/>
              </a:rPr>
              <a:t>Anything that commits the business to a number.</a:t>
            </a:r>
            <a:endParaRPr lang="en-US" sz="1100" dirty="0"/>
          </a:p>
        </p:txBody>
      </p:sp>
      <p:sp>
        <p:nvSpPr>
          <p:cNvPr id="32" name="Shape 30"/>
          <p:cNvSpPr/>
          <p:nvPr/>
        </p:nvSpPr>
        <p:spPr>
          <a:xfrm>
            <a:off x="548640" y="5029200"/>
            <a:ext cx="2651760" cy="914400"/>
          </a:xfrm>
          <a:prstGeom prst="roundRect">
            <a:avLst>
              <a:gd name="adj" fmla="val 7000"/>
            </a:avLst>
          </a:prstGeom>
          <a:solidFill>
            <a:srgbClr val="FFFFFF"/>
          </a:solidFill>
          <a:ln w="12700">
            <a:solidFill>
              <a:srgbClr val="DCE5EE"/>
            </a:solidFill>
            <a:prstDash val="solid"/>
          </a:ln>
        </p:spPr>
      </p:sp>
      <p:sp>
        <p:nvSpPr>
          <p:cNvPr id="33" name="Text 31"/>
          <p:cNvSpPr txBox="1"/>
          <p:nvPr/>
        </p:nvSpPr>
        <p:spPr>
          <a:xfrm>
            <a:off x="713232" y="5102352"/>
            <a:ext cx="2286000" cy="411480"/>
          </a:xfrm>
          <a:prstGeom prst="rect">
            <a:avLst/>
          </a:prstGeom>
          <a:noFill/>
          <a:ln/>
        </p:spPr>
        <p:txBody>
          <a:bodyPr wrap="square" lIns="0" tIns="0" rIns="0" bIns="0" rtlCol="0" anchor="ctr"/>
          <a:lstStyle/>
          <a:p>
            <a:pPr indent="0" marL="0">
              <a:buNone/>
            </a:pPr>
            <a:r>
              <a:rPr lang="en-US" sz="2200" b="1" dirty="0">
                <a:solidFill>
                  <a:srgbClr val="B23A48"/>
                </a:solidFill>
                <a:latin typeface="Cambria" pitchFamily="34" charset="0"/>
                <a:ea typeface="Cambria" pitchFamily="34" charset="-122"/>
                <a:cs typeface="Cambria" pitchFamily="34" charset="-120"/>
              </a:rPr>
              <a:t>28-77%</a:t>
            </a:r>
            <a:endParaRPr lang="en-US" sz="2200" dirty="0"/>
          </a:p>
        </p:txBody>
      </p:sp>
      <p:sp>
        <p:nvSpPr>
          <p:cNvPr id="34" name="Text 32"/>
          <p:cNvSpPr txBox="1"/>
          <p:nvPr/>
        </p:nvSpPr>
        <p:spPr>
          <a:xfrm>
            <a:off x="713232" y="5504688"/>
            <a:ext cx="2286000" cy="384048"/>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whole-document</a:t>
            </a:r>
            <a:endParaRPr lang="en-US" sz="900" dirty="0"/>
          </a:p>
          <a:p>
            <a:pPr indent="0" marL="0">
              <a:buNone/>
            </a:pPr>
            <a:r>
              <a:rPr lang="en-US" sz="900" dirty="0">
                <a:solidFill>
                  <a:srgbClr val="1A2733"/>
                </a:solidFill>
                <a:latin typeface="Calibri" pitchFamily="34" charset="0"/>
                <a:ea typeface="Calibri" pitchFamily="34" charset="-122"/>
                <a:cs typeface="Calibri" pitchFamily="34" charset="-120"/>
              </a:rPr>
              <a:t>extraction accuracy</a:t>
            </a:r>
            <a:endParaRPr lang="en-US" sz="900" dirty="0"/>
          </a:p>
        </p:txBody>
      </p:sp>
      <p:sp>
        <p:nvSpPr>
          <p:cNvPr id="35" name="Shape 33"/>
          <p:cNvSpPr/>
          <p:nvPr/>
        </p:nvSpPr>
        <p:spPr>
          <a:xfrm>
            <a:off x="3383280" y="5029200"/>
            <a:ext cx="2651760" cy="914400"/>
          </a:xfrm>
          <a:prstGeom prst="roundRect">
            <a:avLst>
              <a:gd name="adj" fmla="val 7000"/>
            </a:avLst>
          </a:prstGeom>
          <a:solidFill>
            <a:srgbClr val="FFFFFF"/>
          </a:solidFill>
          <a:ln w="12700">
            <a:solidFill>
              <a:srgbClr val="DCE5EE"/>
            </a:solidFill>
            <a:prstDash val="solid"/>
          </a:ln>
        </p:spPr>
      </p:sp>
      <p:sp>
        <p:nvSpPr>
          <p:cNvPr id="36" name="Text 34"/>
          <p:cNvSpPr txBox="1"/>
          <p:nvPr/>
        </p:nvSpPr>
        <p:spPr>
          <a:xfrm>
            <a:off x="3547872" y="5102352"/>
            <a:ext cx="2286000" cy="411480"/>
          </a:xfrm>
          <a:prstGeom prst="rect">
            <a:avLst/>
          </a:prstGeom>
          <a:noFill/>
          <a:ln/>
        </p:spPr>
        <p:txBody>
          <a:bodyPr wrap="square" lIns="0" tIns="0" rIns="0" bIns="0" rtlCol="0" anchor="ctr"/>
          <a:lstStyle/>
          <a:p>
            <a:pPr indent="0" marL="0">
              <a:buNone/>
            </a:pPr>
            <a:r>
              <a:rPr lang="en-US" sz="2200" b="1" dirty="0">
                <a:solidFill>
                  <a:srgbClr val="B23A48"/>
                </a:solidFill>
                <a:latin typeface="Cambria" pitchFamily="34" charset="0"/>
                <a:ea typeface="Cambria" pitchFamily="34" charset="-122"/>
                <a:cs typeface="Cambria" pitchFamily="34" charset="-120"/>
              </a:rPr>
              <a:t>46.89%</a:t>
            </a:r>
            <a:endParaRPr lang="en-US" sz="2200" dirty="0"/>
          </a:p>
        </p:txBody>
      </p:sp>
      <p:sp>
        <p:nvSpPr>
          <p:cNvPr id="37" name="Text 35"/>
          <p:cNvSpPr txBox="1"/>
          <p:nvPr/>
        </p:nvSpPr>
        <p:spPr>
          <a:xfrm>
            <a:off x="3547872" y="5504688"/>
            <a:ext cx="2286000" cy="384048"/>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of table errors still</a:t>
            </a:r>
            <a:endParaRPr lang="en-US" sz="900" dirty="0"/>
          </a:p>
          <a:p>
            <a:pPr indent="0" marL="0">
              <a:buNone/>
            </a:pPr>
            <a:r>
              <a:rPr lang="en-US" sz="900" dirty="0">
                <a:solidFill>
                  <a:srgbClr val="1A2733"/>
                </a:solidFill>
                <a:latin typeface="Calibri" pitchFamily="34" charset="0"/>
                <a:ea typeface="Calibri" pitchFamily="34" charset="-122"/>
                <a:cs typeface="Calibri" pitchFamily="34" charset="-120"/>
              </a:rPr>
              <a:t>look correct</a:t>
            </a:r>
            <a:endParaRPr lang="en-US" sz="900" dirty="0"/>
          </a:p>
        </p:txBody>
      </p:sp>
      <p:sp>
        <p:nvSpPr>
          <p:cNvPr id="38" name="Shape 36"/>
          <p:cNvSpPr/>
          <p:nvPr/>
        </p:nvSpPr>
        <p:spPr>
          <a:xfrm>
            <a:off x="6217920" y="5029200"/>
            <a:ext cx="2651760" cy="914400"/>
          </a:xfrm>
          <a:prstGeom prst="roundRect">
            <a:avLst>
              <a:gd name="adj" fmla="val 7000"/>
            </a:avLst>
          </a:prstGeom>
          <a:solidFill>
            <a:srgbClr val="FFFFFF"/>
          </a:solidFill>
          <a:ln w="12700">
            <a:solidFill>
              <a:srgbClr val="DCE5EE"/>
            </a:solidFill>
            <a:prstDash val="solid"/>
          </a:ln>
        </p:spPr>
      </p:sp>
      <p:sp>
        <p:nvSpPr>
          <p:cNvPr id="39" name="Text 37"/>
          <p:cNvSpPr txBox="1"/>
          <p:nvPr/>
        </p:nvSpPr>
        <p:spPr>
          <a:xfrm>
            <a:off x="6382512" y="5102352"/>
            <a:ext cx="2286000" cy="411480"/>
          </a:xfrm>
          <a:prstGeom prst="rect">
            <a:avLst/>
          </a:prstGeom>
          <a:noFill/>
          <a:ln/>
        </p:spPr>
        <p:txBody>
          <a:bodyPr wrap="square" lIns="0" tIns="0" rIns="0" bIns="0" rtlCol="0" anchor="ctr"/>
          <a:lstStyle/>
          <a:p>
            <a:pPr indent="0" marL="0">
              <a:buNone/>
            </a:pPr>
            <a:r>
              <a:rPr lang="en-US" sz="2200" b="1" dirty="0">
                <a:solidFill>
                  <a:srgbClr val="065A82"/>
                </a:solidFill>
                <a:latin typeface="Cambria" pitchFamily="34" charset="0"/>
                <a:ea typeface="Cambria" pitchFamily="34" charset="-122"/>
                <a:cs typeface="Cambria" pitchFamily="34" charset="-120"/>
              </a:rPr>
              <a:t>15%</a:t>
            </a:r>
            <a:endParaRPr lang="en-US" sz="2200" dirty="0"/>
          </a:p>
        </p:txBody>
      </p:sp>
      <p:sp>
        <p:nvSpPr>
          <p:cNvPr id="40" name="Text 38"/>
          <p:cNvSpPr txBox="1"/>
          <p:nvPr/>
        </p:nvSpPr>
        <p:spPr>
          <a:xfrm>
            <a:off x="6382512" y="5504688"/>
            <a:ext cx="2286000" cy="384048"/>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Swedish statutory cap</a:t>
            </a:r>
            <a:endParaRPr lang="en-US" sz="900" dirty="0"/>
          </a:p>
          <a:p>
            <a:pPr indent="0" marL="0">
              <a:buNone/>
            </a:pPr>
            <a:r>
              <a:rPr lang="en-US" sz="900" dirty="0">
                <a:solidFill>
                  <a:srgbClr val="1A2733"/>
                </a:solidFill>
                <a:latin typeface="Calibri" pitchFamily="34" charset="0"/>
                <a:ea typeface="Calibri" pitchFamily="34" charset="-122"/>
                <a:cs typeface="Calibri" pitchFamily="34" charset="-120"/>
              </a:rPr>
              <a:t>on quote overrun</a:t>
            </a:r>
            <a:endParaRPr lang="en-US" sz="900" dirty="0"/>
          </a:p>
        </p:txBody>
      </p:sp>
      <p:sp>
        <p:nvSpPr>
          <p:cNvPr id="41" name="Shape 39"/>
          <p:cNvSpPr/>
          <p:nvPr/>
        </p:nvSpPr>
        <p:spPr>
          <a:xfrm>
            <a:off x="9052560" y="5029200"/>
            <a:ext cx="2651760" cy="914400"/>
          </a:xfrm>
          <a:prstGeom prst="roundRect">
            <a:avLst>
              <a:gd name="adj" fmla="val 7000"/>
            </a:avLst>
          </a:prstGeom>
          <a:solidFill>
            <a:srgbClr val="FFFFFF"/>
          </a:solidFill>
          <a:ln w="12700">
            <a:solidFill>
              <a:srgbClr val="DCE5EE"/>
            </a:solidFill>
            <a:prstDash val="solid"/>
          </a:ln>
        </p:spPr>
      </p:sp>
      <p:sp>
        <p:nvSpPr>
          <p:cNvPr id="42" name="Text 40"/>
          <p:cNvSpPr txBox="1"/>
          <p:nvPr/>
        </p:nvSpPr>
        <p:spPr>
          <a:xfrm>
            <a:off x="9217152" y="5102352"/>
            <a:ext cx="2286000" cy="411480"/>
          </a:xfrm>
          <a:prstGeom prst="rect">
            <a:avLst/>
          </a:prstGeom>
          <a:noFill/>
          <a:ln/>
        </p:spPr>
        <p:txBody>
          <a:bodyPr wrap="square" lIns="0" tIns="0" rIns="0" bIns="0" rtlCol="0" anchor="ctr"/>
          <a:lstStyle/>
          <a:p>
            <a:pPr indent="0" marL="0">
              <a:buNone/>
            </a:pPr>
            <a:r>
              <a:rPr lang="en-US" sz="2200" b="1" dirty="0">
                <a:solidFill>
                  <a:srgbClr val="B23A48"/>
                </a:solidFill>
                <a:latin typeface="Cambria" pitchFamily="34" charset="0"/>
                <a:ea typeface="Cambria" pitchFamily="34" charset="-122"/>
                <a:cs typeface="Cambria" pitchFamily="34" charset="-120"/>
              </a:rPr>
              <a:t>~$27k</a:t>
            </a:r>
            <a:endParaRPr lang="en-US" sz="2200" dirty="0"/>
          </a:p>
        </p:txBody>
      </p:sp>
      <p:sp>
        <p:nvSpPr>
          <p:cNvPr id="43" name="Text 41"/>
          <p:cNvSpPr txBox="1"/>
          <p:nvPr/>
        </p:nvSpPr>
        <p:spPr>
          <a:xfrm>
            <a:off x="9217152" y="5504688"/>
            <a:ext cx="2286000" cy="384048"/>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paid by a dealership on</a:t>
            </a:r>
            <a:endParaRPr lang="en-US" sz="900" dirty="0"/>
          </a:p>
          <a:p>
            <a:pPr indent="0" marL="0">
              <a:buNone/>
            </a:pPr>
            <a:r>
              <a:rPr lang="en-US" sz="900" dirty="0">
                <a:solidFill>
                  <a:srgbClr val="1A2733"/>
                </a:solidFill>
                <a:latin typeface="Calibri" pitchFamily="34" charset="0"/>
                <a:ea typeface="Calibri" pitchFamily="34" charset="-122"/>
                <a:cs typeface="Calibri" pitchFamily="34" charset="-120"/>
              </a:rPr>
              <a:t>an AI-quoted price</a:t>
            </a:r>
            <a:endParaRPr lang="en-US" sz="900" dirty="0"/>
          </a:p>
        </p:txBody>
      </p:sp>
      <p:sp>
        <p:nvSpPr>
          <p:cNvPr id="44" name="Shape 42"/>
          <p:cNvSpPr/>
          <p:nvPr/>
        </p:nvSpPr>
        <p:spPr>
          <a:xfrm>
            <a:off x="548640" y="6053328"/>
            <a:ext cx="11064240" cy="566928"/>
          </a:xfrm>
          <a:prstGeom prst="roundRect">
            <a:avLst>
              <a:gd name="adj" fmla="val 11290"/>
            </a:avLst>
          </a:prstGeom>
          <a:solidFill>
            <a:srgbClr val="F4F7FA"/>
          </a:solidFill>
          <a:ln w="12700">
            <a:solidFill>
              <a:srgbClr val="DCE5EE"/>
            </a:solidFill>
            <a:prstDash val="solid"/>
          </a:ln>
        </p:spPr>
      </p:sp>
      <p:sp>
        <p:nvSpPr>
          <p:cNvPr id="45" name="Text 43"/>
          <p:cNvSpPr txBox="1"/>
          <p:nvPr/>
        </p:nvSpPr>
        <p:spPr>
          <a:xfrm>
            <a:off x="777240" y="6053328"/>
            <a:ext cx="10607040" cy="566928"/>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“The model generates text — it does not enforce policy.”   OWASP RAG guidance.  A retrieved chunk cannot express a rule: minimums, callout fees, out-of-hours multipliers, travel bands.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SETUP</a:t>
            </a:r>
            <a:endParaRPr lang="en-US" sz="1050" dirty="0"/>
          </a:p>
        </p:txBody>
      </p:sp>
      <p:sp>
        <p:nvSpPr>
          <p:cNvPr id="3" name="Text 1"/>
          <p:cNvSpPr txBox="1"/>
          <p:nvPr/>
        </p:nvSpPr>
        <p:spPr>
          <a:xfrm>
            <a:off x="548640" y="512064"/>
            <a:ext cx="11064240" cy="566928"/>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Onboarding: the biggest adoption risk</a:t>
            </a:r>
            <a:endParaRPr lang="en-US" sz="2800" dirty="0"/>
          </a:p>
        </p:txBody>
      </p:sp>
      <p:sp>
        <p:nvSpPr>
          <p:cNvPr id="4" name="Shape 2"/>
          <p:cNvSpPr/>
          <p:nvPr/>
        </p:nvSpPr>
        <p:spPr>
          <a:xfrm>
            <a:off x="548640" y="1143000"/>
            <a:ext cx="5349240" cy="1051560"/>
          </a:xfrm>
          <a:prstGeom prst="roundRect">
            <a:avLst>
              <a:gd name="adj" fmla="val 6087"/>
            </a:avLst>
          </a:prstGeom>
          <a:solidFill>
            <a:srgbClr val="B23A48"/>
          </a:solidFill>
          <a:ln/>
        </p:spPr>
      </p:sp>
      <p:sp>
        <p:nvSpPr>
          <p:cNvPr id="5" name="Text 3"/>
          <p:cNvSpPr txBox="1"/>
          <p:nvPr/>
        </p:nvSpPr>
        <p:spPr>
          <a:xfrm>
            <a:off x="777240" y="1207008"/>
            <a:ext cx="146304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42%</a:t>
            </a:r>
            <a:endParaRPr lang="en-US" sz="3200" dirty="0"/>
          </a:p>
        </p:txBody>
      </p:sp>
      <p:sp>
        <p:nvSpPr>
          <p:cNvPr id="6" name="Text 4"/>
          <p:cNvSpPr txBox="1"/>
          <p:nvPr/>
        </p:nvSpPr>
        <p:spPr>
          <a:xfrm>
            <a:off x="2286000" y="1234440"/>
            <a:ext cx="3429000" cy="8686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of surveyed users of a major field-service product still had NO working price book after three months.</a:t>
            </a:r>
            <a:endParaRPr lang="en-US" sz="1050" dirty="0"/>
          </a:p>
        </p:txBody>
      </p:sp>
      <p:sp>
        <p:nvSpPr>
          <p:cNvPr id="7" name="Shape 5"/>
          <p:cNvSpPr/>
          <p:nvPr/>
        </p:nvSpPr>
        <p:spPr>
          <a:xfrm>
            <a:off x="6263640" y="1143000"/>
            <a:ext cx="5349240" cy="1051560"/>
          </a:xfrm>
          <a:prstGeom prst="roundRect">
            <a:avLst>
              <a:gd name="adj" fmla="val 6087"/>
            </a:avLst>
          </a:prstGeom>
          <a:solidFill>
            <a:srgbClr val="2E8B57"/>
          </a:solidFill>
          <a:ln/>
        </p:spPr>
      </p:sp>
      <p:sp>
        <p:nvSpPr>
          <p:cNvPr id="8" name="Text 6"/>
          <p:cNvSpPr txBox="1"/>
          <p:nvPr/>
        </p:nvSpPr>
        <p:spPr>
          <a:xfrm>
            <a:off x="6492240" y="1225296"/>
            <a:ext cx="192024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15 min</a:t>
            </a:r>
            <a:endParaRPr lang="en-US" sz="2800" dirty="0"/>
          </a:p>
        </p:txBody>
      </p:sp>
      <p:sp>
        <p:nvSpPr>
          <p:cNvPr id="9" name="Text 7"/>
          <p:cNvSpPr txBox="1"/>
          <p:nvPr/>
        </p:nvSpPr>
        <p:spPr>
          <a:xfrm>
            <a:off x="8458200" y="1234440"/>
            <a:ext cx="2971800" cy="8686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our target to first quote, live on 3-5 services. Achievable only where rate cards are short.</a:t>
            </a:r>
            <a:endParaRPr lang="en-US" sz="1050" dirty="0"/>
          </a:p>
        </p:txBody>
      </p:sp>
      <p:sp>
        <p:nvSpPr>
          <p:cNvPr id="10" name="Shape 8"/>
          <p:cNvSpPr/>
          <p:nvPr/>
        </p:nvSpPr>
        <p:spPr>
          <a:xfrm>
            <a:off x="548640" y="2377440"/>
            <a:ext cx="11064240" cy="822960"/>
          </a:xfrm>
          <a:prstGeom prst="roundRect">
            <a:avLst>
              <a:gd name="adj" fmla="val 7778"/>
            </a:avLst>
          </a:prstGeom>
          <a:solidFill>
            <a:srgbClr val="F4F7FA"/>
          </a:solidFill>
          <a:ln w="12700">
            <a:solidFill>
              <a:srgbClr val="F2A104"/>
            </a:solidFill>
            <a:prstDash val="solid"/>
          </a:ln>
        </p:spPr>
      </p:sp>
      <p:sp>
        <p:nvSpPr>
          <p:cNvPr id="11" name="Shape 9"/>
          <p:cNvSpPr/>
          <p:nvPr/>
        </p:nvSpPr>
        <p:spPr>
          <a:xfrm>
            <a:off x="713232" y="2615184"/>
            <a:ext cx="347472" cy="347472"/>
          </a:xfrm>
          <a:prstGeom prst="ellipse">
            <a:avLst/>
          </a:prstGeom>
          <a:solidFill>
            <a:srgbClr val="F2A104"/>
          </a:solidFill>
          <a:ln/>
        </p:spPr>
      </p:sp>
      <p:sp>
        <p:nvSpPr>
          <p:cNvPr id="12" name="Text 10"/>
          <p:cNvSpPr txBox="1"/>
          <p:nvPr/>
        </p:nvSpPr>
        <p:spPr>
          <a:xfrm>
            <a:off x="713232" y="2615184"/>
            <a:ext cx="347472" cy="347472"/>
          </a:xfrm>
          <a:prstGeom prst="rect">
            <a:avLst/>
          </a:prstGeom>
          <a:noFill/>
          <a:ln/>
        </p:spPr>
        <p:txBody>
          <a:bodyPr wrap="square" lIns="0" tIns="0" rIns="0" bIns="0" rtlCol="0" anchor="ctr"/>
          <a:lstStyle/>
          <a:p>
            <a:pPr algn="ctr" indent="0" marL="0">
              <a:buNone/>
            </a:pPr>
            <a:r>
              <a:rPr lang="en-US" sz="1000" b="1" dirty="0">
                <a:solidFill>
                  <a:srgbClr val="1A2733"/>
                </a:solidFill>
                <a:latin typeface="Calibri" pitchFamily="34" charset="0"/>
                <a:ea typeface="Calibri" pitchFamily="34" charset="-122"/>
                <a:cs typeface="Calibri" pitchFamily="34" charset="-120"/>
              </a:rPr>
              <a:t>1</a:t>
            </a:r>
            <a:endParaRPr lang="en-US" sz="1000" dirty="0"/>
          </a:p>
        </p:txBody>
      </p:sp>
      <p:sp>
        <p:nvSpPr>
          <p:cNvPr id="13" name="Text 11"/>
          <p:cNvSpPr txBox="1"/>
          <p:nvPr/>
        </p:nvSpPr>
        <p:spPr>
          <a:xfrm>
            <a:off x="1188720" y="2450592"/>
            <a:ext cx="2103120" cy="676656"/>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Industry template</a:t>
            </a:r>
            <a:endParaRPr lang="en-US" sz="1250" dirty="0"/>
          </a:p>
        </p:txBody>
      </p:sp>
      <p:sp>
        <p:nvSpPr>
          <p:cNvPr id="14" name="Text 12"/>
          <p:cNvSpPr txBox="1"/>
          <p:nvPr/>
        </p:nvSpPr>
        <p:spPr>
          <a:xfrm>
            <a:off x="3337560" y="2450592"/>
            <a:ext cx="3931920" cy="676656"/>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Pre-priced defaults for the trade. Owner CORRECTS rather than creates.</a:t>
            </a:r>
            <a:endParaRPr lang="en-US" sz="1000" dirty="0"/>
          </a:p>
        </p:txBody>
      </p:sp>
      <p:sp>
        <p:nvSpPr>
          <p:cNvPr id="15" name="Text 13"/>
          <p:cNvSpPr txBox="1"/>
          <p:nvPr/>
        </p:nvSpPr>
        <p:spPr>
          <a:xfrm>
            <a:off x="7406640" y="2450592"/>
            <a:ext cx="4023360" cy="676656"/>
          </a:xfrm>
          <a:prstGeom prst="rect">
            <a:avLst/>
          </a:prstGeom>
          <a:noFill/>
          <a:ln/>
        </p:spPr>
        <p:txBody>
          <a:bodyPr wrap="square" lIns="0" tIns="0" rIns="0" bIns="0" rtlCol="0" anchor="ctr"/>
          <a:lstStyle/>
          <a:p>
            <a:pPr indent="0" marL="0">
              <a:buNone/>
            </a:pPr>
            <a:r>
              <a:rPr lang="en-US" sz="950" i="1" dirty="0">
                <a:solidFill>
                  <a:srgbClr val="065A82"/>
                </a:solidFill>
                <a:latin typeface="Calibri" pitchFamily="34" charset="0"/>
                <a:ea typeface="Calibri" pitchFamily="34" charset="-122"/>
                <a:cs typeface="Calibri" pitchFamily="34" charset="-120"/>
              </a:rPr>
              <a:t>Works when there is no document at all - a callout fee often lives in the owner's head</a:t>
            </a:r>
            <a:endParaRPr lang="en-US" sz="950" dirty="0"/>
          </a:p>
        </p:txBody>
      </p:sp>
      <p:sp>
        <p:nvSpPr>
          <p:cNvPr id="16" name="Shape 14"/>
          <p:cNvSpPr/>
          <p:nvPr/>
        </p:nvSpPr>
        <p:spPr>
          <a:xfrm>
            <a:off x="548640" y="3310128"/>
            <a:ext cx="11064240" cy="822960"/>
          </a:xfrm>
          <a:prstGeom prst="roundRect">
            <a:avLst>
              <a:gd name="adj" fmla="val 7778"/>
            </a:avLst>
          </a:prstGeom>
          <a:solidFill>
            <a:srgbClr val="FFFFFF"/>
          </a:solidFill>
          <a:ln w="12700">
            <a:solidFill>
              <a:srgbClr val="DCE5EE"/>
            </a:solidFill>
            <a:prstDash val="solid"/>
          </a:ln>
        </p:spPr>
      </p:sp>
      <p:sp>
        <p:nvSpPr>
          <p:cNvPr id="17" name="Shape 15"/>
          <p:cNvSpPr/>
          <p:nvPr/>
        </p:nvSpPr>
        <p:spPr>
          <a:xfrm>
            <a:off x="713232" y="3547872"/>
            <a:ext cx="347472" cy="347472"/>
          </a:xfrm>
          <a:prstGeom prst="ellipse">
            <a:avLst/>
          </a:prstGeom>
          <a:solidFill>
            <a:srgbClr val="1C7293"/>
          </a:solidFill>
          <a:ln/>
        </p:spPr>
      </p:sp>
      <p:sp>
        <p:nvSpPr>
          <p:cNvPr id="18" name="Text 16"/>
          <p:cNvSpPr txBox="1"/>
          <p:nvPr/>
        </p:nvSpPr>
        <p:spPr>
          <a:xfrm>
            <a:off x="713232" y="3547872"/>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9" name="Text 17"/>
          <p:cNvSpPr txBox="1"/>
          <p:nvPr/>
        </p:nvSpPr>
        <p:spPr>
          <a:xfrm>
            <a:off x="1188720" y="3383280"/>
            <a:ext cx="2103120" cy="676656"/>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Import existing</a:t>
            </a:r>
            <a:endParaRPr lang="en-US" sz="1250" dirty="0"/>
          </a:p>
        </p:txBody>
      </p:sp>
      <p:sp>
        <p:nvSpPr>
          <p:cNvPr id="20" name="Text 18"/>
          <p:cNvSpPr txBox="1"/>
          <p:nvPr/>
        </p:nvSpPr>
        <p:spPr>
          <a:xfrm>
            <a:off x="3337560" y="3383280"/>
            <a:ext cx="3931920" cy="676656"/>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CSV, accounting tools, another product.</a:t>
            </a:r>
            <a:endParaRPr lang="en-US" sz="1000" dirty="0"/>
          </a:p>
        </p:txBody>
      </p:sp>
      <p:sp>
        <p:nvSpPr>
          <p:cNvPr id="21" name="Text 19"/>
          <p:cNvSpPr txBox="1"/>
          <p:nvPr/>
        </p:nvSpPr>
        <p:spPr>
          <a:xfrm>
            <a:off x="7406640" y="3383280"/>
            <a:ext cx="4023360" cy="676656"/>
          </a:xfrm>
          <a:prstGeom prst="rect">
            <a:avLst/>
          </a:prstGeom>
          <a:noFill/>
          <a:ln/>
        </p:spPr>
        <p:txBody>
          <a:bodyPr wrap="square" lIns="0" tIns="0" rIns="0" bIns="0" rtlCol="0" anchor="ctr"/>
          <a:lstStyle/>
          <a:p>
            <a:pPr indent="0" marL="0">
              <a:buNone/>
            </a:pPr>
            <a:r>
              <a:rPr lang="en-US" sz="950" i="1" dirty="0">
                <a:solidFill>
                  <a:srgbClr val="065A82"/>
                </a:solidFill>
                <a:latin typeface="Calibri" pitchFamily="34" charset="0"/>
                <a:ea typeface="Calibri" pitchFamily="34" charset="-122"/>
                <a:cs typeface="Calibri" pitchFamily="34" charset="-120"/>
              </a:rPr>
              <a:t>Best data quality, narrowest reach</a:t>
            </a:r>
            <a:endParaRPr lang="en-US" sz="950" dirty="0"/>
          </a:p>
        </p:txBody>
      </p:sp>
      <p:sp>
        <p:nvSpPr>
          <p:cNvPr id="22" name="Shape 20"/>
          <p:cNvSpPr/>
          <p:nvPr/>
        </p:nvSpPr>
        <p:spPr>
          <a:xfrm>
            <a:off x="548640" y="4242816"/>
            <a:ext cx="11064240" cy="822960"/>
          </a:xfrm>
          <a:prstGeom prst="roundRect">
            <a:avLst>
              <a:gd name="adj" fmla="val 7778"/>
            </a:avLst>
          </a:prstGeom>
          <a:solidFill>
            <a:srgbClr val="FFFFFF"/>
          </a:solidFill>
          <a:ln w="12700">
            <a:solidFill>
              <a:srgbClr val="DCE5EE"/>
            </a:solidFill>
            <a:prstDash val="solid"/>
          </a:ln>
        </p:spPr>
      </p:sp>
      <p:sp>
        <p:nvSpPr>
          <p:cNvPr id="23" name="Shape 21"/>
          <p:cNvSpPr/>
          <p:nvPr/>
        </p:nvSpPr>
        <p:spPr>
          <a:xfrm>
            <a:off x="713232" y="4480560"/>
            <a:ext cx="347472" cy="347472"/>
          </a:xfrm>
          <a:prstGeom prst="ellipse">
            <a:avLst/>
          </a:prstGeom>
          <a:solidFill>
            <a:srgbClr val="1C7293"/>
          </a:solidFill>
          <a:ln/>
        </p:spPr>
      </p:sp>
      <p:sp>
        <p:nvSpPr>
          <p:cNvPr id="24" name="Text 22"/>
          <p:cNvSpPr txBox="1"/>
          <p:nvPr/>
        </p:nvSpPr>
        <p:spPr>
          <a:xfrm>
            <a:off x="713232" y="4480560"/>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5" name="Text 23"/>
          <p:cNvSpPr txBox="1"/>
          <p:nvPr/>
        </p:nvSpPr>
        <p:spPr>
          <a:xfrm>
            <a:off x="1188720" y="4315968"/>
            <a:ext cx="2103120" cy="676656"/>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Document upload</a:t>
            </a:r>
            <a:endParaRPr lang="en-US" sz="1250" dirty="0"/>
          </a:p>
        </p:txBody>
      </p:sp>
      <p:sp>
        <p:nvSpPr>
          <p:cNvPr id="26" name="Text 24"/>
          <p:cNvSpPr txBox="1"/>
          <p:nvPr/>
        </p:nvSpPr>
        <p:spPr>
          <a:xfrm>
            <a:off x="3337560" y="4315968"/>
            <a:ext cx="3931920" cy="676656"/>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AI drafts the rate card from their PDF. Owner confirms.</a:t>
            </a:r>
            <a:endParaRPr lang="en-US" sz="1000" dirty="0"/>
          </a:p>
        </p:txBody>
      </p:sp>
      <p:sp>
        <p:nvSpPr>
          <p:cNvPr id="27" name="Text 25"/>
          <p:cNvSpPr txBox="1"/>
          <p:nvPr/>
        </p:nvSpPr>
        <p:spPr>
          <a:xfrm>
            <a:off x="7406640" y="4315968"/>
            <a:ext cx="4023360" cy="676656"/>
          </a:xfrm>
          <a:prstGeom prst="rect">
            <a:avLst/>
          </a:prstGeom>
          <a:noFill/>
          <a:ln/>
        </p:spPr>
        <p:txBody>
          <a:bodyPr wrap="square" lIns="0" tIns="0" rIns="0" bIns="0" rtlCol="0" anchor="ctr"/>
          <a:lstStyle/>
          <a:p>
            <a:pPr indent="0" marL="0">
              <a:buNone/>
            </a:pPr>
            <a:r>
              <a:rPr lang="en-US" sz="950" i="1" dirty="0">
                <a:solidFill>
                  <a:srgbClr val="065A82"/>
                </a:solidFill>
                <a:latin typeface="Calibri" pitchFamily="34" charset="0"/>
                <a:ea typeface="Calibri" pitchFamily="34" charset="-122"/>
                <a:cs typeface="Calibri" pitchFamily="34" charset="-120"/>
              </a:rPr>
              <a:t>~10-15 min of review on a 40-line card. Promise that, not “seconds”</a:t>
            </a:r>
            <a:endParaRPr lang="en-US" sz="950" dirty="0"/>
          </a:p>
        </p:txBody>
      </p:sp>
      <p:sp>
        <p:nvSpPr>
          <p:cNvPr id="28" name="Shape 26"/>
          <p:cNvSpPr/>
          <p:nvPr/>
        </p:nvSpPr>
        <p:spPr>
          <a:xfrm>
            <a:off x="548640" y="5175504"/>
            <a:ext cx="11064240" cy="822960"/>
          </a:xfrm>
          <a:prstGeom prst="roundRect">
            <a:avLst>
              <a:gd name="adj" fmla="val 7778"/>
            </a:avLst>
          </a:prstGeom>
          <a:solidFill>
            <a:srgbClr val="FFFFFF"/>
          </a:solidFill>
          <a:ln w="12700">
            <a:solidFill>
              <a:srgbClr val="DCE5EE"/>
            </a:solidFill>
            <a:prstDash val="solid"/>
          </a:ln>
        </p:spPr>
      </p:sp>
      <p:sp>
        <p:nvSpPr>
          <p:cNvPr id="29" name="Shape 27"/>
          <p:cNvSpPr/>
          <p:nvPr/>
        </p:nvSpPr>
        <p:spPr>
          <a:xfrm>
            <a:off x="713232" y="5413248"/>
            <a:ext cx="347472" cy="347472"/>
          </a:xfrm>
          <a:prstGeom prst="ellipse">
            <a:avLst/>
          </a:prstGeom>
          <a:solidFill>
            <a:srgbClr val="1C7293"/>
          </a:solidFill>
          <a:ln/>
        </p:spPr>
      </p:sp>
      <p:sp>
        <p:nvSpPr>
          <p:cNvPr id="30" name="Text 28"/>
          <p:cNvSpPr txBox="1"/>
          <p:nvPr/>
        </p:nvSpPr>
        <p:spPr>
          <a:xfrm>
            <a:off x="713232" y="5413248"/>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1" name="Text 29"/>
          <p:cNvSpPr txBox="1"/>
          <p:nvPr/>
        </p:nvSpPr>
        <p:spPr>
          <a:xfrm>
            <a:off x="1188720" y="5248656"/>
            <a:ext cx="2103120" cy="676656"/>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Go live on 3-5</a:t>
            </a:r>
            <a:endParaRPr lang="en-US" sz="1250" dirty="0"/>
          </a:p>
        </p:txBody>
      </p:sp>
      <p:sp>
        <p:nvSpPr>
          <p:cNvPr id="32" name="Text 30"/>
          <p:cNvSpPr txBox="1"/>
          <p:nvPr/>
        </p:nvSpPr>
        <p:spPr>
          <a:xfrm>
            <a:off x="3337560" y="5248656"/>
            <a:ext cx="3931920" cy="676656"/>
          </a:xfrm>
          <a:prstGeom prst="rect">
            <a:avLst/>
          </a:prstGeom>
          <a:noFill/>
          <a:ln/>
        </p:spPr>
        <p:txBody>
          <a:bodyPr wrap="square" lIns="0" tIns="0" rIns="0" bIns="0" rtlCol="0" anchor="ctr"/>
          <a:lstStyle/>
          <a:p>
            <a:pPr indent="0" marL="0">
              <a:buNone/>
            </a:pPr>
            <a:r>
              <a:rPr lang="en-US" sz="1000" dirty="0">
                <a:solidFill>
                  <a:srgbClr val="1A2733"/>
                </a:solidFill>
                <a:latin typeface="Calibri" pitchFamily="34" charset="0"/>
                <a:ea typeface="Calibri" pitchFamily="34" charset="-122"/>
                <a:cs typeface="Calibri" pitchFamily="34" charset="-120"/>
              </a:rPr>
              <a:t>Escalate real gaps mid-conversation instead of waiting for completeness.</a:t>
            </a:r>
            <a:endParaRPr lang="en-US" sz="1000" dirty="0"/>
          </a:p>
        </p:txBody>
      </p:sp>
      <p:sp>
        <p:nvSpPr>
          <p:cNvPr id="33" name="Text 31"/>
          <p:cNvSpPr txBox="1"/>
          <p:nvPr/>
        </p:nvSpPr>
        <p:spPr>
          <a:xfrm>
            <a:off x="7406640" y="5248656"/>
            <a:ext cx="4023360" cy="676656"/>
          </a:xfrm>
          <a:prstGeom prst="rect">
            <a:avLst/>
          </a:prstGeom>
          <a:noFill/>
          <a:ln/>
        </p:spPr>
        <p:txBody>
          <a:bodyPr wrap="square" lIns="0" tIns="0" rIns="0" bIns="0" rtlCol="0" anchor="ctr"/>
          <a:lstStyle/>
          <a:p>
            <a:pPr indent="0" marL="0">
              <a:buNone/>
            </a:pPr>
            <a:r>
              <a:rPr lang="en-US" sz="950" i="1" dirty="0">
                <a:solidFill>
                  <a:srgbClr val="065A82"/>
                </a:solidFill>
                <a:latin typeface="Calibri" pitchFamily="34" charset="0"/>
                <a:ea typeface="Calibri" pitchFamily="34" charset="-122"/>
                <a:cs typeface="Calibri" pitchFamily="34" charset="-120"/>
              </a:rPr>
              <a:t>No product found does this. A real gap beats an empty form field</a:t>
            </a:r>
            <a:endParaRPr lang="en-US" sz="950" dirty="0"/>
          </a:p>
        </p:txBody>
      </p:sp>
      <p:sp>
        <p:nvSpPr>
          <p:cNvPr id="34" name="Shape 32"/>
          <p:cNvSpPr/>
          <p:nvPr/>
        </p:nvSpPr>
        <p:spPr>
          <a:xfrm>
            <a:off x="548640" y="6053328"/>
            <a:ext cx="11064240" cy="566928"/>
          </a:xfrm>
          <a:prstGeom prst="roundRect">
            <a:avLst>
              <a:gd name="adj" fmla="val 11290"/>
            </a:avLst>
          </a:prstGeom>
          <a:solidFill>
            <a:srgbClr val="F4F7FA"/>
          </a:solidFill>
          <a:ln w="12700">
            <a:solidFill>
              <a:srgbClr val="DCE5EE"/>
            </a:solidFill>
            <a:prstDash val="solid"/>
          </a:ln>
        </p:spPr>
      </p:sp>
      <p:sp>
        <p:nvSpPr>
          <p:cNvPr id="35" name="Text 33"/>
          <p:cNvSpPr txBox="1"/>
          <p:nvPr/>
        </p:nvSpPr>
        <p:spPr>
          <a:xfrm>
            <a:off x="777240" y="6053328"/>
            <a:ext cx="10607040" cy="566928"/>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WHY TEMPLATE FIRST:  a pre-priced industry library is the only mechanism found that collapses pricing setup from months to a day without bespoke human labour. One product ships ~8,500 maintained tasks covering &gt;90% of common repairs.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PRODUCT MODE</a:t>
            </a:r>
            <a:endParaRPr lang="en-US" sz="1050" dirty="0"/>
          </a:p>
        </p:txBody>
      </p:sp>
      <p:sp>
        <p:nvSpPr>
          <p:cNvPr id="3" name="Text 1"/>
          <p:cNvSpPr txBox="1"/>
          <p:nvPr/>
        </p:nvSpPr>
        <p:spPr>
          <a:xfrm>
            <a:off x="548640" y="512064"/>
            <a:ext cx="11064240" cy="566928"/>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Product mode: connecting the catalogue</a:t>
            </a:r>
            <a:endParaRPr lang="en-US" sz="2800" dirty="0"/>
          </a:p>
        </p:txBody>
      </p:sp>
      <p:sp>
        <p:nvSpPr>
          <p:cNvPr id="4" name="Shape 2"/>
          <p:cNvSpPr/>
          <p:nvPr/>
        </p:nvSpPr>
        <p:spPr>
          <a:xfrm>
            <a:off x="4206240" y="1115568"/>
            <a:ext cx="3749040" cy="420624"/>
          </a:xfrm>
          <a:prstGeom prst="roundRect">
            <a:avLst>
              <a:gd name="adj" fmla="val 15217"/>
            </a:avLst>
          </a:prstGeom>
          <a:solidFill>
            <a:srgbClr val="21295C"/>
          </a:solidFill>
          <a:ln/>
        </p:spPr>
      </p:sp>
      <p:sp>
        <p:nvSpPr>
          <p:cNvPr id="5" name="Text 3"/>
          <p:cNvSpPr txBox="1"/>
          <p:nvPr/>
        </p:nvSpPr>
        <p:spPr>
          <a:xfrm>
            <a:off x="4206240" y="1115568"/>
            <a:ext cx="3749040"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Agent tools</a:t>
            </a:r>
            <a:endParaRPr lang="en-US" sz="1150" dirty="0"/>
          </a:p>
        </p:txBody>
      </p:sp>
      <p:sp>
        <p:nvSpPr>
          <p:cNvPr id="6" name="Shape 4"/>
          <p:cNvSpPr/>
          <p:nvPr/>
        </p:nvSpPr>
        <p:spPr>
          <a:xfrm>
            <a:off x="5943600" y="1581912"/>
            <a:ext cx="237744" cy="237744"/>
          </a:xfrm>
          <a:prstGeom prst="downArrow">
            <a:avLst/>
          </a:prstGeom>
          <a:solidFill>
            <a:srgbClr val="AAB8C4"/>
          </a:solidFill>
          <a:ln/>
        </p:spPr>
      </p:sp>
      <p:sp>
        <p:nvSpPr>
          <p:cNvPr id="7" name="Shape 5"/>
          <p:cNvSpPr/>
          <p:nvPr/>
        </p:nvSpPr>
        <p:spPr>
          <a:xfrm>
            <a:off x="3108960" y="1874520"/>
            <a:ext cx="5943600" cy="475488"/>
          </a:xfrm>
          <a:prstGeom prst="roundRect">
            <a:avLst>
              <a:gd name="adj" fmla="val 13462"/>
            </a:avLst>
          </a:prstGeom>
          <a:solidFill>
            <a:srgbClr val="065A82"/>
          </a:solidFill>
          <a:ln/>
        </p:spPr>
      </p:sp>
      <p:sp>
        <p:nvSpPr>
          <p:cNvPr id="8" name="Text 6"/>
          <p:cNvSpPr txBox="1"/>
          <p:nvPr/>
        </p:nvSpPr>
        <p:spPr>
          <a:xfrm>
            <a:off x="3108960" y="1874520"/>
            <a:ext cx="5943600"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CatalogPort  ·  OrdersPort      the standardised contract</a:t>
            </a:r>
            <a:endParaRPr lang="en-US" sz="1150" dirty="0"/>
          </a:p>
        </p:txBody>
      </p:sp>
      <p:sp>
        <p:nvSpPr>
          <p:cNvPr id="9" name="Shape 7"/>
          <p:cNvSpPr/>
          <p:nvPr/>
        </p:nvSpPr>
        <p:spPr>
          <a:xfrm>
            <a:off x="5943600" y="2395728"/>
            <a:ext cx="237744" cy="219456"/>
          </a:xfrm>
          <a:prstGeom prst="downArrow">
            <a:avLst/>
          </a:prstGeom>
          <a:solidFill>
            <a:srgbClr val="AAB8C4"/>
          </a:solidFill>
          <a:ln/>
        </p:spPr>
      </p:sp>
      <p:sp>
        <p:nvSpPr>
          <p:cNvPr id="10" name="Shape 8"/>
          <p:cNvSpPr/>
          <p:nvPr/>
        </p:nvSpPr>
        <p:spPr>
          <a:xfrm>
            <a:off x="3657600" y="2651760"/>
            <a:ext cx="4846320" cy="420624"/>
          </a:xfrm>
          <a:prstGeom prst="roundRect">
            <a:avLst>
              <a:gd name="adj" fmla="val 15217"/>
            </a:avLst>
          </a:prstGeom>
          <a:solidFill>
            <a:srgbClr val="1C7293"/>
          </a:solidFill>
          <a:ln/>
        </p:spPr>
      </p:sp>
      <p:sp>
        <p:nvSpPr>
          <p:cNvPr id="11" name="Text 9"/>
          <p:cNvSpPr txBox="1"/>
          <p:nvPr/>
        </p:nvSpPr>
        <p:spPr>
          <a:xfrm>
            <a:off x="3657600" y="2651760"/>
            <a:ext cx="4846320"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Read model — ALWAYS queried here</a:t>
            </a:r>
            <a:endParaRPr lang="en-US" sz="1050" dirty="0"/>
          </a:p>
        </p:txBody>
      </p:sp>
      <p:sp>
        <p:nvSpPr>
          <p:cNvPr id="12" name="Shape 10"/>
          <p:cNvSpPr/>
          <p:nvPr/>
        </p:nvSpPr>
        <p:spPr>
          <a:xfrm>
            <a:off x="548640" y="3291840"/>
            <a:ext cx="2651760" cy="1965960"/>
          </a:xfrm>
          <a:prstGeom prst="roundRect">
            <a:avLst>
              <a:gd name="adj" fmla="val 3256"/>
            </a:avLst>
          </a:prstGeom>
          <a:solidFill>
            <a:srgbClr val="F4F7FA"/>
          </a:solidFill>
          <a:ln w="12700">
            <a:solidFill>
              <a:srgbClr val="C9D6E2"/>
            </a:solidFill>
            <a:prstDash val="solid"/>
          </a:ln>
        </p:spPr>
      </p:sp>
      <p:sp>
        <p:nvSpPr>
          <p:cNvPr id="13" name="Text 11"/>
          <p:cNvSpPr txBox="1"/>
          <p:nvPr/>
        </p:nvSpPr>
        <p:spPr>
          <a:xfrm>
            <a:off x="713232" y="3419856"/>
            <a:ext cx="233172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No platform</a:t>
            </a:r>
            <a:endParaRPr lang="en-US" sz="1300" dirty="0"/>
          </a:p>
        </p:txBody>
      </p:sp>
      <p:sp>
        <p:nvSpPr>
          <p:cNvPr id="14" name="Text 12"/>
          <p:cNvSpPr txBox="1"/>
          <p:nvPr/>
        </p:nvSpPr>
        <p:spPr>
          <a:xfrm>
            <a:off x="713232" y="3712464"/>
            <a:ext cx="2331720" cy="256032"/>
          </a:xfrm>
          <a:prstGeom prst="rect">
            <a:avLst/>
          </a:prstGeom>
          <a:noFill/>
          <a:ln/>
        </p:spPr>
        <p:txBody>
          <a:bodyPr wrap="square" lIns="0" tIns="0" rIns="0" bIns="0" rtlCol="0" anchor="ctr"/>
          <a:lstStyle/>
          <a:p>
            <a:pPr indent="0" marL="0">
              <a:buNone/>
            </a:pPr>
            <a:r>
              <a:rPr lang="en-US" sz="950" dirty="0">
                <a:solidFill>
                  <a:srgbClr val="5A6B7B"/>
                </a:solidFill>
                <a:latin typeface="Calibri" pitchFamily="34" charset="0"/>
                <a:ea typeface="Calibri" pitchFamily="34" charset="-122"/>
                <a:cs typeface="Calibri" pitchFamily="34" charset="-120"/>
              </a:rPr>
              <a:t>sheet / CSV upload</a:t>
            </a:r>
            <a:endParaRPr lang="en-US" sz="950" dirty="0"/>
          </a:p>
        </p:txBody>
      </p:sp>
      <p:sp>
        <p:nvSpPr>
          <p:cNvPr id="15" name="Shape 13"/>
          <p:cNvSpPr/>
          <p:nvPr/>
        </p:nvSpPr>
        <p:spPr>
          <a:xfrm>
            <a:off x="713232" y="4023360"/>
            <a:ext cx="1234440" cy="256032"/>
          </a:xfrm>
          <a:prstGeom prst="roundRect">
            <a:avLst>
              <a:gd name="adj" fmla="val 25000"/>
            </a:avLst>
          </a:prstGeom>
          <a:solidFill>
            <a:srgbClr val="2E8B57"/>
          </a:solidFill>
          <a:ln/>
        </p:spPr>
      </p:sp>
      <p:sp>
        <p:nvSpPr>
          <p:cNvPr id="16" name="Text 14"/>
          <p:cNvSpPr txBox="1"/>
          <p:nvPr/>
        </p:nvSpPr>
        <p:spPr>
          <a:xfrm>
            <a:off x="713232" y="4023360"/>
            <a:ext cx="123444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BUILD 1st</a:t>
            </a:r>
            <a:endParaRPr lang="en-US" sz="850" dirty="0"/>
          </a:p>
        </p:txBody>
      </p:sp>
      <p:sp>
        <p:nvSpPr>
          <p:cNvPr id="17" name="Text 15"/>
          <p:cNvSpPr txBox="1"/>
          <p:nvPr/>
        </p:nvSpPr>
        <p:spPr>
          <a:xfrm>
            <a:off x="713232" y="4370832"/>
            <a:ext cx="2331720" cy="77724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~23% of small EU firms have no website at all</a:t>
            </a:r>
            <a:endParaRPr lang="en-US" sz="900" dirty="0"/>
          </a:p>
        </p:txBody>
      </p:sp>
      <p:sp>
        <p:nvSpPr>
          <p:cNvPr id="18" name="Shape 16"/>
          <p:cNvSpPr/>
          <p:nvPr/>
        </p:nvSpPr>
        <p:spPr>
          <a:xfrm>
            <a:off x="3383280" y="3291840"/>
            <a:ext cx="2651760" cy="1965960"/>
          </a:xfrm>
          <a:prstGeom prst="roundRect">
            <a:avLst>
              <a:gd name="adj" fmla="val 3256"/>
            </a:avLst>
          </a:prstGeom>
          <a:solidFill>
            <a:srgbClr val="F4F7FA"/>
          </a:solidFill>
          <a:ln w="12700">
            <a:solidFill>
              <a:srgbClr val="C9D6E2"/>
            </a:solidFill>
            <a:prstDash val="solid"/>
          </a:ln>
        </p:spPr>
      </p:sp>
      <p:sp>
        <p:nvSpPr>
          <p:cNvPr id="19" name="Text 17"/>
          <p:cNvSpPr txBox="1"/>
          <p:nvPr/>
        </p:nvSpPr>
        <p:spPr>
          <a:xfrm>
            <a:off x="3547872" y="3419856"/>
            <a:ext cx="233172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Shopify</a:t>
            </a:r>
            <a:endParaRPr lang="en-US" sz="1300" dirty="0"/>
          </a:p>
        </p:txBody>
      </p:sp>
      <p:sp>
        <p:nvSpPr>
          <p:cNvPr id="20" name="Text 18"/>
          <p:cNvSpPr txBox="1"/>
          <p:nvPr/>
        </p:nvSpPr>
        <p:spPr>
          <a:xfrm>
            <a:off x="3547872" y="3712464"/>
            <a:ext cx="2331720" cy="256032"/>
          </a:xfrm>
          <a:prstGeom prst="rect">
            <a:avLst/>
          </a:prstGeom>
          <a:noFill/>
          <a:ln/>
        </p:spPr>
        <p:txBody>
          <a:bodyPr wrap="square" lIns="0" tIns="0" rIns="0" bIns="0" rtlCol="0" anchor="ctr"/>
          <a:lstStyle/>
          <a:p>
            <a:pPr indent="0" marL="0">
              <a:buNone/>
            </a:pPr>
            <a:r>
              <a:rPr lang="en-US" sz="950" dirty="0">
                <a:solidFill>
                  <a:srgbClr val="5A6B7B"/>
                </a:solidFill>
                <a:latin typeface="Calibri" pitchFamily="34" charset="0"/>
                <a:ea typeface="Calibri" pitchFamily="34" charset="-122"/>
                <a:cs typeface="Calibri" pitchFamily="34" charset="-120"/>
              </a:rPr>
              <a:t>OAuth, 2 clicks</a:t>
            </a:r>
            <a:endParaRPr lang="en-US" sz="950" dirty="0"/>
          </a:p>
        </p:txBody>
      </p:sp>
      <p:sp>
        <p:nvSpPr>
          <p:cNvPr id="21" name="Shape 19"/>
          <p:cNvSpPr/>
          <p:nvPr/>
        </p:nvSpPr>
        <p:spPr>
          <a:xfrm>
            <a:off x="3547872" y="4023360"/>
            <a:ext cx="1234440" cy="256032"/>
          </a:xfrm>
          <a:prstGeom prst="roundRect">
            <a:avLst>
              <a:gd name="adj" fmla="val 25000"/>
            </a:avLst>
          </a:prstGeom>
          <a:solidFill>
            <a:srgbClr val="2E8B57"/>
          </a:solidFill>
          <a:ln/>
        </p:spPr>
      </p:sp>
      <p:sp>
        <p:nvSpPr>
          <p:cNvPr id="22" name="Text 20"/>
          <p:cNvSpPr txBox="1"/>
          <p:nvPr/>
        </p:nvSpPr>
        <p:spPr>
          <a:xfrm>
            <a:off x="3547872" y="4023360"/>
            <a:ext cx="123444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BUILD 2nd</a:t>
            </a:r>
            <a:endParaRPr lang="en-US" sz="850" dirty="0"/>
          </a:p>
        </p:txBody>
      </p:sp>
      <p:sp>
        <p:nvSpPr>
          <p:cNvPr id="23" name="Text 21"/>
          <p:cNvSpPr txBox="1"/>
          <p:nvPr/>
        </p:nvSpPr>
        <p:spPr>
          <a:xfrm>
            <a:off x="3547872" y="4370832"/>
            <a:ext cx="2331720" cy="77724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30-47% of shops per target country</a:t>
            </a:r>
            <a:endParaRPr lang="en-US" sz="900" dirty="0"/>
          </a:p>
        </p:txBody>
      </p:sp>
      <p:sp>
        <p:nvSpPr>
          <p:cNvPr id="24" name="Shape 22"/>
          <p:cNvSpPr/>
          <p:nvPr/>
        </p:nvSpPr>
        <p:spPr>
          <a:xfrm>
            <a:off x="6217920" y="3291840"/>
            <a:ext cx="2651760" cy="1965960"/>
          </a:xfrm>
          <a:prstGeom prst="roundRect">
            <a:avLst>
              <a:gd name="adj" fmla="val 3256"/>
            </a:avLst>
          </a:prstGeom>
          <a:solidFill>
            <a:srgbClr val="F4F7FA"/>
          </a:solidFill>
          <a:ln w="12700">
            <a:solidFill>
              <a:srgbClr val="C9D6E2"/>
            </a:solidFill>
            <a:prstDash val="solid"/>
          </a:ln>
        </p:spPr>
      </p:sp>
      <p:sp>
        <p:nvSpPr>
          <p:cNvPr id="25" name="Text 23"/>
          <p:cNvSpPr txBox="1"/>
          <p:nvPr/>
        </p:nvSpPr>
        <p:spPr>
          <a:xfrm>
            <a:off x="6382512" y="3419856"/>
            <a:ext cx="233172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WooCommerce</a:t>
            </a:r>
            <a:endParaRPr lang="en-US" sz="1300" dirty="0"/>
          </a:p>
        </p:txBody>
      </p:sp>
      <p:sp>
        <p:nvSpPr>
          <p:cNvPr id="26" name="Text 24"/>
          <p:cNvSpPr txBox="1"/>
          <p:nvPr/>
        </p:nvSpPr>
        <p:spPr>
          <a:xfrm>
            <a:off x="6382512" y="3712464"/>
            <a:ext cx="2331720" cy="256032"/>
          </a:xfrm>
          <a:prstGeom prst="rect">
            <a:avLst/>
          </a:prstGeom>
          <a:noFill/>
          <a:ln/>
        </p:spPr>
        <p:txBody>
          <a:bodyPr wrap="square" lIns="0" tIns="0" rIns="0" bIns="0" rtlCol="0" anchor="ctr"/>
          <a:lstStyle/>
          <a:p>
            <a:pPr indent="0" marL="0">
              <a:buNone/>
            </a:pPr>
            <a:r>
              <a:rPr lang="en-US" sz="950" dirty="0">
                <a:solidFill>
                  <a:srgbClr val="5A6B7B"/>
                </a:solidFill>
                <a:latin typeface="Calibri" pitchFamily="34" charset="0"/>
                <a:ea typeface="Calibri" pitchFamily="34" charset="-122"/>
                <a:cs typeface="Calibri" pitchFamily="34" charset="-120"/>
              </a:rPr>
              <a:t>wc-auth endpoint, 2-4 clicks</a:t>
            </a:r>
            <a:endParaRPr lang="en-US" sz="950" dirty="0"/>
          </a:p>
        </p:txBody>
      </p:sp>
      <p:sp>
        <p:nvSpPr>
          <p:cNvPr id="27" name="Shape 25"/>
          <p:cNvSpPr/>
          <p:nvPr/>
        </p:nvSpPr>
        <p:spPr>
          <a:xfrm>
            <a:off x="6382512" y="4023360"/>
            <a:ext cx="1234440" cy="256032"/>
          </a:xfrm>
          <a:prstGeom prst="roundRect">
            <a:avLst>
              <a:gd name="adj" fmla="val 25000"/>
            </a:avLst>
          </a:prstGeom>
          <a:solidFill>
            <a:srgbClr val="2E8B57"/>
          </a:solidFill>
          <a:ln/>
        </p:spPr>
      </p:sp>
      <p:sp>
        <p:nvSpPr>
          <p:cNvPr id="28" name="Text 26"/>
          <p:cNvSpPr txBox="1"/>
          <p:nvPr/>
        </p:nvSpPr>
        <p:spPr>
          <a:xfrm>
            <a:off x="6382512" y="4023360"/>
            <a:ext cx="123444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BUILD 3rd</a:t>
            </a:r>
            <a:endParaRPr lang="en-US" sz="850" dirty="0"/>
          </a:p>
        </p:txBody>
      </p:sp>
      <p:sp>
        <p:nvSpPr>
          <p:cNvPr id="29" name="Text 27"/>
          <p:cNvSpPr txBox="1"/>
          <p:nvPr/>
        </p:nvSpPr>
        <p:spPr>
          <a:xfrm>
            <a:off x="6382512" y="4370832"/>
            <a:ext cx="2331720" cy="77724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25-36%, beats Shopify in IE, NL, DK</a:t>
            </a:r>
            <a:endParaRPr lang="en-US" sz="900" dirty="0"/>
          </a:p>
        </p:txBody>
      </p:sp>
      <p:sp>
        <p:nvSpPr>
          <p:cNvPr id="30" name="Shape 28"/>
          <p:cNvSpPr/>
          <p:nvPr/>
        </p:nvSpPr>
        <p:spPr>
          <a:xfrm>
            <a:off x="9052560" y="3291840"/>
            <a:ext cx="2651760" cy="1965960"/>
          </a:xfrm>
          <a:prstGeom prst="roundRect">
            <a:avLst>
              <a:gd name="adj" fmla="val 3256"/>
            </a:avLst>
          </a:prstGeom>
          <a:solidFill>
            <a:srgbClr val="F7EDEE"/>
          </a:solidFill>
          <a:ln w="12700">
            <a:solidFill>
              <a:srgbClr val="B23A48"/>
            </a:solidFill>
            <a:prstDash val="solid"/>
          </a:ln>
        </p:spPr>
      </p:sp>
      <p:sp>
        <p:nvSpPr>
          <p:cNvPr id="31" name="Text 29"/>
          <p:cNvSpPr txBox="1"/>
          <p:nvPr/>
        </p:nvSpPr>
        <p:spPr>
          <a:xfrm>
            <a:off x="9217152" y="3419856"/>
            <a:ext cx="2331720" cy="274320"/>
          </a:xfrm>
          <a:prstGeom prst="rect">
            <a:avLst/>
          </a:prstGeom>
          <a:noFill/>
          <a:ln/>
        </p:spPr>
        <p:txBody>
          <a:bodyPr wrap="square" lIns="0" tIns="0" rIns="0" bIns="0" rtlCol="0" anchor="ctr"/>
          <a:lstStyle/>
          <a:p>
            <a:pPr indent="0" marL="0">
              <a:buNone/>
            </a:pPr>
            <a:r>
              <a:rPr lang="en-US" sz="1300" b="1" strike="sngStrike" dirty="0">
                <a:solidFill>
                  <a:srgbClr val="B23A48"/>
                </a:solidFill>
                <a:latin typeface="Calibri" pitchFamily="34" charset="0"/>
                <a:ea typeface="Calibri" pitchFamily="34" charset="-122"/>
                <a:cs typeface="Calibri" pitchFamily="34" charset="-120"/>
              </a:rPr>
              <a:t>Odoo</a:t>
            </a:r>
            <a:endParaRPr lang="en-US" sz="1300" dirty="0"/>
          </a:p>
        </p:txBody>
      </p:sp>
      <p:sp>
        <p:nvSpPr>
          <p:cNvPr id="32" name="Text 30"/>
          <p:cNvSpPr txBox="1"/>
          <p:nvPr/>
        </p:nvSpPr>
        <p:spPr>
          <a:xfrm>
            <a:off x="9217152" y="3712464"/>
            <a:ext cx="2331720" cy="256032"/>
          </a:xfrm>
          <a:prstGeom prst="rect">
            <a:avLst/>
          </a:prstGeom>
          <a:noFill/>
          <a:ln/>
        </p:spPr>
        <p:txBody>
          <a:bodyPr wrap="square" lIns="0" tIns="0" rIns="0" bIns="0" rtlCol="0" anchor="ctr"/>
          <a:lstStyle/>
          <a:p>
            <a:pPr indent="0" marL="0">
              <a:buNone/>
            </a:pPr>
            <a:r>
              <a:rPr lang="en-US" sz="950" dirty="0">
                <a:solidFill>
                  <a:srgbClr val="5A6B7B"/>
                </a:solidFill>
                <a:latin typeface="Calibri" pitchFamily="34" charset="0"/>
                <a:ea typeface="Calibri" pitchFamily="34" charset="-122"/>
                <a:cs typeface="Calibri" pitchFamily="34" charset="-120"/>
              </a:rPr>
              <a:t>paywalled API</a:t>
            </a:r>
            <a:endParaRPr lang="en-US" sz="950" dirty="0"/>
          </a:p>
        </p:txBody>
      </p:sp>
      <p:sp>
        <p:nvSpPr>
          <p:cNvPr id="33" name="Shape 31"/>
          <p:cNvSpPr/>
          <p:nvPr/>
        </p:nvSpPr>
        <p:spPr>
          <a:xfrm>
            <a:off x="9217152" y="4023360"/>
            <a:ext cx="1234440" cy="256032"/>
          </a:xfrm>
          <a:prstGeom prst="roundRect">
            <a:avLst>
              <a:gd name="adj" fmla="val 25000"/>
            </a:avLst>
          </a:prstGeom>
          <a:solidFill>
            <a:srgbClr val="B23A48"/>
          </a:solidFill>
          <a:ln/>
        </p:spPr>
      </p:sp>
      <p:sp>
        <p:nvSpPr>
          <p:cNvPr id="34" name="Text 32"/>
          <p:cNvSpPr txBox="1"/>
          <p:nvPr/>
        </p:nvSpPr>
        <p:spPr>
          <a:xfrm>
            <a:off x="9217152" y="4023360"/>
            <a:ext cx="123444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DROPPED</a:t>
            </a:r>
            <a:endParaRPr lang="en-US" sz="850" dirty="0"/>
          </a:p>
        </p:txBody>
      </p:sp>
      <p:sp>
        <p:nvSpPr>
          <p:cNvPr id="35" name="Text 33"/>
          <p:cNvSpPr txBox="1"/>
          <p:nvPr/>
        </p:nvSpPr>
        <p:spPr>
          <a:xfrm>
            <a:off x="9217152" y="4370832"/>
            <a:ext cx="2331720" cy="77724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0.4% of market, 1 call/sec, expires 2027</a:t>
            </a:r>
            <a:endParaRPr lang="en-US" sz="900" dirty="0"/>
          </a:p>
        </p:txBody>
      </p:sp>
      <p:sp>
        <p:nvSpPr>
          <p:cNvPr id="36" name="Shape 34"/>
          <p:cNvSpPr/>
          <p:nvPr/>
        </p:nvSpPr>
        <p:spPr>
          <a:xfrm>
            <a:off x="548640" y="5394960"/>
            <a:ext cx="11064240" cy="548640"/>
          </a:xfrm>
          <a:prstGeom prst="roundRect">
            <a:avLst>
              <a:gd name="adj" fmla="val 11667"/>
            </a:avLst>
          </a:prstGeom>
          <a:solidFill>
            <a:srgbClr val="F4F7FA"/>
          </a:solidFill>
          <a:ln w="12700">
            <a:solidFill>
              <a:srgbClr val="DCE5EE"/>
            </a:solidFill>
            <a:prstDash val="solid"/>
          </a:ln>
        </p:spPr>
      </p:sp>
      <p:sp>
        <p:nvSpPr>
          <p:cNvPr id="37" name="Text 35"/>
          <p:cNvSpPr txBox="1"/>
          <p:nvPr/>
        </p:nvSpPr>
        <p:spPr>
          <a:xfrm>
            <a:off x="777240" y="5394960"/>
            <a:ext cx="10607040" cy="548640"/>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Shopify + WooCommerce = 66-72% of shops in every target country.   The no-platform fallback reaches the businesses nobody else can serve.</a:t>
            </a:r>
            <a:endParaRPr lang="en-US" sz="1150" dirty="0"/>
          </a:p>
        </p:txBody>
      </p:sp>
      <p:sp>
        <p:nvSpPr>
          <p:cNvPr id="38" name="Shape 36"/>
          <p:cNvSpPr/>
          <p:nvPr/>
        </p:nvSpPr>
        <p:spPr>
          <a:xfrm>
            <a:off x="548640" y="6053328"/>
            <a:ext cx="11064240" cy="566928"/>
          </a:xfrm>
          <a:prstGeom prst="roundRect">
            <a:avLst>
              <a:gd name="adj" fmla="val 11290"/>
            </a:avLst>
          </a:prstGeom>
          <a:solidFill>
            <a:srgbClr val="F4F7FA"/>
          </a:solidFill>
          <a:ln w="12700">
            <a:solidFill>
              <a:srgbClr val="DCE5EE"/>
            </a:solidFill>
            <a:prstDash val="solid"/>
          </a:ln>
        </p:spPr>
      </p:sp>
      <p:sp>
        <p:nvSpPr>
          <p:cNvPr id="39" name="Text 37"/>
          <p:cNvSpPr txBox="1"/>
          <p:nvPr/>
        </p:nvSpPr>
        <p:spPr>
          <a:xfrm>
            <a:off x="777240" y="6053328"/>
            <a:ext cx="10607040" cy="566928"/>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WHY ODOO WAS DROPPED:  its own docs state external API access is unavailable on Free and Standard plans - the merchant must roughly double their per-user bill to connect. Odoo is not more steps; it contains a purchase decision.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DATA FRESHNESS</a:t>
            </a:r>
            <a:endParaRPr lang="en-US" sz="1050" dirty="0"/>
          </a:p>
        </p:txBody>
      </p:sp>
      <p:sp>
        <p:nvSpPr>
          <p:cNvPr id="3" name="Text 1"/>
          <p:cNvSpPr txBox="1"/>
          <p:nvPr/>
        </p:nvSpPr>
        <p:spPr>
          <a:xfrm>
            <a:off x="548640" y="512064"/>
            <a:ext cx="11064240" cy="566928"/>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What the agent is allowed to promise</a:t>
            </a:r>
            <a:endParaRPr lang="en-US" sz="2800" dirty="0"/>
          </a:p>
        </p:txBody>
      </p:sp>
      <p:sp>
        <p:nvSpPr>
          <p:cNvPr id="4" name="Text 2"/>
          <p:cNvSpPr txBox="1"/>
          <p:nvPr/>
        </p:nvSpPr>
        <p:spPr>
          <a:xfrm>
            <a:off x="548640" y="1115568"/>
            <a:ext cx="11064240" cy="274320"/>
          </a:xfrm>
          <a:prstGeom prst="rect">
            <a:avLst/>
          </a:prstGeom>
          <a:noFill/>
          <a:ln/>
        </p:spPr>
        <p:txBody>
          <a:bodyPr wrap="square" lIns="0" tIns="0" rIns="0" bIns="0" rtlCol="0" anchor="ctr"/>
          <a:lstStyle/>
          <a:p>
            <a:pPr indent="0" marL="0">
              <a:buNone/>
            </a:pPr>
            <a:r>
              <a:rPr lang="en-US" sz="1300" i="1" dirty="0">
                <a:solidFill>
                  <a:srgbClr val="5A6B7B"/>
                </a:solidFill>
                <a:latin typeface="Calibri" pitchFamily="34" charset="0"/>
                <a:ea typeface="Calibri" pitchFamily="34" charset="-122"/>
                <a:cs typeface="Calibri" pitchFamily="34" charset="-120"/>
              </a:rPr>
              <a:t>No engineering makes a spreadsheet fresh. So the promise is managed instead of the data.</a:t>
            </a:r>
            <a:endParaRPr lang="en-US" sz="1300" dirty="0"/>
          </a:p>
        </p:txBody>
      </p:sp>
      <p:sp>
        <p:nvSpPr>
          <p:cNvPr id="5" name="Shape 3"/>
          <p:cNvSpPr/>
          <p:nvPr/>
        </p:nvSpPr>
        <p:spPr>
          <a:xfrm>
            <a:off x="548640" y="1536192"/>
            <a:ext cx="11064240" cy="896112"/>
          </a:xfrm>
          <a:prstGeom prst="roundRect">
            <a:avLst>
              <a:gd name="adj" fmla="val 7143"/>
            </a:avLst>
          </a:prstGeom>
          <a:solidFill>
            <a:srgbClr val="FFFFFF"/>
          </a:solidFill>
          <a:ln w="12700">
            <a:solidFill>
              <a:srgbClr val="DCE5EE"/>
            </a:solidFill>
            <a:prstDash val="solid"/>
          </a:ln>
        </p:spPr>
      </p:sp>
      <p:sp>
        <p:nvSpPr>
          <p:cNvPr id="6" name="Shape 4"/>
          <p:cNvSpPr/>
          <p:nvPr/>
        </p:nvSpPr>
        <p:spPr>
          <a:xfrm>
            <a:off x="777240" y="1737360"/>
            <a:ext cx="1737360" cy="493776"/>
          </a:xfrm>
          <a:prstGeom prst="roundRect">
            <a:avLst>
              <a:gd name="adj" fmla="val 12963"/>
            </a:avLst>
          </a:prstGeom>
          <a:solidFill>
            <a:srgbClr val="2E8B57"/>
          </a:solidFill>
          <a:ln/>
        </p:spPr>
      </p:sp>
      <p:sp>
        <p:nvSpPr>
          <p:cNvPr id="7" name="Text 5"/>
          <p:cNvSpPr txBox="1"/>
          <p:nvPr/>
        </p:nvSpPr>
        <p:spPr>
          <a:xfrm>
            <a:off x="777240" y="1737360"/>
            <a:ext cx="1737360"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&lt; 24 hours</a:t>
            </a:r>
            <a:endParaRPr lang="en-US" sz="1100" dirty="0"/>
          </a:p>
        </p:txBody>
      </p:sp>
      <p:sp>
        <p:nvSpPr>
          <p:cNvPr id="8" name="Text 6"/>
          <p:cNvSpPr txBox="1"/>
          <p:nvPr/>
        </p:nvSpPr>
        <p:spPr>
          <a:xfrm>
            <a:off x="2788920" y="1737360"/>
            <a:ext cx="4846320" cy="493776"/>
          </a:xfrm>
          <a:prstGeom prst="rect">
            <a:avLst/>
          </a:prstGeom>
          <a:noFill/>
          <a:ln/>
        </p:spPr>
        <p:txBody>
          <a:bodyPr wrap="square" lIns="0" tIns="0" rIns="0" bIns="0" rtlCol="0" anchor="ctr"/>
          <a:lstStyle/>
          <a:p>
            <a:pPr indent="0" marL="0">
              <a:buNone/>
            </a:pPr>
            <a:r>
              <a:rPr lang="en-US" sz="1500" dirty="0">
                <a:solidFill>
                  <a:srgbClr val="21295C"/>
                </a:solidFill>
                <a:latin typeface="Cambria" pitchFamily="34" charset="0"/>
                <a:ea typeface="Cambria" pitchFamily="34" charset="-122"/>
                <a:cs typeface="Cambria" pitchFamily="34" charset="-120"/>
              </a:rPr>
              <a:t>“Yes, that's in stock.”</a:t>
            </a:r>
            <a:endParaRPr lang="en-US" sz="1500" dirty="0"/>
          </a:p>
        </p:txBody>
      </p:sp>
      <p:sp>
        <p:nvSpPr>
          <p:cNvPr id="9" name="Text 7"/>
          <p:cNvSpPr txBox="1"/>
          <p:nvPr/>
        </p:nvSpPr>
        <p:spPr>
          <a:xfrm>
            <a:off x="7863840" y="1737360"/>
            <a:ext cx="3566160" cy="493776"/>
          </a:xfrm>
          <a:prstGeom prst="rect">
            <a:avLst/>
          </a:prstGeom>
          <a:noFill/>
          <a:ln/>
        </p:spPr>
        <p:txBody>
          <a:bodyPr wrap="square" lIns="0" tIns="0" rIns="0" bIns="0" rtlCol="0" anchor="ctr"/>
          <a:lstStyle/>
          <a:p>
            <a:pPr indent="0" marL="0">
              <a:buNone/>
            </a:pPr>
            <a:r>
              <a:rPr lang="en-US" sz="1200" b="1" dirty="0">
                <a:solidFill>
                  <a:srgbClr val="2E8B57"/>
                </a:solidFill>
                <a:latin typeface="Calibri" pitchFamily="34" charset="0"/>
                <a:ea typeface="Calibri" pitchFamily="34" charset="-122"/>
                <a:cs typeface="Calibri" pitchFamily="34" charset="-120"/>
              </a:rPr>
              <a:t>Can take payment</a:t>
            </a:r>
            <a:endParaRPr lang="en-US" sz="1200" dirty="0"/>
          </a:p>
        </p:txBody>
      </p:sp>
      <p:sp>
        <p:nvSpPr>
          <p:cNvPr id="10" name="Shape 8"/>
          <p:cNvSpPr/>
          <p:nvPr/>
        </p:nvSpPr>
        <p:spPr>
          <a:xfrm>
            <a:off x="548640" y="2560320"/>
            <a:ext cx="11064240" cy="896112"/>
          </a:xfrm>
          <a:prstGeom prst="roundRect">
            <a:avLst>
              <a:gd name="adj" fmla="val 7143"/>
            </a:avLst>
          </a:prstGeom>
          <a:solidFill>
            <a:srgbClr val="FFFFFF"/>
          </a:solidFill>
          <a:ln w="12700">
            <a:solidFill>
              <a:srgbClr val="DCE5EE"/>
            </a:solidFill>
            <a:prstDash val="solid"/>
          </a:ln>
        </p:spPr>
      </p:sp>
      <p:sp>
        <p:nvSpPr>
          <p:cNvPr id="11" name="Shape 9"/>
          <p:cNvSpPr/>
          <p:nvPr/>
        </p:nvSpPr>
        <p:spPr>
          <a:xfrm>
            <a:off x="777240" y="2761488"/>
            <a:ext cx="1737360" cy="493776"/>
          </a:xfrm>
          <a:prstGeom prst="roundRect">
            <a:avLst>
              <a:gd name="adj" fmla="val 12963"/>
            </a:avLst>
          </a:prstGeom>
          <a:solidFill>
            <a:srgbClr val="F2A104"/>
          </a:solidFill>
          <a:ln/>
        </p:spPr>
      </p:sp>
      <p:sp>
        <p:nvSpPr>
          <p:cNvPr id="12" name="Text 10"/>
          <p:cNvSpPr txBox="1"/>
          <p:nvPr/>
        </p:nvSpPr>
        <p:spPr>
          <a:xfrm>
            <a:off x="777240" y="2761488"/>
            <a:ext cx="1737360"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&lt; 2 weeks</a:t>
            </a:r>
            <a:endParaRPr lang="en-US" sz="1100" dirty="0"/>
          </a:p>
        </p:txBody>
      </p:sp>
      <p:sp>
        <p:nvSpPr>
          <p:cNvPr id="13" name="Text 11"/>
          <p:cNvSpPr txBox="1"/>
          <p:nvPr/>
        </p:nvSpPr>
        <p:spPr>
          <a:xfrm>
            <a:off x="2788920" y="2761488"/>
            <a:ext cx="4846320" cy="493776"/>
          </a:xfrm>
          <a:prstGeom prst="rect">
            <a:avLst/>
          </a:prstGeom>
          <a:noFill/>
          <a:ln/>
        </p:spPr>
        <p:txBody>
          <a:bodyPr wrap="square" lIns="0" tIns="0" rIns="0" bIns="0" rtlCol="0" anchor="ctr"/>
          <a:lstStyle/>
          <a:p>
            <a:pPr indent="0" marL="0">
              <a:buNone/>
            </a:pPr>
            <a:r>
              <a:rPr lang="en-US" sz="1500" dirty="0">
                <a:solidFill>
                  <a:srgbClr val="21295C"/>
                </a:solidFill>
                <a:latin typeface="Cambria" pitchFamily="34" charset="0"/>
                <a:ea typeface="Cambria" pitchFamily="34" charset="-122"/>
                <a:cs typeface="Cambria" pitchFamily="34" charset="-120"/>
              </a:rPr>
              <a:t>“Let me confirm that for you.”</a:t>
            </a:r>
            <a:endParaRPr lang="en-US" sz="1500" dirty="0"/>
          </a:p>
        </p:txBody>
      </p:sp>
      <p:sp>
        <p:nvSpPr>
          <p:cNvPr id="14" name="Text 12"/>
          <p:cNvSpPr txBox="1"/>
          <p:nvPr/>
        </p:nvSpPr>
        <p:spPr>
          <a:xfrm>
            <a:off x="7863840" y="2761488"/>
            <a:ext cx="3566160" cy="493776"/>
          </a:xfrm>
          <a:prstGeom prst="rect">
            <a:avLst/>
          </a:prstGeom>
          <a:noFill/>
          <a:ln/>
        </p:spPr>
        <p:txBody>
          <a:bodyPr wrap="square" lIns="0" tIns="0" rIns="0" bIns="0" rtlCol="0" anchor="ctr"/>
          <a:lstStyle/>
          <a:p>
            <a:pPr indent="0" marL="0">
              <a:buNone/>
            </a:pPr>
            <a:r>
              <a:rPr lang="en-US" sz="1200" b="1" dirty="0">
                <a:solidFill>
                  <a:srgbClr val="F2A104"/>
                </a:solidFill>
                <a:latin typeface="Calibri" pitchFamily="34" charset="0"/>
                <a:ea typeface="Calibri" pitchFamily="34" charset="-122"/>
                <a:cs typeface="Calibri" pitchFamily="34" charset="-120"/>
              </a:rPr>
              <a:t>Reserve only</a:t>
            </a:r>
            <a:endParaRPr lang="en-US" sz="1200" dirty="0"/>
          </a:p>
        </p:txBody>
      </p:sp>
      <p:sp>
        <p:nvSpPr>
          <p:cNvPr id="15" name="Shape 13"/>
          <p:cNvSpPr/>
          <p:nvPr/>
        </p:nvSpPr>
        <p:spPr>
          <a:xfrm>
            <a:off x="548640" y="3584448"/>
            <a:ext cx="11064240" cy="896112"/>
          </a:xfrm>
          <a:prstGeom prst="roundRect">
            <a:avLst>
              <a:gd name="adj" fmla="val 7143"/>
            </a:avLst>
          </a:prstGeom>
          <a:solidFill>
            <a:srgbClr val="FFFFFF"/>
          </a:solidFill>
          <a:ln w="12700">
            <a:solidFill>
              <a:srgbClr val="DCE5EE"/>
            </a:solidFill>
            <a:prstDash val="solid"/>
          </a:ln>
        </p:spPr>
      </p:sp>
      <p:sp>
        <p:nvSpPr>
          <p:cNvPr id="16" name="Shape 14"/>
          <p:cNvSpPr/>
          <p:nvPr/>
        </p:nvSpPr>
        <p:spPr>
          <a:xfrm>
            <a:off x="777240" y="3785616"/>
            <a:ext cx="1737360" cy="493776"/>
          </a:xfrm>
          <a:prstGeom prst="roundRect">
            <a:avLst>
              <a:gd name="adj" fmla="val 12963"/>
            </a:avLst>
          </a:prstGeom>
          <a:solidFill>
            <a:srgbClr val="B23A48"/>
          </a:solidFill>
          <a:ln/>
        </p:spPr>
      </p:sp>
      <p:sp>
        <p:nvSpPr>
          <p:cNvPr id="17" name="Text 15"/>
          <p:cNvSpPr txBox="1"/>
          <p:nvPr/>
        </p:nvSpPr>
        <p:spPr>
          <a:xfrm>
            <a:off x="777240" y="3785616"/>
            <a:ext cx="1737360"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&gt; 60 days</a:t>
            </a:r>
            <a:endParaRPr lang="en-US" sz="1100" dirty="0"/>
          </a:p>
        </p:txBody>
      </p:sp>
      <p:sp>
        <p:nvSpPr>
          <p:cNvPr id="18" name="Text 16"/>
          <p:cNvSpPr txBox="1"/>
          <p:nvPr/>
        </p:nvSpPr>
        <p:spPr>
          <a:xfrm>
            <a:off x="2788920" y="3785616"/>
            <a:ext cx="4846320" cy="493776"/>
          </a:xfrm>
          <a:prstGeom prst="rect">
            <a:avLst/>
          </a:prstGeom>
          <a:noFill/>
          <a:ln/>
        </p:spPr>
        <p:txBody>
          <a:bodyPr wrap="square" lIns="0" tIns="0" rIns="0" bIns="0" rtlCol="0" anchor="ctr"/>
          <a:lstStyle/>
          <a:p>
            <a:pPr indent="0" marL="0">
              <a:buNone/>
            </a:pPr>
            <a:r>
              <a:rPr lang="en-US" sz="1500" dirty="0">
                <a:solidFill>
                  <a:srgbClr val="21295C"/>
                </a:solidFill>
                <a:latin typeface="Cambria" pitchFamily="34" charset="0"/>
                <a:ea typeface="Cambria" pitchFamily="34" charset="-122"/>
                <a:cs typeface="Cambria" pitchFamily="34" charset="-120"/>
              </a:rPr>
              <a:t>Stops asserting stock entirely</a:t>
            </a:r>
            <a:endParaRPr lang="en-US" sz="1500" dirty="0"/>
          </a:p>
        </p:txBody>
      </p:sp>
      <p:sp>
        <p:nvSpPr>
          <p:cNvPr id="19" name="Text 17"/>
          <p:cNvSpPr txBox="1"/>
          <p:nvPr/>
        </p:nvSpPr>
        <p:spPr>
          <a:xfrm>
            <a:off x="7863840" y="3785616"/>
            <a:ext cx="3566160" cy="493776"/>
          </a:xfrm>
          <a:prstGeom prst="rect">
            <a:avLst/>
          </a:prstGeom>
          <a:noFill/>
          <a:ln/>
        </p:spPr>
        <p:txBody>
          <a:bodyPr wrap="square" lIns="0" tIns="0" rIns="0" bIns="0" rtlCol="0" anchor="ctr"/>
          <a:lstStyle/>
          <a:p>
            <a:pPr indent="0" marL="0">
              <a:buNone/>
            </a:pPr>
            <a:r>
              <a:rPr lang="en-US" sz="1200" b="1" dirty="0">
                <a:solidFill>
                  <a:srgbClr val="B23A48"/>
                </a:solidFill>
                <a:latin typeface="Calibri" pitchFamily="34" charset="0"/>
                <a:ea typeface="Calibri" pitchFamily="34" charset="-122"/>
                <a:cs typeface="Calibri" pitchFamily="34" charset="-120"/>
              </a:rPr>
              <a:t>Escalate to owner</a:t>
            </a:r>
            <a:endParaRPr lang="en-US" sz="1200" dirty="0"/>
          </a:p>
        </p:txBody>
      </p:sp>
      <p:sp>
        <p:nvSpPr>
          <p:cNvPr id="20" name="Text 18"/>
          <p:cNvSpPr txBox="1"/>
          <p:nvPr/>
        </p:nvSpPr>
        <p:spPr>
          <a:xfrm>
            <a:off x="548640" y="4663440"/>
            <a:ext cx="11064240" cy="237744"/>
          </a:xfrm>
          <a:prstGeom prst="rect">
            <a:avLst/>
          </a:prstGeom>
          <a:noFill/>
          <a:ln/>
        </p:spPr>
        <p:txBody>
          <a:bodyPr wrap="square" lIns="0" tIns="0" rIns="0" bIns="0" rtlCol="0" anchor="ctr"/>
          <a:lstStyle/>
          <a:p>
            <a:pPr indent="0" marL="0">
              <a:buNone/>
            </a:pPr>
            <a:r>
              <a:rPr lang="en-US" sz="1000" b="1" spc="150" kern="0" dirty="0">
                <a:solidFill>
                  <a:srgbClr val="1C7293"/>
                </a:solidFill>
                <a:latin typeface="Calibri" pitchFamily="34" charset="0"/>
                <a:ea typeface="Calibri" pitchFamily="34" charset="-122"/>
                <a:cs typeface="Calibri" pitchFamily="34" charset="-120"/>
              </a:rPr>
              <a:t>HOW FRESH EACH SOURCE ACTUALLY IS</a:t>
            </a:r>
            <a:endParaRPr lang="en-US" sz="1000" dirty="0"/>
          </a:p>
        </p:txBody>
      </p:sp>
      <p:sp>
        <p:nvSpPr>
          <p:cNvPr id="21" name="Shape 19"/>
          <p:cNvSpPr/>
          <p:nvPr/>
        </p:nvSpPr>
        <p:spPr>
          <a:xfrm>
            <a:off x="548640" y="4956048"/>
            <a:ext cx="2651760" cy="868680"/>
          </a:xfrm>
          <a:prstGeom prst="roundRect">
            <a:avLst>
              <a:gd name="adj" fmla="val 7368"/>
            </a:avLst>
          </a:prstGeom>
          <a:solidFill>
            <a:srgbClr val="F4F7FA"/>
          </a:solidFill>
          <a:ln w="12700">
            <a:solidFill>
              <a:srgbClr val="DCE5EE"/>
            </a:solidFill>
            <a:prstDash val="solid"/>
          </a:ln>
        </p:spPr>
      </p:sp>
      <p:sp>
        <p:nvSpPr>
          <p:cNvPr id="22" name="Text 20"/>
          <p:cNvSpPr txBox="1"/>
          <p:nvPr/>
        </p:nvSpPr>
        <p:spPr>
          <a:xfrm>
            <a:off x="713232" y="5029200"/>
            <a:ext cx="2286000" cy="256032"/>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Shopify</a:t>
            </a:r>
            <a:endParaRPr lang="en-US" sz="1150" dirty="0"/>
          </a:p>
        </p:txBody>
      </p:sp>
      <p:sp>
        <p:nvSpPr>
          <p:cNvPr id="23" name="Text 21"/>
          <p:cNvSpPr txBox="1"/>
          <p:nvPr/>
        </p:nvSpPr>
        <p:spPr>
          <a:xfrm>
            <a:off x="713232" y="5285232"/>
            <a:ext cx="2286000" cy="237744"/>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webhooks + reconciliation</a:t>
            </a:r>
            <a:endParaRPr lang="en-US" sz="900" dirty="0"/>
          </a:p>
        </p:txBody>
      </p:sp>
      <p:sp>
        <p:nvSpPr>
          <p:cNvPr id="24" name="Text 22"/>
          <p:cNvSpPr txBox="1"/>
          <p:nvPr/>
        </p:nvSpPr>
        <p:spPr>
          <a:xfrm>
            <a:off x="713232" y="5522976"/>
            <a:ext cx="2286000" cy="256032"/>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seconds</a:t>
            </a:r>
            <a:endParaRPr lang="en-US" sz="1100" dirty="0"/>
          </a:p>
        </p:txBody>
      </p:sp>
      <p:sp>
        <p:nvSpPr>
          <p:cNvPr id="25" name="Shape 23"/>
          <p:cNvSpPr/>
          <p:nvPr/>
        </p:nvSpPr>
        <p:spPr>
          <a:xfrm>
            <a:off x="3383280" y="4956048"/>
            <a:ext cx="2651760" cy="868680"/>
          </a:xfrm>
          <a:prstGeom prst="roundRect">
            <a:avLst>
              <a:gd name="adj" fmla="val 7368"/>
            </a:avLst>
          </a:prstGeom>
          <a:solidFill>
            <a:srgbClr val="F4F7FA"/>
          </a:solidFill>
          <a:ln w="12700">
            <a:solidFill>
              <a:srgbClr val="DCE5EE"/>
            </a:solidFill>
            <a:prstDash val="solid"/>
          </a:ln>
        </p:spPr>
      </p:sp>
      <p:sp>
        <p:nvSpPr>
          <p:cNvPr id="26" name="Text 24"/>
          <p:cNvSpPr txBox="1"/>
          <p:nvPr/>
        </p:nvSpPr>
        <p:spPr>
          <a:xfrm>
            <a:off x="3547872" y="5029200"/>
            <a:ext cx="2286000" cy="256032"/>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WooCommerce</a:t>
            </a:r>
            <a:endParaRPr lang="en-US" sz="1150" dirty="0"/>
          </a:p>
        </p:txBody>
      </p:sp>
      <p:sp>
        <p:nvSpPr>
          <p:cNvPr id="27" name="Text 25"/>
          <p:cNvSpPr txBox="1"/>
          <p:nvPr/>
        </p:nvSpPr>
        <p:spPr>
          <a:xfrm>
            <a:off x="3547872" y="5285232"/>
            <a:ext cx="2286000" cy="237744"/>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webhooks + poll</a:t>
            </a:r>
            <a:endParaRPr lang="en-US" sz="900" dirty="0"/>
          </a:p>
        </p:txBody>
      </p:sp>
      <p:sp>
        <p:nvSpPr>
          <p:cNvPr id="28" name="Text 26"/>
          <p:cNvSpPr txBox="1"/>
          <p:nvPr/>
        </p:nvSpPr>
        <p:spPr>
          <a:xfrm>
            <a:off x="3547872" y="5522976"/>
            <a:ext cx="2286000" cy="256032"/>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minutes</a:t>
            </a:r>
            <a:endParaRPr lang="en-US" sz="1100" dirty="0"/>
          </a:p>
        </p:txBody>
      </p:sp>
      <p:sp>
        <p:nvSpPr>
          <p:cNvPr id="29" name="Shape 27"/>
          <p:cNvSpPr/>
          <p:nvPr/>
        </p:nvSpPr>
        <p:spPr>
          <a:xfrm>
            <a:off x="6217920" y="4956048"/>
            <a:ext cx="2651760" cy="868680"/>
          </a:xfrm>
          <a:prstGeom prst="roundRect">
            <a:avLst>
              <a:gd name="adj" fmla="val 7368"/>
            </a:avLst>
          </a:prstGeom>
          <a:solidFill>
            <a:srgbClr val="F4F7FA"/>
          </a:solidFill>
          <a:ln w="12700">
            <a:solidFill>
              <a:srgbClr val="DCE5EE"/>
            </a:solidFill>
            <a:prstDash val="solid"/>
          </a:ln>
        </p:spPr>
      </p:sp>
      <p:sp>
        <p:nvSpPr>
          <p:cNvPr id="30" name="Text 28"/>
          <p:cNvSpPr txBox="1"/>
          <p:nvPr/>
        </p:nvSpPr>
        <p:spPr>
          <a:xfrm>
            <a:off x="6382512" y="5029200"/>
            <a:ext cx="2286000" cy="256032"/>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Custom API</a:t>
            </a:r>
            <a:endParaRPr lang="en-US" sz="1150" dirty="0"/>
          </a:p>
        </p:txBody>
      </p:sp>
      <p:sp>
        <p:nvSpPr>
          <p:cNvPr id="31" name="Text 29"/>
          <p:cNvSpPr txBox="1"/>
          <p:nvPr/>
        </p:nvSpPr>
        <p:spPr>
          <a:xfrm>
            <a:off x="6382512" y="5285232"/>
            <a:ext cx="2286000" cy="237744"/>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scheduled poll</a:t>
            </a:r>
            <a:endParaRPr lang="en-US" sz="900" dirty="0"/>
          </a:p>
        </p:txBody>
      </p:sp>
      <p:sp>
        <p:nvSpPr>
          <p:cNvPr id="32" name="Text 30"/>
          <p:cNvSpPr txBox="1"/>
          <p:nvPr/>
        </p:nvSpPr>
        <p:spPr>
          <a:xfrm>
            <a:off x="6382512" y="5522976"/>
            <a:ext cx="2286000" cy="256032"/>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min–hours</a:t>
            </a:r>
            <a:endParaRPr lang="en-US" sz="1100" dirty="0"/>
          </a:p>
        </p:txBody>
      </p:sp>
      <p:sp>
        <p:nvSpPr>
          <p:cNvPr id="33" name="Shape 31"/>
          <p:cNvSpPr/>
          <p:nvPr/>
        </p:nvSpPr>
        <p:spPr>
          <a:xfrm>
            <a:off x="9052560" y="4956048"/>
            <a:ext cx="2651760" cy="868680"/>
          </a:xfrm>
          <a:prstGeom prst="roundRect">
            <a:avLst>
              <a:gd name="adj" fmla="val 7368"/>
            </a:avLst>
          </a:prstGeom>
          <a:solidFill>
            <a:srgbClr val="FDF3E3"/>
          </a:solidFill>
          <a:ln w="12700">
            <a:solidFill>
              <a:srgbClr val="F2A104"/>
            </a:solidFill>
            <a:prstDash val="solid"/>
          </a:ln>
        </p:spPr>
      </p:sp>
      <p:sp>
        <p:nvSpPr>
          <p:cNvPr id="34" name="Text 32"/>
          <p:cNvSpPr txBox="1"/>
          <p:nvPr/>
        </p:nvSpPr>
        <p:spPr>
          <a:xfrm>
            <a:off x="9217152" y="5029200"/>
            <a:ext cx="2286000" cy="256032"/>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Sheet upload</a:t>
            </a:r>
            <a:endParaRPr lang="en-US" sz="1150" dirty="0"/>
          </a:p>
        </p:txBody>
      </p:sp>
      <p:sp>
        <p:nvSpPr>
          <p:cNvPr id="35" name="Text 33"/>
          <p:cNvSpPr txBox="1"/>
          <p:nvPr/>
        </p:nvSpPr>
        <p:spPr>
          <a:xfrm>
            <a:off x="9217152" y="5285232"/>
            <a:ext cx="2286000" cy="237744"/>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owner re-uploads</a:t>
            </a:r>
            <a:endParaRPr lang="en-US" sz="900" dirty="0"/>
          </a:p>
        </p:txBody>
      </p:sp>
      <p:sp>
        <p:nvSpPr>
          <p:cNvPr id="36" name="Text 34"/>
          <p:cNvSpPr txBox="1"/>
          <p:nvPr/>
        </p:nvSpPr>
        <p:spPr>
          <a:xfrm>
            <a:off x="9217152" y="5522976"/>
            <a:ext cx="2286000" cy="256032"/>
          </a:xfrm>
          <a:prstGeom prst="rect">
            <a:avLst/>
          </a:prstGeom>
          <a:noFill/>
          <a:ln/>
        </p:spPr>
        <p:txBody>
          <a:bodyPr wrap="square" lIns="0" tIns="0" rIns="0" bIns="0" rtlCol="0" anchor="ctr"/>
          <a:lstStyle/>
          <a:p>
            <a:pPr indent="0" marL="0">
              <a:buNone/>
            </a:pPr>
            <a:r>
              <a:rPr lang="en-US" sz="1100" b="1" dirty="0">
                <a:solidFill>
                  <a:srgbClr val="B23A48"/>
                </a:solidFill>
                <a:latin typeface="Calibri" pitchFamily="34" charset="0"/>
                <a:ea typeface="Calibri" pitchFamily="34" charset="-122"/>
                <a:cs typeface="Calibri" pitchFamily="34" charset="-120"/>
              </a:rPr>
              <a:t>DAYS</a:t>
            </a:r>
            <a:endParaRPr lang="en-US" sz="1100" dirty="0"/>
          </a:p>
        </p:txBody>
      </p:sp>
      <p:sp>
        <p:nvSpPr>
          <p:cNvPr id="37" name="Shape 35"/>
          <p:cNvSpPr/>
          <p:nvPr/>
        </p:nvSpPr>
        <p:spPr>
          <a:xfrm>
            <a:off x="548640" y="6053328"/>
            <a:ext cx="11064240" cy="566928"/>
          </a:xfrm>
          <a:prstGeom prst="roundRect">
            <a:avLst>
              <a:gd name="adj" fmla="val 11290"/>
            </a:avLst>
          </a:prstGeom>
          <a:solidFill>
            <a:srgbClr val="21295C"/>
          </a:solidFill>
          <a:ln/>
        </p:spPr>
      </p:sp>
      <p:sp>
        <p:nvSpPr>
          <p:cNvPr id="38" name="Text 36"/>
          <p:cNvSpPr txBox="1"/>
          <p:nvPr/>
        </p:nvSpPr>
        <p:spPr>
          <a:xfrm>
            <a:off x="777240" y="6053328"/>
            <a:ext cx="10607040" cy="56692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NEVER let stale data close a sale. Fresh data can take payment; stale data can only reserve.  One rule, and it prevents the worst outcome the product can produce.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DATA</a:t>
            </a:r>
            <a:endParaRPr lang="en-US" sz="1050" dirty="0"/>
          </a:p>
        </p:txBody>
      </p:sp>
      <p:sp>
        <p:nvSpPr>
          <p:cNvPr id="3" name="Text 1"/>
          <p:cNvSpPr txBox="1"/>
          <p:nvPr/>
        </p:nvSpPr>
        <p:spPr>
          <a:xfrm>
            <a:off x="548640" y="512064"/>
            <a:ext cx="11064240" cy="566928"/>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Data model</a:t>
            </a:r>
            <a:endParaRPr lang="en-US" sz="2800" dirty="0"/>
          </a:p>
        </p:txBody>
      </p:sp>
      <p:sp>
        <p:nvSpPr>
          <p:cNvPr id="4" name="Text 2"/>
          <p:cNvSpPr txBox="1"/>
          <p:nvPr/>
        </p:nvSpPr>
        <p:spPr>
          <a:xfrm>
            <a:off x="548640" y="1115568"/>
            <a:ext cx="11064240" cy="274320"/>
          </a:xfrm>
          <a:prstGeom prst="rect">
            <a:avLst/>
          </a:prstGeom>
          <a:noFill/>
          <a:ln/>
        </p:spPr>
        <p:txBody>
          <a:bodyPr wrap="square" lIns="0" tIns="0" rIns="0" bIns="0" rtlCol="0" anchor="ctr"/>
          <a:lstStyle/>
          <a:p>
            <a:pPr indent="0" marL="0">
              <a:buNone/>
            </a:pPr>
            <a:r>
              <a:rPr lang="en-US" sz="1250" i="1" dirty="0">
                <a:solidFill>
                  <a:srgbClr val="5A6B7B"/>
                </a:solidFill>
                <a:latin typeface="Calibri" pitchFamily="34" charset="0"/>
                <a:ea typeface="Calibri" pitchFamily="34" charset="-122"/>
                <a:cs typeface="Calibri" pitchFamily="34" charset="-120"/>
              </a:rPr>
              <a:t>~25 core tables. Not 60. jsonb carries the flexible parts - extracted requirements, raw payloads, per-vertical fields.</a:t>
            </a:r>
            <a:endParaRPr lang="en-US" sz="1250" dirty="0"/>
          </a:p>
        </p:txBody>
      </p:sp>
      <p:sp>
        <p:nvSpPr>
          <p:cNvPr id="5" name="Shape 3"/>
          <p:cNvSpPr/>
          <p:nvPr/>
        </p:nvSpPr>
        <p:spPr>
          <a:xfrm>
            <a:off x="548640" y="1481328"/>
            <a:ext cx="2651760" cy="1188720"/>
          </a:xfrm>
          <a:prstGeom prst="roundRect">
            <a:avLst>
              <a:gd name="adj" fmla="val 5385"/>
            </a:avLst>
          </a:prstGeom>
          <a:solidFill>
            <a:srgbClr val="F4F7FA"/>
          </a:solidFill>
          <a:ln w="12700">
            <a:solidFill>
              <a:srgbClr val="DCE5EE"/>
            </a:solidFill>
            <a:prstDash val="solid"/>
          </a:ln>
        </p:spPr>
      </p:sp>
      <p:sp>
        <p:nvSpPr>
          <p:cNvPr id="6" name="Text 4"/>
          <p:cNvSpPr txBox="1"/>
          <p:nvPr/>
        </p:nvSpPr>
        <p:spPr>
          <a:xfrm>
            <a:off x="694944" y="1572768"/>
            <a:ext cx="2377440" cy="237744"/>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platform</a:t>
            </a:r>
            <a:endParaRPr lang="en-US" sz="1100" dirty="0"/>
          </a:p>
        </p:txBody>
      </p:sp>
      <p:sp>
        <p:nvSpPr>
          <p:cNvPr id="7" name="Text 5"/>
          <p:cNvSpPr txBox="1"/>
          <p:nvPr/>
        </p:nvSpPr>
        <p:spPr>
          <a:xfrm>
            <a:off x="694944" y="1828800"/>
            <a:ext cx="2377440" cy="777240"/>
          </a:xfrm>
          <a:prstGeom prst="rect">
            <a:avLst/>
          </a:prstGeom>
          <a:noFill/>
          <a:ln/>
        </p:spPr>
        <p:txBody>
          <a:bodyPr wrap="square" lIns="0" tIns="0" rIns="0" bIns="0" rtlCol="0" anchor="ctr"/>
          <a:lstStyle/>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tenants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users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plans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usage_events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audit_log</a:t>
            </a:r>
            <a:endParaRPr lang="en-US" sz="850" dirty="0"/>
          </a:p>
        </p:txBody>
      </p:sp>
      <p:sp>
        <p:nvSpPr>
          <p:cNvPr id="8" name="Shape 6"/>
          <p:cNvSpPr/>
          <p:nvPr/>
        </p:nvSpPr>
        <p:spPr>
          <a:xfrm>
            <a:off x="3383280" y="1481328"/>
            <a:ext cx="2651760" cy="1188720"/>
          </a:xfrm>
          <a:prstGeom prst="roundRect">
            <a:avLst>
              <a:gd name="adj" fmla="val 5385"/>
            </a:avLst>
          </a:prstGeom>
          <a:solidFill>
            <a:srgbClr val="F4F7FA"/>
          </a:solidFill>
          <a:ln w="12700">
            <a:solidFill>
              <a:srgbClr val="DCE5EE"/>
            </a:solidFill>
            <a:prstDash val="solid"/>
          </a:ln>
        </p:spPr>
      </p:sp>
      <p:sp>
        <p:nvSpPr>
          <p:cNvPr id="9" name="Text 7"/>
          <p:cNvSpPr txBox="1"/>
          <p:nvPr/>
        </p:nvSpPr>
        <p:spPr>
          <a:xfrm>
            <a:off x="3529584" y="1572768"/>
            <a:ext cx="2377440" cy="237744"/>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channels</a:t>
            </a:r>
            <a:endParaRPr lang="en-US" sz="1100" dirty="0"/>
          </a:p>
        </p:txBody>
      </p:sp>
      <p:sp>
        <p:nvSpPr>
          <p:cNvPr id="10" name="Text 8"/>
          <p:cNvSpPr txBox="1"/>
          <p:nvPr/>
        </p:nvSpPr>
        <p:spPr>
          <a:xfrm>
            <a:off x="3529584" y="1828800"/>
            <a:ext cx="2377440" cy="777240"/>
          </a:xfrm>
          <a:prstGeom prst="rect">
            <a:avLst/>
          </a:prstGeom>
          <a:noFill/>
          <a:ln/>
        </p:spPr>
        <p:txBody>
          <a:bodyPr wrap="square" lIns="0" tIns="0" rIns="0" bIns="0" rtlCol="0" anchor="ctr"/>
          <a:lstStyle/>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channels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messages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outbound_queue</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consents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templates</a:t>
            </a:r>
            <a:endParaRPr lang="en-US" sz="850" dirty="0"/>
          </a:p>
        </p:txBody>
      </p:sp>
      <p:sp>
        <p:nvSpPr>
          <p:cNvPr id="11" name="Shape 9"/>
          <p:cNvSpPr/>
          <p:nvPr/>
        </p:nvSpPr>
        <p:spPr>
          <a:xfrm>
            <a:off x="6217920" y="1481328"/>
            <a:ext cx="2651760" cy="1188720"/>
          </a:xfrm>
          <a:prstGeom prst="roundRect">
            <a:avLst>
              <a:gd name="adj" fmla="val 5385"/>
            </a:avLst>
          </a:prstGeom>
          <a:solidFill>
            <a:srgbClr val="F4F7FA"/>
          </a:solidFill>
          <a:ln w="12700">
            <a:solidFill>
              <a:srgbClr val="DCE5EE"/>
            </a:solidFill>
            <a:prstDash val="solid"/>
          </a:ln>
        </p:spPr>
      </p:sp>
      <p:sp>
        <p:nvSpPr>
          <p:cNvPr id="12" name="Text 10"/>
          <p:cNvSpPr txBox="1"/>
          <p:nvPr/>
        </p:nvSpPr>
        <p:spPr>
          <a:xfrm>
            <a:off x="6364224" y="1572768"/>
            <a:ext cx="2377440" cy="237744"/>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conversations</a:t>
            </a:r>
            <a:endParaRPr lang="en-US" sz="1100" dirty="0"/>
          </a:p>
        </p:txBody>
      </p:sp>
      <p:sp>
        <p:nvSpPr>
          <p:cNvPr id="13" name="Text 11"/>
          <p:cNvSpPr txBox="1"/>
          <p:nvPr/>
        </p:nvSpPr>
        <p:spPr>
          <a:xfrm>
            <a:off x="6364224" y="1828800"/>
            <a:ext cx="2377440" cy="777240"/>
          </a:xfrm>
          <a:prstGeom prst="rect">
            <a:avLst/>
          </a:prstGeom>
          <a:noFill/>
          <a:ln/>
        </p:spPr>
        <p:txBody>
          <a:bodyPr wrap="square" lIns="0" tIns="0" rIns="0" bIns="0" rtlCol="0" anchor="ctr"/>
          <a:lstStyle/>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conversations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conversation_state</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extracted_requirements</a:t>
            </a:r>
            <a:endParaRPr lang="en-US" sz="850" dirty="0"/>
          </a:p>
        </p:txBody>
      </p:sp>
      <p:sp>
        <p:nvSpPr>
          <p:cNvPr id="14" name="Shape 12"/>
          <p:cNvSpPr/>
          <p:nvPr/>
        </p:nvSpPr>
        <p:spPr>
          <a:xfrm>
            <a:off x="9052560" y="1481328"/>
            <a:ext cx="2651760" cy="1188720"/>
          </a:xfrm>
          <a:prstGeom prst="roundRect">
            <a:avLst>
              <a:gd name="adj" fmla="val 5385"/>
            </a:avLst>
          </a:prstGeom>
          <a:solidFill>
            <a:srgbClr val="F4F7FA"/>
          </a:solidFill>
          <a:ln w="12700">
            <a:solidFill>
              <a:srgbClr val="DCE5EE"/>
            </a:solidFill>
            <a:prstDash val="solid"/>
          </a:ln>
        </p:spPr>
      </p:sp>
      <p:sp>
        <p:nvSpPr>
          <p:cNvPr id="15" name="Text 13"/>
          <p:cNvSpPr txBox="1"/>
          <p:nvPr/>
        </p:nvSpPr>
        <p:spPr>
          <a:xfrm>
            <a:off x="9198864" y="1572768"/>
            <a:ext cx="2377440" cy="237744"/>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business</a:t>
            </a:r>
            <a:endParaRPr lang="en-US" sz="1100" dirty="0"/>
          </a:p>
        </p:txBody>
      </p:sp>
      <p:sp>
        <p:nvSpPr>
          <p:cNvPr id="16" name="Text 14"/>
          <p:cNvSpPr txBox="1"/>
          <p:nvPr/>
        </p:nvSpPr>
        <p:spPr>
          <a:xfrm>
            <a:off x="9198864" y="1828800"/>
            <a:ext cx="2377440" cy="777240"/>
          </a:xfrm>
          <a:prstGeom prst="rect">
            <a:avLst/>
          </a:prstGeom>
          <a:noFill/>
          <a:ln/>
        </p:spPr>
        <p:txBody>
          <a:bodyPr wrap="square" lIns="0" tIns="0" rIns="0" bIns="0" rtlCol="0" anchor="ctr"/>
          <a:lstStyle/>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services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pricing_rules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service_areas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inventory_items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workforce</a:t>
            </a:r>
            <a:endParaRPr lang="en-US" sz="850" dirty="0"/>
          </a:p>
        </p:txBody>
      </p:sp>
      <p:sp>
        <p:nvSpPr>
          <p:cNvPr id="17" name="Shape 15"/>
          <p:cNvSpPr/>
          <p:nvPr/>
        </p:nvSpPr>
        <p:spPr>
          <a:xfrm>
            <a:off x="548640" y="2779776"/>
            <a:ext cx="2651760" cy="1188720"/>
          </a:xfrm>
          <a:prstGeom prst="roundRect">
            <a:avLst>
              <a:gd name="adj" fmla="val 5385"/>
            </a:avLst>
          </a:prstGeom>
          <a:solidFill>
            <a:srgbClr val="F4F7FA"/>
          </a:solidFill>
          <a:ln w="12700">
            <a:solidFill>
              <a:srgbClr val="F2A104"/>
            </a:solidFill>
            <a:prstDash val="solid"/>
          </a:ln>
        </p:spPr>
      </p:sp>
      <p:sp>
        <p:nvSpPr>
          <p:cNvPr id="18" name="Text 16"/>
          <p:cNvSpPr txBox="1"/>
          <p:nvPr/>
        </p:nvSpPr>
        <p:spPr>
          <a:xfrm>
            <a:off x="694944" y="2871216"/>
            <a:ext cx="2377440" cy="237744"/>
          </a:xfrm>
          <a:prstGeom prst="rect">
            <a:avLst/>
          </a:prstGeom>
          <a:noFill/>
          <a:ln/>
        </p:spPr>
        <p:txBody>
          <a:bodyPr wrap="square" lIns="0" tIns="0" rIns="0" bIns="0" rtlCol="0" anchor="ctr"/>
          <a:lstStyle/>
          <a:p>
            <a:pPr indent="0" marL="0">
              <a:buNone/>
            </a:pPr>
            <a:r>
              <a:rPr lang="en-US" sz="1100" b="1" dirty="0">
                <a:solidFill>
                  <a:srgbClr val="1A2733"/>
                </a:solidFill>
                <a:latin typeface="Calibri" pitchFamily="34" charset="0"/>
                <a:ea typeface="Calibri" pitchFamily="34" charset="-122"/>
                <a:cs typeface="Calibri" pitchFamily="34" charset="-120"/>
              </a:rPr>
              <a:t>catalog</a:t>
            </a:r>
            <a:endParaRPr lang="en-US" sz="1100" dirty="0"/>
          </a:p>
        </p:txBody>
      </p:sp>
      <p:sp>
        <p:nvSpPr>
          <p:cNvPr id="19" name="Text 17"/>
          <p:cNvSpPr txBox="1"/>
          <p:nvPr/>
        </p:nvSpPr>
        <p:spPr>
          <a:xfrm>
            <a:off x="694944" y="3127248"/>
            <a:ext cx="2377440" cy="777240"/>
          </a:xfrm>
          <a:prstGeom prst="rect">
            <a:avLst/>
          </a:prstGeom>
          <a:noFill/>
          <a:ln/>
        </p:spPr>
        <p:txBody>
          <a:bodyPr wrap="square" lIns="0" tIns="0" rIns="0" bIns="0" rtlCol="0" anchor="ctr"/>
          <a:lstStyle/>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catalog_sources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products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product_variants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stock_levels</a:t>
            </a:r>
            <a:endParaRPr lang="en-US" sz="850" dirty="0"/>
          </a:p>
        </p:txBody>
      </p:sp>
      <p:sp>
        <p:nvSpPr>
          <p:cNvPr id="20" name="Shape 18"/>
          <p:cNvSpPr/>
          <p:nvPr/>
        </p:nvSpPr>
        <p:spPr>
          <a:xfrm>
            <a:off x="3383280" y="2779776"/>
            <a:ext cx="2651760" cy="1188720"/>
          </a:xfrm>
          <a:prstGeom prst="roundRect">
            <a:avLst>
              <a:gd name="adj" fmla="val 5385"/>
            </a:avLst>
          </a:prstGeom>
          <a:solidFill>
            <a:srgbClr val="F4F7FA"/>
          </a:solidFill>
          <a:ln w="12700">
            <a:solidFill>
              <a:srgbClr val="DCE5EE"/>
            </a:solidFill>
            <a:prstDash val="solid"/>
          </a:ln>
        </p:spPr>
      </p:sp>
      <p:sp>
        <p:nvSpPr>
          <p:cNvPr id="21" name="Text 19"/>
          <p:cNvSpPr txBox="1"/>
          <p:nvPr/>
        </p:nvSpPr>
        <p:spPr>
          <a:xfrm>
            <a:off x="3529584" y="2871216"/>
            <a:ext cx="2377440" cy="237744"/>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contacts</a:t>
            </a:r>
            <a:endParaRPr lang="en-US" sz="1100" dirty="0"/>
          </a:p>
        </p:txBody>
      </p:sp>
      <p:sp>
        <p:nvSpPr>
          <p:cNvPr id="22" name="Text 20"/>
          <p:cNvSpPr txBox="1"/>
          <p:nvPr/>
        </p:nvSpPr>
        <p:spPr>
          <a:xfrm>
            <a:off x="3529584" y="3127248"/>
            <a:ext cx="2377440" cy="777240"/>
          </a:xfrm>
          <a:prstGeom prst="rect">
            <a:avLst/>
          </a:prstGeom>
          <a:noFill/>
          <a:ln/>
        </p:spPr>
        <p:txBody>
          <a:bodyPr wrap="square" lIns="0" tIns="0" rIns="0" bIns="0" rtlCol="0" anchor="ctr"/>
          <a:lstStyle/>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contacts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lead_scores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contact_metrics</a:t>
            </a:r>
            <a:endParaRPr lang="en-US" sz="850" dirty="0"/>
          </a:p>
        </p:txBody>
      </p:sp>
      <p:sp>
        <p:nvSpPr>
          <p:cNvPr id="23" name="Shape 21"/>
          <p:cNvSpPr/>
          <p:nvPr/>
        </p:nvSpPr>
        <p:spPr>
          <a:xfrm>
            <a:off x="6217920" y="2779776"/>
            <a:ext cx="2651760" cy="1188720"/>
          </a:xfrm>
          <a:prstGeom prst="roundRect">
            <a:avLst>
              <a:gd name="adj" fmla="val 5385"/>
            </a:avLst>
          </a:prstGeom>
          <a:solidFill>
            <a:srgbClr val="F4F7FA"/>
          </a:solidFill>
          <a:ln w="12700">
            <a:solidFill>
              <a:srgbClr val="F2A104"/>
            </a:solidFill>
            <a:prstDash val="solid"/>
          </a:ln>
        </p:spPr>
      </p:sp>
      <p:sp>
        <p:nvSpPr>
          <p:cNvPr id="24" name="Text 22"/>
          <p:cNvSpPr txBox="1"/>
          <p:nvPr/>
        </p:nvSpPr>
        <p:spPr>
          <a:xfrm>
            <a:off x="6364224" y="2871216"/>
            <a:ext cx="2377440" cy="237744"/>
          </a:xfrm>
          <a:prstGeom prst="rect">
            <a:avLst/>
          </a:prstGeom>
          <a:noFill/>
          <a:ln/>
        </p:spPr>
        <p:txBody>
          <a:bodyPr wrap="square" lIns="0" tIns="0" rIns="0" bIns="0" rtlCol="0" anchor="ctr"/>
          <a:lstStyle/>
          <a:p>
            <a:pPr indent="0" marL="0">
              <a:buNone/>
            </a:pPr>
            <a:r>
              <a:rPr lang="en-US" sz="1100" b="1" dirty="0">
                <a:solidFill>
                  <a:srgbClr val="1A2733"/>
                </a:solidFill>
                <a:latin typeface="Calibri" pitchFamily="34" charset="0"/>
                <a:ea typeface="Calibri" pitchFamily="34" charset="-122"/>
                <a:cs typeface="Calibri" pitchFamily="34" charset="-120"/>
              </a:rPr>
              <a:t>feasibility</a:t>
            </a:r>
            <a:endParaRPr lang="en-US" sz="1100" dirty="0"/>
          </a:p>
        </p:txBody>
      </p:sp>
      <p:sp>
        <p:nvSpPr>
          <p:cNvPr id="25" name="Text 23"/>
          <p:cNvSpPr txBox="1"/>
          <p:nvPr/>
        </p:nvSpPr>
        <p:spPr>
          <a:xfrm>
            <a:off x="6364224" y="3127248"/>
            <a:ext cx="2377440" cy="777240"/>
          </a:xfrm>
          <a:prstGeom prst="rect">
            <a:avLst/>
          </a:prstGeom>
          <a:noFill/>
          <a:ln/>
        </p:spPr>
        <p:txBody>
          <a:bodyPr wrap="square" lIns="0" tIns="0" rIns="0" bIns="0" rtlCol="0" anchor="ctr"/>
          <a:lstStyle/>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feasibility_results</a:t>
            </a:r>
            <a:endParaRPr lang="en-US" sz="850" dirty="0"/>
          </a:p>
        </p:txBody>
      </p:sp>
      <p:sp>
        <p:nvSpPr>
          <p:cNvPr id="26" name="Shape 24"/>
          <p:cNvSpPr/>
          <p:nvPr/>
        </p:nvSpPr>
        <p:spPr>
          <a:xfrm>
            <a:off x="9052560" y="2779776"/>
            <a:ext cx="2651760" cy="1188720"/>
          </a:xfrm>
          <a:prstGeom prst="roundRect">
            <a:avLst>
              <a:gd name="adj" fmla="val 5385"/>
            </a:avLst>
          </a:prstGeom>
          <a:solidFill>
            <a:srgbClr val="F4F7FA"/>
          </a:solidFill>
          <a:ln w="12700">
            <a:solidFill>
              <a:srgbClr val="DCE5EE"/>
            </a:solidFill>
            <a:prstDash val="solid"/>
          </a:ln>
        </p:spPr>
      </p:sp>
      <p:sp>
        <p:nvSpPr>
          <p:cNvPr id="27" name="Text 25"/>
          <p:cNvSpPr txBox="1"/>
          <p:nvPr/>
        </p:nvSpPr>
        <p:spPr>
          <a:xfrm>
            <a:off x="9198864" y="2871216"/>
            <a:ext cx="2377440" cy="237744"/>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quotations</a:t>
            </a:r>
            <a:endParaRPr lang="en-US" sz="1100" dirty="0"/>
          </a:p>
        </p:txBody>
      </p:sp>
      <p:sp>
        <p:nvSpPr>
          <p:cNvPr id="28" name="Text 26"/>
          <p:cNvSpPr txBox="1"/>
          <p:nvPr/>
        </p:nvSpPr>
        <p:spPr>
          <a:xfrm>
            <a:off x="9198864" y="3127248"/>
            <a:ext cx="2377440" cy="777240"/>
          </a:xfrm>
          <a:prstGeom prst="rect">
            <a:avLst/>
          </a:prstGeom>
          <a:noFill/>
          <a:ln/>
        </p:spPr>
        <p:txBody>
          <a:bodyPr wrap="square" lIns="0" tIns="0" rIns="0" bIns="0" rtlCol="0" anchor="ctr"/>
          <a:lstStyle/>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quotations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quotation_items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approvals</a:t>
            </a:r>
            <a:endParaRPr lang="en-US" sz="850" dirty="0"/>
          </a:p>
        </p:txBody>
      </p:sp>
      <p:sp>
        <p:nvSpPr>
          <p:cNvPr id="29" name="Shape 27"/>
          <p:cNvSpPr/>
          <p:nvPr/>
        </p:nvSpPr>
        <p:spPr>
          <a:xfrm>
            <a:off x="548640" y="4078224"/>
            <a:ext cx="2651760" cy="1188720"/>
          </a:xfrm>
          <a:prstGeom prst="roundRect">
            <a:avLst>
              <a:gd name="adj" fmla="val 5385"/>
            </a:avLst>
          </a:prstGeom>
          <a:solidFill>
            <a:srgbClr val="F4F7FA"/>
          </a:solidFill>
          <a:ln w="12700">
            <a:solidFill>
              <a:srgbClr val="DCE5EE"/>
            </a:solidFill>
            <a:prstDash val="solid"/>
          </a:ln>
        </p:spPr>
      </p:sp>
      <p:sp>
        <p:nvSpPr>
          <p:cNvPr id="30" name="Text 28"/>
          <p:cNvSpPr txBox="1"/>
          <p:nvPr/>
        </p:nvSpPr>
        <p:spPr>
          <a:xfrm>
            <a:off x="694944" y="4169664"/>
            <a:ext cx="2377440" cy="237744"/>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orders</a:t>
            </a:r>
            <a:endParaRPr lang="en-US" sz="1100" dirty="0"/>
          </a:p>
        </p:txBody>
      </p:sp>
      <p:sp>
        <p:nvSpPr>
          <p:cNvPr id="31" name="Text 29"/>
          <p:cNvSpPr txBox="1"/>
          <p:nvPr/>
        </p:nvSpPr>
        <p:spPr>
          <a:xfrm>
            <a:off x="694944" y="4425696"/>
            <a:ext cx="2377440" cy="777240"/>
          </a:xfrm>
          <a:prstGeom prst="rect">
            <a:avLst/>
          </a:prstGeom>
          <a:noFill/>
          <a:ln/>
        </p:spPr>
        <p:txBody>
          <a:bodyPr wrap="square" lIns="0" tIns="0" rIns="0" bIns="0" rtlCol="0" anchor="ctr"/>
          <a:lstStyle/>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carts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orders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order_items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order_events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deliveries</a:t>
            </a:r>
            <a:endParaRPr lang="en-US" sz="850" dirty="0"/>
          </a:p>
        </p:txBody>
      </p:sp>
      <p:sp>
        <p:nvSpPr>
          <p:cNvPr id="32" name="Shape 30"/>
          <p:cNvSpPr/>
          <p:nvPr/>
        </p:nvSpPr>
        <p:spPr>
          <a:xfrm>
            <a:off x="3383280" y="4078224"/>
            <a:ext cx="2651760" cy="1188720"/>
          </a:xfrm>
          <a:prstGeom prst="roundRect">
            <a:avLst>
              <a:gd name="adj" fmla="val 5385"/>
            </a:avLst>
          </a:prstGeom>
          <a:solidFill>
            <a:srgbClr val="F4F7FA"/>
          </a:solidFill>
          <a:ln w="12700">
            <a:solidFill>
              <a:srgbClr val="DCE5EE"/>
            </a:solidFill>
            <a:prstDash val="solid"/>
          </a:ln>
        </p:spPr>
      </p:sp>
      <p:sp>
        <p:nvSpPr>
          <p:cNvPr id="33" name="Text 31"/>
          <p:cNvSpPr txBox="1"/>
          <p:nvPr/>
        </p:nvSpPr>
        <p:spPr>
          <a:xfrm>
            <a:off x="3529584" y="4169664"/>
            <a:ext cx="2377440" cy="237744"/>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jobs</a:t>
            </a:r>
            <a:endParaRPr lang="en-US" sz="1100" dirty="0"/>
          </a:p>
        </p:txBody>
      </p:sp>
      <p:sp>
        <p:nvSpPr>
          <p:cNvPr id="34" name="Text 32"/>
          <p:cNvSpPr txBox="1"/>
          <p:nvPr/>
        </p:nvSpPr>
        <p:spPr>
          <a:xfrm>
            <a:off x="3529584" y="4425696"/>
            <a:ext cx="2377440" cy="777240"/>
          </a:xfrm>
          <a:prstGeom prst="rect">
            <a:avLst/>
          </a:prstGeom>
          <a:noFill/>
          <a:ln/>
        </p:spPr>
        <p:txBody>
          <a:bodyPr wrap="square" lIns="0" tIns="0" rIns="0" bIns="0" rtlCol="0" anchor="ctr"/>
          <a:lstStyle/>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jobs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job_events</a:t>
            </a:r>
            <a:endParaRPr lang="en-US" sz="850" dirty="0"/>
          </a:p>
        </p:txBody>
      </p:sp>
      <p:sp>
        <p:nvSpPr>
          <p:cNvPr id="35" name="Shape 33"/>
          <p:cNvSpPr/>
          <p:nvPr/>
        </p:nvSpPr>
        <p:spPr>
          <a:xfrm>
            <a:off x="6217920" y="4078224"/>
            <a:ext cx="2651760" cy="1188720"/>
          </a:xfrm>
          <a:prstGeom prst="roundRect">
            <a:avLst>
              <a:gd name="adj" fmla="val 5385"/>
            </a:avLst>
          </a:prstGeom>
          <a:solidFill>
            <a:srgbClr val="F4F7FA"/>
          </a:solidFill>
          <a:ln w="12700">
            <a:solidFill>
              <a:srgbClr val="DCE5EE"/>
            </a:solidFill>
            <a:prstDash val="solid"/>
          </a:ln>
        </p:spPr>
      </p:sp>
      <p:sp>
        <p:nvSpPr>
          <p:cNvPr id="36" name="Text 34"/>
          <p:cNvSpPr txBox="1"/>
          <p:nvPr/>
        </p:nvSpPr>
        <p:spPr>
          <a:xfrm>
            <a:off x="6364224" y="4169664"/>
            <a:ext cx="2377440" cy="237744"/>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feedback</a:t>
            </a:r>
            <a:endParaRPr lang="en-US" sz="1100" dirty="0"/>
          </a:p>
        </p:txBody>
      </p:sp>
      <p:sp>
        <p:nvSpPr>
          <p:cNvPr id="37" name="Text 35"/>
          <p:cNvSpPr txBox="1"/>
          <p:nvPr/>
        </p:nvSpPr>
        <p:spPr>
          <a:xfrm>
            <a:off x="6364224" y="4425696"/>
            <a:ext cx="2377440" cy="777240"/>
          </a:xfrm>
          <a:prstGeom prst="rect">
            <a:avLst/>
          </a:prstGeom>
          <a:noFill/>
          <a:ln/>
        </p:spPr>
        <p:txBody>
          <a:bodyPr wrap="square" lIns="0" tIns="0" rIns="0" bIns="0" rtlCol="0" anchor="ctr"/>
          <a:lstStyle/>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feedback</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tickets</a:t>
            </a:r>
            <a:endParaRPr lang="en-US" sz="850" dirty="0"/>
          </a:p>
        </p:txBody>
      </p:sp>
      <p:sp>
        <p:nvSpPr>
          <p:cNvPr id="38" name="Shape 36"/>
          <p:cNvSpPr/>
          <p:nvPr/>
        </p:nvSpPr>
        <p:spPr>
          <a:xfrm>
            <a:off x="9052560" y="4078224"/>
            <a:ext cx="2651760" cy="1188720"/>
          </a:xfrm>
          <a:prstGeom prst="roundRect">
            <a:avLst>
              <a:gd name="adj" fmla="val 5385"/>
            </a:avLst>
          </a:prstGeom>
          <a:solidFill>
            <a:srgbClr val="F4F7FA"/>
          </a:solidFill>
          <a:ln w="12700">
            <a:solidFill>
              <a:srgbClr val="DCE5EE"/>
            </a:solidFill>
            <a:prstDash val="solid"/>
          </a:ln>
        </p:spPr>
      </p:sp>
      <p:sp>
        <p:nvSpPr>
          <p:cNvPr id="39" name="Text 37"/>
          <p:cNvSpPr txBox="1"/>
          <p:nvPr/>
        </p:nvSpPr>
        <p:spPr>
          <a:xfrm>
            <a:off x="9198864" y="4169664"/>
            <a:ext cx="2377440" cy="237744"/>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engagement</a:t>
            </a:r>
            <a:endParaRPr lang="en-US" sz="1100" dirty="0"/>
          </a:p>
        </p:txBody>
      </p:sp>
      <p:sp>
        <p:nvSpPr>
          <p:cNvPr id="40" name="Text 38"/>
          <p:cNvSpPr txBox="1"/>
          <p:nvPr/>
        </p:nvSpPr>
        <p:spPr>
          <a:xfrm>
            <a:off x="9198864" y="4425696"/>
            <a:ext cx="2377440" cy="777240"/>
          </a:xfrm>
          <a:prstGeom prst="rect">
            <a:avLst/>
          </a:prstGeom>
          <a:noFill/>
          <a:ln/>
        </p:spPr>
        <p:txBody>
          <a:bodyPr wrap="square" lIns="0" tIns="0" rIns="0" bIns="0" rtlCol="0" anchor="ctr"/>
          <a:lstStyle/>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campaigns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coupons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loyalty</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referrals</a:t>
            </a:r>
            <a:endParaRPr lang="en-US" sz="850" dirty="0"/>
          </a:p>
          <a:p>
            <a:pPr indent="0" marL="0">
              <a:lnSpc>
                <a:spcPts val="1100"/>
              </a:lnSpc>
              <a:buNone/>
            </a:pPr>
            <a:r>
              <a:rPr lang="en-US" sz="850" dirty="0">
                <a:solidFill>
                  <a:srgbClr val="1A2733"/>
                </a:solidFill>
                <a:latin typeface="Calibri" pitchFamily="34" charset="0"/>
                <a:ea typeface="Calibri" pitchFamily="34" charset="-122"/>
                <a:cs typeface="Calibri" pitchFamily="34" charset="-120"/>
              </a:rPr>
              <a:t>· suppression_rules</a:t>
            </a:r>
            <a:endParaRPr lang="en-US" sz="850" dirty="0"/>
          </a:p>
        </p:txBody>
      </p:sp>
      <p:sp>
        <p:nvSpPr>
          <p:cNvPr id="41" name="Shape 39"/>
          <p:cNvSpPr/>
          <p:nvPr/>
        </p:nvSpPr>
        <p:spPr>
          <a:xfrm>
            <a:off x="548640" y="5486400"/>
            <a:ext cx="11064240" cy="457200"/>
          </a:xfrm>
          <a:prstGeom prst="roundRect">
            <a:avLst>
              <a:gd name="adj" fmla="val 14000"/>
            </a:avLst>
          </a:prstGeom>
          <a:solidFill>
            <a:srgbClr val="21295C"/>
          </a:solidFill>
          <a:ln/>
        </p:spPr>
      </p:sp>
      <p:sp>
        <p:nvSpPr>
          <p:cNvPr id="42" name="Text 40"/>
          <p:cNvSpPr txBox="1"/>
          <p:nvPr/>
        </p:nvSpPr>
        <p:spPr>
          <a:xfrm>
            <a:off x="777240" y="5486400"/>
            <a:ext cx="10607040" cy="45720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Two decisions define the merge:   ONE contacts table with a lifecycle_stage  ·  an accepted quotation BECOMES a job</a:t>
            </a:r>
            <a:endParaRPr lang="en-US" sz="1150" dirty="0"/>
          </a:p>
        </p:txBody>
      </p:sp>
      <p:sp>
        <p:nvSpPr>
          <p:cNvPr id="43" name="Shape 41"/>
          <p:cNvSpPr/>
          <p:nvPr/>
        </p:nvSpPr>
        <p:spPr>
          <a:xfrm>
            <a:off x="548640" y="6053328"/>
            <a:ext cx="11064240" cy="566928"/>
          </a:xfrm>
          <a:prstGeom prst="roundRect">
            <a:avLst>
              <a:gd name="adj" fmla="val 11290"/>
            </a:avLst>
          </a:prstGeom>
          <a:solidFill>
            <a:srgbClr val="F4F7FA"/>
          </a:solidFill>
          <a:ln w="12700">
            <a:solidFill>
              <a:srgbClr val="DCE5EE"/>
            </a:solidFill>
            <a:prstDash val="solid"/>
          </a:ln>
        </p:spPr>
      </p:sp>
      <p:sp>
        <p:nvSpPr>
          <p:cNvPr id="44" name="Text 42"/>
          <p:cNvSpPr txBox="1"/>
          <p:nvPr/>
        </p:nvSpPr>
        <p:spPr>
          <a:xfrm>
            <a:off x="777240" y="6053328"/>
            <a:ext cx="10607040" cy="566928"/>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WHY ~25 AND NOT 58:  the inherited retail design had 58 tables because it was built on spreadsheets, which have no jsonb and no useful joins, so every derived metric became its own tab. Lifted literally into Postgres that is table sprawl.</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EVENTS</a:t>
            </a:r>
            <a:endParaRPr lang="en-US" sz="1050" dirty="0"/>
          </a:p>
        </p:txBody>
      </p:sp>
      <p:sp>
        <p:nvSpPr>
          <p:cNvPr id="3" name="Text 1"/>
          <p:cNvSpPr txBox="1"/>
          <p:nvPr/>
        </p:nvSpPr>
        <p:spPr>
          <a:xfrm>
            <a:off x="548640" y="512064"/>
            <a:ext cx="11064240" cy="566928"/>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How modules talk to each other</a:t>
            </a:r>
            <a:endParaRPr lang="en-US" sz="2800" dirty="0"/>
          </a:p>
        </p:txBody>
      </p:sp>
      <p:sp>
        <p:nvSpPr>
          <p:cNvPr id="4" name="Text 2"/>
          <p:cNvSpPr txBox="1"/>
          <p:nvPr/>
        </p:nvSpPr>
        <p:spPr>
          <a:xfrm>
            <a:off x="548640" y="1115568"/>
            <a:ext cx="11064240" cy="274320"/>
          </a:xfrm>
          <a:prstGeom prst="rect">
            <a:avLst/>
          </a:prstGeom>
          <a:noFill/>
          <a:ln/>
        </p:spPr>
        <p:txBody>
          <a:bodyPr wrap="square" lIns="0" tIns="0" rIns="0" bIns="0" rtlCol="0" anchor="ctr"/>
          <a:lstStyle/>
          <a:p>
            <a:pPr indent="0" marL="0">
              <a:buNone/>
            </a:pPr>
            <a:r>
              <a:rPr lang="en-US" sz="1250" i="1" dirty="0">
                <a:solidFill>
                  <a:srgbClr val="5A6B7B"/>
                </a:solidFill>
                <a:latin typeface="Calibri" pitchFamily="34" charset="0"/>
                <a:ea typeface="Calibri" pitchFamily="34" charset="-122"/>
                <a:cs typeface="Calibri" pitchFamily="34" charset="-120"/>
              </a:rPr>
              <a:t>Modules publish events to a Postgres outbox table. Celery consumers deliver them. No module reaches into another's tables.</a:t>
            </a:r>
            <a:endParaRPr lang="en-US" sz="1250" dirty="0"/>
          </a:p>
        </p:txBody>
      </p:sp>
      <p:sp>
        <p:nvSpPr>
          <p:cNvPr id="5" name="Text 3"/>
          <p:cNvSpPr txBox="1"/>
          <p:nvPr/>
        </p:nvSpPr>
        <p:spPr>
          <a:xfrm>
            <a:off x="548640" y="1554480"/>
            <a:ext cx="2743200" cy="219456"/>
          </a:xfrm>
          <a:prstGeom prst="rect">
            <a:avLst/>
          </a:prstGeom>
          <a:noFill/>
          <a:ln/>
        </p:spPr>
        <p:txBody>
          <a:bodyPr wrap="square" lIns="0" tIns="0" rIns="0" bIns="0" rtlCol="0" anchor="ctr"/>
          <a:lstStyle/>
          <a:p>
            <a:pPr indent="0" marL="0">
              <a:buNone/>
            </a:pPr>
            <a:r>
              <a:rPr lang="en-US" sz="950" b="1" spc="100" kern="0" dirty="0">
                <a:solidFill>
                  <a:srgbClr val="5A6B7B"/>
                </a:solidFill>
                <a:latin typeface="Calibri" pitchFamily="34" charset="0"/>
                <a:ea typeface="Calibri" pitchFamily="34" charset="-122"/>
                <a:cs typeface="Calibri" pitchFamily="34" charset="-120"/>
              </a:rPr>
              <a:t>PUBLISHERS</a:t>
            </a:r>
            <a:endParaRPr lang="en-US" sz="950" dirty="0"/>
          </a:p>
        </p:txBody>
      </p:sp>
      <p:sp>
        <p:nvSpPr>
          <p:cNvPr id="6" name="Shape 4"/>
          <p:cNvSpPr/>
          <p:nvPr/>
        </p:nvSpPr>
        <p:spPr>
          <a:xfrm>
            <a:off x="548640" y="1828800"/>
            <a:ext cx="2286000" cy="384048"/>
          </a:xfrm>
          <a:prstGeom prst="roundRect">
            <a:avLst>
              <a:gd name="adj" fmla="val 16667"/>
            </a:avLst>
          </a:prstGeom>
          <a:solidFill>
            <a:srgbClr val="065A82"/>
          </a:solidFill>
          <a:ln/>
        </p:spPr>
      </p:sp>
      <p:sp>
        <p:nvSpPr>
          <p:cNvPr id="7" name="Text 5"/>
          <p:cNvSpPr txBox="1"/>
          <p:nvPr/>
        </p:nvSpPr>
        <p:spPr>
          <a:xfrm>
            <a:off x="548640" y="1828800"/>
            <a:ext cx="22860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channels</a:t>
            </a:r>
            <a:endParaRPr lang="en-US" sz="1000" dirty="0"/>
          </a:p>
        </p:txBody>
      </p:sp>
      <p:sp>
        <p:nvSpPr>
          <p:cNvPr id="8" name="Shape 6"/>
          <p:cNvSpPr/>
          <p:nvPr/>
        </p:nvSpPr>
        <p:spPr>
          <a:xfrm>
            <a:off x="548640" y="2304288"/>
            <a:ext cx="2286000" cy="384048"/>
          </a:xfrm>
          <a:prstGeom prst="roundRect">
            <a:avLst>
              <a:gd name="adj" fmla="val 16667"/>
            </a:avLst>
          </a:prstGeom>
          <a:solidFill>
            <a:srgbClr val="065A82"/>
          </a:solidFill>
          <a:ln/>
        </p:spPr>
      </p:sp>
      <p:sp>
        <p:nvSpPr>
          <p:cNvPr id="9" name="Text 7"/>
          <p:cNvSpPr txBox="1"/>
          <p:nvPr/>
        </p:nvSpPr>
        <p:spPr>
          <a:xfrm>
            <a:off x="548640" y="2304288"/>
            <a:ext cx="22860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conversations</a:t>
            </a:r>
            <a:endParaRPr lang="en-US" sz="1000" dirty="0"/>
          </a:p>
        </p:txBody>
      </p:sp>
      <p:sp>
        <p:nvSpPr>
          <p:cNvPr id="10" name="Shape 8"/>
          <p:cNvSpPr/>
          <p:nvPr/>
        </p:nvSpPr>
        <p:spPr>
          <a:xfrm>
            <a:off x="548640" y="2779776"/>
            <a:ext cx="2286000" cy="384048"/>
          </a:xfrm>
          <a:prstGeom prst="roundRect">
            <a:avLst>
              <a:gd name="adj" fmla="val 16667"/>
            </a:avLst>
          </a:prstGeom>
          <a:solidFill>
            <a:srgbClr val="065A82"/>
          </a:solidFill>
          <a:ln/>
        </p:spPr>
      </p:sp>
      <p:sp>
        <p:nvSpPr>
          <p:cNvPr id="11" name="Text 9"/>
          <p:cNvSpPr txBox="1"/>
          <p:nvPr/>
        </p:nvSpPr>
        <p:spPr>
          <a:xfrm>
            <a:off x="548640" y="2779776"/>
            <a:ext cx="22860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contacts</a:t>
            </a:r>
            <a:endParaRPr lang="en-US" sz="1000" dirty="0"/>
          </a:p>
        </p:txBody>
      </p:sp>
      <p:sp>
        <p:nvSpPr>
          <p:cNvPr id="12" name="Shape 10"/>
          <p:cNvSpPr/>
          <p:nvPr/>
        </p:nvSpPr>
        <p:spPr>
          <a:xfrm>
            <a:off x="548640" y="3255264"/>
            <a:ext cx="2286000" cy="384048"/>
          </a:xfrm>
          <a:prstGeom prst="roundRect">
            <a:avLst>
              <a:gd name="adj" fmla="val 16667"/>
            </a:avLst>
          </a:prstGeom>
          <a:solidFill>
            <a:srgbClr val="065A82"/>
          </a:solidFill>
          <a:ln/>
        </p:spPr>
      </p:sp>
      <p:sp>
        <p:nvSpPr>
          <p:cNvPr id="13" name="Text 11"/>
          <p:cNvSpPr txBox="1"/>
          <p:nvPr/>
        </p:nvSpPr>
        <p:spPr>
          <a:xfrm>
            <a:off x="548640" y="3255264"/>
            <a:ext cx="22860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feasibility</a:t>
            </a:r>
            <a:endParaRPr lang="en-US" sz="1000" dirty="0"/>
          </a:p>
        </p:txBody>
      </p:sp>
      <p:sp>
        <p:nvSpPr>
          <p:cNvPr id="14" name="Shape 12"/>
          <p:cNvSpPr/>
          <p:nvPr/>
        </p:nvSpPr>
        <p:spPr>
          <a:xfrm>
            <a:off x="548640" y="3730752"/>
            <a:ext cx="2286000" cy="384048"/>
          </a:xfrm>
          <a:prstGeom prst="roundRect">
            <a:avLst>
              <a:gd name="adj" fmla="val 16667"/>
            </a:avLst>
          </a:prstGeom>
          <a:solidFill>
            <a:srgbClr val="065A82"/>
          </a:solidFill>
          <a:ln/>
        </p:spPr>
      </p:sp>
      <p:sp>
        <p:nvSpPr>
          <p:cNvPr id="15" name="Text 13"/>
          <p:cNvSpPr txBox="1"/>
          <p:nvPr/>
        </p:nvSpPr>
        <p:spPr>
          <a:xfrm>
            <a:off x="548640" y="3730752"/>
            <a:ext cx="22860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quotations</a:t>
            </a:r>
            <a:endParaRPr lang="en-US" sz="1000" dirty="0"/>
          </a:p>
        </p:txBody>
      </p:sp>
      <p:sp>
        <p:nvSpPr>
          <p:cNvPr id="16" name="Shape 14"/>
          <p:cNvSpPr/>
          <p:nvPr/>
        </p:nvSpPr>
        <p:spPr>
          <a:xfrm>
            <a:off x="548640" y="4206240"/>
            <a:ext cx="2286000" cy="384048"/>
          </a:xfrm>
          <a:prstGeom prst="roundRect">
            <a:avLst>
              <a:gd name="adj" fmla="val 16667"/>
            </a:avLst>
          </a:prstGeom>
          <a:solidFill>
            <a:srgbClr val="065A82"/>
          </a:solidFill>
          <a:ln/>
        </p:spPr>
      </p:sp>
      <p:sp>
        <p:nvSpPr>
          <p:cNvPr id="17" name="Text 15"/>
          <p:cNvSpPr txBox="1"/>
          <p:nvPr/>
        </p:nvSpPr>
        <p:spPr>
          <a:xfrm>
            <a:off x="548640" y="4206240"/>
            <a:ext cx="22860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orders</a:t>
            </a:r>
            <a:endParaRPr lang="en-US" sz="1000" dirty="0"/>
          </a:p>
        </p:txBody>
      </p:sp>
      <p:sp>
        <p:nvSpPr>
          <p:cNvPr id="18" name="Shape 16"/>
          <p:cNvSpPr/>
          <p:nvPr/>
        </p:nvSpPr>
        <p:spPr>
          <a:xfrm>
            <a:off x="548640" y="4681728"/>
            <a:ext cx="2286000" cy="384048"/>
          </a:xfrm>
          <a:prstGeom prst="roundRect">
            <a:avLst>
              <a:gd name="adj" fmla="val 16667"/>
            </a:avLst>
          </a:prstGeom>
          <a:solidFill>
            <a:srgbClr val="065A82"/>
          </a:solidFill>
          <a:ln/>
        </p:spPr>
      </p:sp>
      <p:sp>
        <p:nvSpPr>
          <p:cNvPr id="19" name="Text 17"/>
          <p:cNvSpPr txBox="1"/>
          <p:nvPr/>
        </p:nvSpPr>
        <p:spPr>
          <a:xfrm>
            <a:off x="548640" y="4681728"/>
            <a:ext cx="22860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jobs</a:t>
            </a:r>
            <a:endParaRPr lang="en-US" sz="1000" dirty="0"/>
          </a:p>
        </p:txBody>
      </p:sp>
      <p:sp>
        <p:nvSpPr>
          <p:cNvPr id="20" name="Shape 18"/>
          <p:cNvSpPr/>
          <p:nvPr/>
        </p:nvSpPr>
        <p:spPr>
          <a:xfrm>
            <a:off x="548640" y="5157216"/>
            <a:ext cx="2286000" cy="384048"/>
          </a:xfrm>
          <a:prstGeom prst="roundRect">
            <a:avLst>
              <a:gd name="adj" fmla="val 16667"/>
            </a:avLst>
          </a:prstGeom>
          <a:solidFill>
            <a:srgbClr val="065A82"/>
          </a:solidFill>
          <a:ln/>
        </p:spPr>
      </p:sp>
      <p:sp>
        <p:nvSpPr>
          <p:cNvPr id="21" name="Text 19"/>
          <p:cNvSpPr txBox="1"/>
          <p:nvPr/>
        </p:nvSpPr>
        <p:spPr>
          <a:xfrm>
            <a:off x="548640" y="5157216"/>
            <a:ext cx="22860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feedback</a:t>
            </a:r>
            <a:endParaRPr lang="en-US" sz="1000" dirty="0"/>
          </a:p>
        </p:txBody>
      </p:sp>
      <p:sp>
        <p:nvSpPr>
          <p:cNvPr id="22" name="Text 20"/>
          <p:cNvSpPr txBox="1"/>
          <p:nvPr/>
        </p:nvSpPr>
        <p:spPr>
          <a:xfrm>
            <a:off x="3657600" y="1554480"/>
            <a:ext cx="2743200" cy="219456"/>
          </a:xfrm>
          <a:prstGeom prst="rect">
            <a:avLst/>
          </a:prstGeom>
          <a:noFill/>
          <a:ln/>
        </p:spPr>
        <p:txBody>
          <a:bodyPr wrap="square" lIns="0" tIns="0" rIns="0" bIns="0" rtlCol="0" anchor="ctr"/>
          <a:lstStyle/>
          <a:p>
            <a:pPr indent="0" marL="0">
              <a:buNone/>
            </a:pPr>
            <a:r>
              <a:rPr lang="en-US" sz="950" b="1" spc="100" kern="0" dirty="0">
                <a:solidFill>
                  <a:srgbClr val="5A6B7B"/>
                </a:solidFill>
                <a:latin typeface="Calibri" pitchFamily="34" charset="0"/>
                <a:ea typeface="Calibri" pitchFamily="34" charset="-122"/>
                <a:cs typeface="Calibri" pitchFamily="34" charset="-120"/>
              </a:rPr>
              <a:t>EVENTS</a:t>
            </a:r>
            <a:endParaRPr lang="en-US" sz="950" dirty="0"/>
          </a:p>
        </p:txBody>
      </p:sp>
      <p:sp>
        <p:nvSpPr>
          <p:cNvPr id="23" name="Shape 21"/>
          <p:cNvSpPr/>
          <p:nvPr/>
        </p:nvSpPr>
        <p:spPr>
          <a:xfrm>
            <a:off x="3611880" y="1828800"/>
            <a:ext cx="3291840" cy="384048"/>
          </a:xfrm>
          <a:prstGeom prst="roundRect">
            <a:avLst>
              <a:gd name="adj" fmla="val 16667"/>
            </a:avLst>
          </a:prstGeom>
          <a:solidFill>
            <a:srgbClr val="1C7293"/>
          </a:solidFill>
          <a:ln/>
        </p:spPr>
      </p:sp>
      <p:sp>
        <p:nvSpPr>
          <p:cNvPr id="24" name="Text 22"/>
          <p:cNvSpPr txBox="1"/>
          <p:nvPr/>
        </p:nvSpPr>
        <p:spPr>
          <a:xfrm>
            <a:off x="3611880" y="1828800"/>
            <a:ext cx="329184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message.received</a:t>
            </a:r>
            <a:endParaRPr lang="en-US" sz="1000" dirty="0"/>
          </a:p>
        </p:txBody>
      </p:sp>
      <p:sp>
        <p:nvSpPr>
          <p:cNvPr id="25" name="Shape 23"/>
          <p:cNvSpPr/>
          <p:nvPr/>
        </p:nvSpPr>
        <p:spPr>
          <a:xfrm>
            <a:off x="2889504" y="1929384"/>
            <a:ext cx="640080" cy="182880"/>
          </a:xfrm>
          <a:prstGeom prst="rightArrow">
            <a:avLst/>
          </a:prstGeom>
          <a:solidFill>
            <a:srgbClr val="AAB8C4"/>
          </a:solidFill>
          <a:ln/>
        </p:spPr>
      </p:sp>
      <p:sp>
        <p:nvSpPr>
          <p:cNvPr id="26" name="Shape 24"/>
          <p:cNvSpPr/>
          <p:nvPr/>
        </p:nvSpPr>
        <p:spPr>
          <a:xfrm>
            <a:off x="3611880" y="2304288"/>
            <a:ext cx="3291840" cy="384048"/>
          </a:xfrm>
          <a:prstGeom prst="roundRect">
            <a:avLst>
              <a:gd name="adj" fmla="val 16667"/>
            </a:avLst>
          </a:prstGeom>
          <a:solidFill>
            <a:srgbClr val="1C7293"/>
          </a:solidFill>
          <a:ln/>
        </p:spPr>
      </p:sp>
      <p:sp>
        <p:nvSpPr>
          <p:cNvPr id="27" name="Text 25"/>
          <p:cNvSpPr txBox="1"/>
          <p:nvPr/>
        </p:nvSpPr>
        <p:spPr>
          <a:xfrm>
            <a:off x="3611880" y="2304288"/>
            <a:ext cx="329184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requirements.extracted</a:t>
            </a:r>
            <a:endParaRPr lang="en-US" sz="1000" dirty="0"/>
          </a:p>
        </p:txBody>
      </p:sp>
      <p:sp>
        <p:nvSpPr>
          <p:cNvPr id="28" name="Shape 26"/>
          <p:cNvSpPr/>
          <p:nvPr/>
        </p:nvSpPr>
        <p:spPr>
          <a:xfrm>
            <a:off x="2889504" y="2404872"/>
            <a:ext cx="640080" cy="182880"/>
          </a:xfrm>
          <a:prstGeom prst="rightArrow">
            <a:avLst/>
          </a:prstGeom>
          <a:solidFill>
            <a:srgbClr val="AAB8C4"/>
          </a:solidFill>
          <a:ln/>
        </p:spPr>
      </p:sp>
      <p:sp>
        <p:nvSpPr>
          <p:cNvPr id="29" name="Shape 27"/>
          <p:cNvSpPr/>
          <p:nvPr/>
        </p:nvSpPr>
        <p:spPr>
          <a:xfrm>
            <a:off x="3611880" y="2779776"/>
            <a:ext cx="3291840" cy="384048"/>
          </a:xfrm>
          <a:prstGeom prst="roundRect">
            <a:avLst>
              <a:gd name="adj" fmla="val 16667"/>
            </a:avLst>
          </a:prstGeom>
          <a:solidFill>
            <a:srgbClr val="1C7293"/>
          </a:solidFill>
          <a:ln/>
        </p:spPr>
      </p:sp>
      <p:sp>
        <p:nvSpPr>
          <p:cNvPr id="30" name="Text 28"/>
          <p:cNvSpPr txBox="1"/>
          <p:nvPr/>
        </p:nvSpPr>
        <p:spPr>
          <a:xfrm>
            <a:off x="3611880" y="2779776"/>
            <a:ext cx="329184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lead.scored</a:t>
            </a:r>
            <a:endParaRPr lang="en-US" sz="1000" dirty="0"/>
          </a:p>
        </p:txBody>
      </p:sp>
      <p:sp>
        <p:nvSpPr>
          <p:cNvPr id="31" name="Shape 29"/>
          <p:cNvSpPr/>
          <p:nvPr/>
        </p:nvSpPr>
        <p:spPr>
          <a:xfrm>
            <a:off x="2889504" y="2880360"/>
            <a:ext cx="640080" cy="182880"/>
          </a:xfrm>
          <a:prstGeom prst="rightArrow">
            <a:avLst/>
          </a:prstGeom>
          <a:solidFill>
            <a:srgbClr val="AAB8C4"/>
          </a:solidFill>
          <a:ln/>
        </p:spPr>
      </p:sp>
      <p:sp>
        <p:nvSpPr>
          <p:cNvPr id="32" name="Shape 30"/>
          <p:cNvSpPr/>
          <p:nvPr/>
        </p:nvSpPr>
        <p:spPr>
          <a:xfrm>
            <a:off x="3611880" y="3255264"/>
            <a:ext cx="3291840" cy="384048"/>
          </a:xfrm>
          <a:prstGeom prst="roundRect">
            <a:avLst>
              <a:gd name="adj" fmla="val 16667"/>
            </a:avLst>
          </a:prstGeom>
          <a:solidFill>
            <a:srgbClr val="1C7293"/>
          </a:solidFill>
          <a:ln/>
        </p:spPr>
      </p:sp>
      <p:sp>
        <p:nvSpPr>
          <p:cNvPr id="33" name="Text 31"/>
          <p:cNvSpPr txBox="1"/>
          <p:nvPr/>
        </p:nvSpPr>
        <p:spPr>
          <a:xfrm>
            <a:off x="3611880" y="3255264"/>
            <a:ext cx="329184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feasibility.checked</a:t>
            </a:r>
            <a:endParaRPr lang="en-US" sz="1000" dirty="0"/>
          </a:p>
        </p:txBody>
      </p:sp>
      <p:sp>
        <p:nvSpPr>
          <p:cNvPr id="34" name="Shape 32"/>
          <p:cNvSpPr/>
          <p:nvPr/>
        </p:nvSpPr>
        <p:spPr>
          <a:xfrm>
            <a:off x="2889504" y="3355848"/>
            <a:ext cx="640080" cy="182880"/>
          </a:xfrm>
          <a:prstGeom prst="rightArrow">
            <a:avLst/>
          </a:prstGeom>
          <a:solidFill>
            <a:srgbClr val="AAB8C4"/>
          </a:solidFill>
          <a:ln/>
        </p:spPr>
      </p:sp>
      <p:sp>
        <p:nvSpPr>
          <p:cNvPr id="35" name="Shape 33"/>
          <p:cNvSpPr/>
          <p:nvPr/>
        </p:nvSpPr>
        <p:spPr>
          <a:xfrm>
            <a:off x="3611880" y="3730752"/>
            <a:ext cx="3291840" cy="384048"/>
          </a:xfrm>
          <a:prstGeom prst="roundRect">
            <a:avLst>
              <a:gd name="adj" fmla="val 16667"/>
            </a:avLst>
          </a:prstGeom>
          <a:solidFill>
            <a:srgbClr val="1C7293"/>
          </a:solidFill>
          <a:ln/>
        </p:spPr>
      </p:sp>
      <p:sp>
        <p:nvSpPr>
          <p:cNvPr id="36" name="Text 34"/>
          <p:cNvSpPr txBox="1"/>
          <p:nvPr/>
        </p:nvSpPr>
        <p:spPr>
          <a:xfrm>
            <a:off x="3611880" y="3730752"/>
            <a:ext cx="329184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quotation.approved</a:t>
            </a:r>
            <a:endParaRPr lang="en-US" sz="1000" dirty="0"/>
          </a:p>
        </p:txBody>
      </p:sp>
      <p:sp>
        <p:nvSpPr>
          <p:cNvPr id="37" name="Shape 35"/>
          <p:cNvSpPr/>
          <p:nvPr/>
        </p:nvSpPr>
        <p:spPr>
          <a:xfrm>
            <a:off x="2889504" y="3831336"/>
            <a:ext cx="640080" cy="182880"/>
          </a:xfrm>
          <a:prstGeom prst="rightArrow">
            <a:avLst/>
          </a:prstGeom>
          <a:solidFill>
            <a:srgbClr val="AAB8C4"/>
          </a:solidFill>
          <a:ln/>
        </p:spPr>
      </p:sp>
      <p:sp>
        <p:nvSpPr>
          <p:cNvPr id="38" name="Shape 36"/>
          <p:cNvSpPr/>
          <p:nvPr/>
        </p:nvSpPr>
        <p:spPr>
          <a:xfrm>
            <a:off x="3611880" y="4206240"/>
            <a:ext cx="3291840" cy="384048"/>
          </a:xfrm>
          <a:prstGeom prst="roundRect">
            <a:avLst>
              <a:gd name="adj" fmla="val 16667"/>
            </a:avLst>
          </a:prstGeom>
          <a:solidFill>
            <a:srgbClr val="F2A104"/>
          </a:solidFill>
          <a:ln/>
        </p:spPr>
      </p:sp>
      <p:sp>
        <p:nvSpPr>
          <p:cNvPr id="39" name="Text 37"/>
          <p:cNvSpPr txBox="1"/>
          <p:nvPr/>
        </p:nvSpPr>
        <p:spPr>
          <a:xfrm>
            <a:off x="3611880" y="4206240"/>
            <a:ext cx="3291840" cy="384048"/>
          </a:xfrm>
          <a:prstGeom prst="rect">
            <a:avLst/>
          </a:prstGeom>
          <a:noFill/>
          <a:ln/>
        </p:spPr>
        <p:txBody>
          <a:bodyPr wrap="square" lIns="0" tIns="0" rIns="0" bIns="0" rtlCol="0" anchor="ctr"/>
          <a:lstStyle/>
          <a:p>
            <a:pPr algn="ctr" indent="0" marL="0">
              <a:buNone/>
            </a:pPr>
            <a:r>
              <a:rPr lang="en-US" sz="1000" b="1" dirty="0">
                <a:solidFill>
                  <a:srgbClr val="1A2733"/>
                </a:solidFill>
                <a:latin typeface="Calibri" pitchFamily="34" charset="0"/>
                <a:ea typeface="Calibri" pitchFamily="34" charset="-122"/>
                <a:cs typeface="Calibri" pitchFamily="34" charset="-120"/>
              </a:rPr>
              <a:t>order.delivered</a:t>
            </a:r>
            <a:endParaRPr lang="en-US" sz="1000" dirty="0"/>
          </a:p>
        </p:txBody>
      </p:sp>
      <p:sp>
        <p:nvSpPr>
          <p:cNvPr id="40" name="Shape 38"/>
          <p:cNvSpPr/>
          <p:nvPr/>
        </p:nvSpPr>
        <p:spPr>
          <a:xfrm>
            <a:off x="2889504" y="4306824"/>
            <a:ext cx="640080" cy="182880"/>
          </a:xfrm>
          <a:prstGeom prst="rightArrow">
            <a:avLst/>
          </a:prstGeom>
          <a:solidFill>
            <a:srgbClr val="AAB8C4"/>
          </a:solidFill>
          <a:ln/>
        </p:spPr>
      </p:sp>
      <p:sp>
        <p:nvSpPr>
          <p:cNvPr id="41" name="Shape 39"/>
          <p:cNvSpPr/>
          <p:nvPr/>
        </p:nvSpPr>
        <p:spPr>
          <a:xfrm>
            <a:off x="3611880" y="4681728"/>
            <a:ext cx="3291840" cy="384048"/>
          </a:xfrm>
          <a:prstGeom prst="roundRect">
            <a:avLst>
              <a:gd name="adj" fmla="val 16667"/>
            </a:avLst>
          </a:prstGeom>
          <a:solidFill>
            <a:srgbClr val="F2A104"/>
          </a:solidFill>
          <a:ln/>
        </p:spPr>
      </p:sp>
      <p:sp>
        <p:nvSpPr>
          <p:cNvPr id="42" name="Text 40"/>
          <p:cNvSpPr txBox="1"/>
          <p:nvPr/>
        </p:nvSpPr>
        <p:spPr>
          <a:xfrm>
            <a:off x="3611880" y="4681728"/>
            <a:ext cx="3291840" cy="384048"/>
          </a:xfrm>
          <a:prstGeom prst="rect">
            <a:avLst/>
          </a:prstGeom>
          <a:noFill/>
          <a:ln/>
        </p:spPr>
        <p:txBody>
          <a:bodyPr wrap="square" lIns="0" tIns="0" rIns="0" bIns="0" rtlCol="0" anchor="ctr"/>
          <a:lstStyle/>
          <a:p>
            <a:pPr algn="ctr" indent="0" marL="0">
              <a:buNone/>
            </a:pPr>
            <a:r>
              <a:rPr lang="en-US" sz="1000" b="1" dirty="0">
                <a:solidFill>
                  <a:srgbClr val="1A2733"/>
                </a:solidFill>
                <a:latin typeface="Calibri" pitchFamily="34" charset="0"/>
                <a:ea typeface="Calibri" pitchFamily="34" charset="-122"/>
                <a:cs typeface="Calibri" pitchFamily="34" charset="-120"/>
              </a:rPr>
              <a:t>job.completed</a:t>
            </a:r>
            <a:endParaRPr lang="en-US" sz="1000" dirty="0"/>
          </a:p>
        </p:txBody>
      </p:sp>
      <p:sp>
        <p:nvSpPr>
          <p:cNvPr id="43" name="Shape 41"/>
          <p:cNvSpPr/>
          <p:nvPr/>
        </p:nvSpPr>
        <p:spPr>
          <a:xfrm>
            <a:off x="2889504" y="4782312"/>
            <a:ext cx="640080" cy="182880"/>
          </a:xfrm>
          <a:prstGeom prst="rightArrow">
            <a:avLst/>
          </a:prstGeom>
          <a:solidFill>
            <a:srgbClr val="AAB8C4"/>
          </a:solidFill>
          <a:ln/>
        </p:spPr>
      </p:sp>
      <p:sp>
        <p:nvSpPr>
          <p:cNvPr id="44" name="Shape 42"/>
          <p:cNvSpPr/>
          <p:nvPr/>
        </p:nvSpPr>
        <p:spPr>
          <a:xfrm>
            <a:off x="3611880" y="5157216"/>
            <a:ext cx="3291840" cy="384048"/>
          </a:xfrm>
          <a:prstGeom prst="roundRect">
            <a:avLst>
              <a:gd name="adj" fmla="val 16667"/>
            </a:avLst>
          </a:prstGeom>
          <a:solidFill>
            <a:srgbClr val="1C7293"/>
          </a:solidFill>
          <a:ln/>
        </p:spPr>
      </p:sp>
      <p:sp>
        <p:nvSpPr>
          <p:cNvPr id="45" name="Text 43"/>
          <p:cNvSpPr txBox="1"/>
          <p:nvPr/>
        </p:nvSpPr>
        <p:spPr>
          <a:xfrm>
            <a:off x="3611880" y="5157216"/>
            <a:ext cx="329184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feedback.received</a:t>
            </a:r>
            <a:endParaRPr lang="en-US" sz="1000" dirty="0"/>
          </a:p>
        </p:txBody>
      </p:sp>
      <p:sp>
        <p:nvSpPr>
          <p:cNvPr id="46" name="Shape 44"/>
          <p:cNvSpPr/>
          <p:nvPr/>
        </p:nvSpPr>
        <p:spPr>
          <a:xfrm>
            <a:off x="2889504" y="5257800"/>
            <a:ext cx="640080" cy="182880"/>
          </a:xfrm>
          <a:prstGeom prst="rightArrow">
            <a:avLst/>
          </a:prstGeom>
          <a:solidFill>
            <a:srgbClr val="AAB8C4"/>
          </a:solidFill>
          <a:ln/>
        </p:spPr>
      </p:sp>
      <p:sp>
        <p:nvSpPr>
          <p:cNvPr id="47" name="Text 45"/>
          <p:cNvSpPr txBox="1"/>
          <p:nvPr/>
        </p:nvSpPr>
        <p:spPr>
          <a:xfrm>
            <a:off x="7772400" y="1554480"/>
            <a:ext cx="2743200" cy="219456"/>
          </a:xfrm>
          <a:prstGeom prst="rect">
            <a:avLst/>
          </a:prstGeom>
          <a:noFill/>
          <a:ln/>
        </p:spPr>
        <p:txBody>
          <a:bodyPr wrap="square" lIns="0" tIns="0" rIns="0" bIns="0" rtlCol="0" anchor="ctr"/>
          <a:lstStyle/>
          <a:p>
            <a:pPr indent="0" marL="0">
              <a:buNone/>
            </a:pPr>
            <a:r>
              <a:rPr lang="en-US" sz="950" b="1" spc="100" kern="0" dirty="0">
                <a:solidFill>
                  <a:srgbClr val="5A6B7B"/>
                </a:solidFill>
                <a:latin typeface="Calibri" pitchFamily="34" charset="0"/>
                <a:ea typeface="Calibri" pitchFamily="34" charset="-122"/>
                <a:cs typeface="Calibri" pitchFamily="34" charset="-120"/>
              </a:rPr>
              <a:t>SUBSCRIBERS</a:t>
            </a:r>
            <a:endParaRPr lang="en-US" sz="950" dirty="0"/>
          </a:p>
        </p:txBody>
      </p:sp>
      <p:sp>
        <p:nvSpPr>
          <p:cNvPr id="48" name="Shape 46"/>
          <p:cNvSpPr/>
          <p:nvPr/>
        </p:nvSpPr>
        <p:spPr>
          <a:xfrm>
            <a:off x="7726680" y="1828800"/>
            <a:ext cx="3886200" cy="841248"/>
          </a:xfrm>
          <a:prstGeom prst="roundRect">
            <a:avLst>
              <a:gd name="adj" fmla="val 7609"/>
            </a:avLst>
          </a:prstGeom>
          <a:solidFill>
            <a:srgbClr val="FDF3E3"/>
          </a:solidFill>
          <a:ln w="12700">
            <a:solidFill>
              <a:srgbClr val="F2A104"/>
            </a:solidFill>
            <a:prstDash val="solid"/>
          </a:ln>
        </p:spPr>
      </p:sp>
      <p:sp>
        <p:nvSpPr>
          <p:cNvPr id="49" name="Text 47"/>
          <p:cNvSpPr txBox="1"/>
          <p:nvPr/>
        </p:nvSpPr>
        <p:spPr>
          <a:xfrm>
            <a:off x="7909560" y="1901952"/>
            <a:ext cx="356616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feedback</a:t>
            </a:r>
            <a:endParaRPr lang="en-US" sz="1150" dirty="0"/>
          </a:p>
        </p:txBody>
      </p:sp>
      <p:sp>
        <p:nvSpPr>
          <p:cNvPr id="50" name="Text 48"/>
          <p:cNvSpPr txBox="1"/>
          <p:nvPr/>
        </p:nvSpPr>
        <p:spPr>
          <a:xfrm>
            <a:off x="7909560" y="2139696"/>
            <a:ext cx="3566160" cy="475488"/>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job.completed + order.delivered</a:t>
            </a:r>
            <a:endParaRPr lang="en-US" sz="900" dirty="0"/>
          </a:p>
          <a:p>
            <a:pPr indent="0" marL="0">
              <a:buNone/>
            </a:pPr>
            <a:r>
              <a:rPr lang="en-US" sz="900" dirty="0">
                <a:solidFill>
                  <a:srgbClr val="1A2733"/>
                </a:solidFill>
                <a:latin typeface="Calibri" pitchFamily="34" charset="0"/>
                <a:ea typeface="Calibri" pitchFamily="34" charset="-122"/>
                <a:cs typeface="Calibri" pitchFamily="34" charset="-120"/>
              </a:rPr>
              <a:t>— the shared seam</a:t>
            </a:r>
            <a:endParaRPr lang="en-US" sz="900" dirty="0"/>
          </a:p>
        </p:txBody>
      </p:sp>
      <p:sp>
        <p:nvSpPr>
          <p:cNvPr id="51" name="Shape 49"/>
          <p:cNvSpPr/>
          <p:nvPr/>
        </p:nvSpPr>
        <p:spPr>
          <a:xfrm>
            <a:off x="6967728" y="2157984"/>
            <a:ext cx="658368" cy="182880"/>
          </a:xfrm>
          <a:prstGeom prst="rightArrow">
            <a:avLst/>
          </a:prstGeom>
          <a:solidFill>
            <a:srgbClr val="F2A104"/>
          </a:solidFill>
          <a:ln/>
        </p:spPr>
      </p:sp>
      <p:sp>
        <p:nvSpPr>
          <p:cNvPr id="52" name="Shape 50"/>
          <p:cNvSpPr/>
          <p:nvPr/>
        </p:nvSpPr>
        <p:spPr>
          <a:xfrm>
            <a:off x="7726680" y="2788920"/>
            <a:ext cx="3886200" cy="841248"/>
          </a:xfrm>
          <a:prstGeom prst="roundRect">
            <a:avLst>
              <a:gd name="adj" fmla="val 7609"/>
            </a:avLst>
          </a:prstGeom>
          <a:solidFill>
            <a:srgbClr val="F4F7FA"/>
          </a:solidFill>
          <a:ln w="12700">
            <a:solidFill>
              <a:srgbClr val="DCE5EE"/>
            </a:solidFill>
            <a:prstDash val="solid"/>
          </a:ln>
        </p:spPr>
      </p:sp>
      <p:sp>
        <p:nvSpPr>
          <p:cNvPr id="53" name="Text 51"/>
          <p:cNvSpPr txBox="1"/>
          <p:nvPr/>
        </p:nvSpPr>
        <p:spPr>
          <a:xfrm>
            <a:off x="7909560" y="2862072"/>
            <a:ext cx="356616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engagement</a:t>
            </a:r>
            <a:endParaRPr lang="en-US" sz="1150" dirty="0"/>
          </a:p>
        </p:txBody>
      </p:sp>
      <p:sp>
        <p:nvSpPr>
          <p:cNvPr id="54" name="Text 52"/>
          <p:cNvSpPr txBox="1"/>
          <p:nvPr/>
        </p:nvSpPr>
        <p:spPr>
          <a:xfrm>
            <a:off x="7909560" y="3099816"/>
            <a:ext cx="3566160" cy="475488"/>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feedback.received → suppress</a:t>
            </a:r>
            <a:endParaRPr lang="en-US" sz="900" dirty="0"/>
          </a:p>
          <a:p>
            <a:pPr indent="0" marL="0">
              <a:buNone/>
            </a:pPr>
            <a:r>
              <a:rPr lang="en-US" sz="900" dirty="0">
                <a:solidFill>
                  <a:srgbClr val="1A2733"/>
                </a:solidFill>
                <a:latin typeface="Calibri" pitchFamily="34" charset="0"/>
                <a:ea typeface="Calibri" pitchFamily="34" charset="-122"/>
                <a:cs typeface="Calibri" pitchFamily="34" charset="-120"/>
              </a:rPr>
              <a:t>promos after a complaint</a:t>
            </a:r>
            <a:endParaRPr lang="en-US" sz="900" dirty="0"/>
          </a:p>
        </p:txBody>
      </p:sp>
      <p:sp>
        <p:nvSpPr>
          <p:cNvPr id="55" name="Shape 53"/>
          <p:cNvSpPr/>
          <p:nvPr/>
        </p:nvSpPr>
        <p:spPr>
          <a:xfrm>
            <a:off x="6967728" y="3118104"/>
            <a:ext cx="658368" cy="182880"/>
          </a:xfrm>
          <a:prstGeom prst="rightArrow">
            <a:avLst/>
          </a:prstGeom>
          <a:solidFill>
            <a:srgbClr val="AAB8C4"/>
          </a:solidFill>
          <a:ln/>
        </p:spPr>
      </p:sp>
      <p:sp>
        <p:nvSpPr>
          <p:cNvPr id="56" name="Shape 54"/>
          <p:cNvSpPr/>
          <p:nvPr/>
        </p:nvSpPr>
        <p:spPr>
          <a:xfrm>
            <a:off x="7726680" y="3749040"/>
            <a:ext cx="3886200" cy="841248"/>
          </a:xfrm>
          <a:prstGeom prst="roundRect">
            <a:avLst>
              <a:gd name="adj" fmla="val 7609"/>
            </a:avLst>
          </a:prstGeom>
          <a:solidFill>
            <a:srgbClr val="F4F7FA"/>
          </a:solidFill>
          <a:ln w="12700">
            <a:solidFill>
              <a:srgbClr val="DCE5EE"/>
            </a:solidFill>
            <a:prstDash val="solid"/>
          </a:ln>
        </p:spPr>
      </p:sp>
      <p:sp>
        <p:nvSpPr>
          <p:cNvPr id="57" name="Text 55"/>
          <p:cNvSpPr txBox="1"/>
          <p:nvPr/>
        </p:nvSpPr>
        <p:spPr>
          <a:xfrm>
            <a:off x="7909560" y="3822192"/>
            <a:ext cx="356616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jobs</a:t>
            </a:r>
            <a:endParaRPr lang="en-US" sz="1150" dirty="0"/>
          </a:p>
        </p:txBody>
      </p:sp>
      <p:sp>
        <p:nvSpPr>
          <p:cNvPr id="58" name="Text 56"/>
          <p:cNvSpPr txBox="1"/>
          <p:nvPr/>
        </p:nvSpPr>
        <p:spPr>
          <a:xfrm>
            <a:off x="7909560" y="4059936"/>
            <a:ext cx="3566160" cy="475488"/>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quotation.approved</a:t>
            </a:r>
            <a:endParaRPr lang="en-US" sz="900" dirty="0"/>
          </a:p>
          <a:p>
            <a:pPr indent="0" marL="0">
              <a:buNone/>
            </a:pPr>
            <a:r>
              <a:rPr lang="en-US" sz="900" dirty="0">
                <a:solidFill>
                  <a:srgbClr val="1A2733"/>
                </a:solidFill>
                <a:latin typeface="Calibri" pitchFamily="34" charset="0"/>
                <a:ea typeface="Calibri" pitchFamily="34" charset="-122"/>
                <a:cs typeface="Calibri" pitchFamily="34" charset="-120"/>
              </a:rPr>
              <a:t>+ customer acceptance</a:t>
            </a:r>
            <a:endParaRPr lang="en-US" sz="900" dirty="0"/>
          </a:p>
        </p:txBody>
      </p:sp>
      <p:sp>
        <p:nvSpPr>
          <p:cNvPr id="59" name="Shape 57"/>
          <p:cNvSpPr/>
          <p:nvPr/>
        </p:nvSpPr>
        <p:spPr>
          <a:xfrm>
            <a:off x="6967728" y="4078224"/>
            <a:ext cx="658368" cy="182880"/>
          </a:xfrm>
          <a:prstGeom prst="rightArrow">
            <a:avLst/>
          </a:prstGeom>
          <a:solidFill>
            <a:srgbClr val="AAB8C4"/>
          </a:solidFill>
          <a:ln/>
        </p:spPr>
      </p:sp>
      <p:sp>
        <p:nvSpPr>
          <p:cNvPr id="60" name="Shape 58"/>
          <p:cNvSpPr/>
          <p:nvPr/>
        </p:nvSpPr>
        <p:spPr>
          <a:xfrm>
            <a:off x="7726680" y="4709160"/>
            <a:ext cx="3886200" cy="841248"/>
          </a:xfrm>
          <a:prstGeom prst="roundRect">
            <a:avLst>
              <a:gd name="adj" fmla="val 7609"/>
            </a:avLst>
          </a:prstGeom>
          <a:solidFill>
            <a:srgbClr val="F4F7FA"/>
          </a:solidFill>
          <a:ln w="12700">
            <a:solidFill>
              <a:srgbClr val="DCE5EE"/>
            </a:solidFill>
            <a:prstDash val="solid"/>
          </a:ln>
        </p:spPr>
      </p:sp>
      <p:sp>
        <p:nvSpPr>
          <p:cNvPr id="61" name="Text 59"/>
          <p:cNvSpPr txBox="1"/>
          <p:nvPr/>
        </p:nvSpPr>
        <p:spPr>
          <a:xfrm>
            <a:off x="7909560" y="4782312"/>
            <a:ext cx="356616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analytics</a:t>
            </a:r>
            <a:endParaRPr lang="en-US" sz="1150" dirty="0"/>
          </a:p>
        </p:txBody>
      </p:sp>
      <p:sp>
        <p:nvSpPr>
          <p:cNvPr id="62" name="Text 60"/>
          <p:cNvSpPr txBox="1"/>
          <p:nvPr/>
        </p:nvSpPr>
        <p:spPr>
          <a:xfrm>
            <a:off x="7909560" y="5020056"/>
            <a:ext cx="3566160" cy="475488"/>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all events →</a:t>
            </a:r>
            <a:endParaRPr lang="en-US" sz="900" dirty="0"/>
          </a:p>
          <a:p>
            <a:pPr indent="0" marL="0">
              <a:buNone/>
            </a:pPr>
            <a:r>
              <a:rPr lang="en-US" sz="900" dirty="0">
                <a:solidFill>
                  <a:srgbClr val="1A2733"/>
                </a:solidFill>
                <a:latin typeface="Calibri" pitchFamily="34" charset="0"/>
                <a:ea typeface="Calibri" pitchFamily="34" charset="-122"/>
                <a:cs typeface="Calibri" pitchFamily="34" charset="-120"/>
              </a:rPr>
              <a:t>nightly rollups</a:t>
            </a:r>
            <a:endParaRPr lang="en-US" sz="900" dirty="0"/>
          </a:p>
        </p:txBody>
      </p:sp>
      <p:sp>
        <p:nvSpPr>
          <p:cNvPr id="63" name="Shape 61"/>
          <p:cNvSpPr/>
          <p:nvPr/>
        </p:nvSpPr>
        <p:spPr>
          <a:xfrm>
            <a:off x="6967728" y="5038344"/>
            <a:ext cx="658368" cy="182880"/>
          </a:xfrm>
          <a:prstGeom prst="rightArrow">
            <a:avLst/>
          </a:prstGeom>
          <a:solidFill>
            <a:srgbClr val="AAB8C4"/>
          </a:solidFill>
          <a:ln/>
        </p:spPr>
      </p:sp>
      <p:sp>
        <p:nvSpPr>
          <p:cNvPr id="64" name="Shape 62"/>
          <p:cNvSpPr/>
          <p:nvPr/>
        </p:nvSpPr>
        <p:spPr>
          <a:xfrm>
            <a:off x="548640" y="6053328"/>
            <a:ext cx="11064240" cy="566928"/>
          </a:xfrm>
          <a:prstGeom prst="roundRect">
            <a:avLst>
              <a:gd name="adj" fmla="val 11290"/>
            </a:avLst>
          </a:prstGeom>
          <a:solidFill>
            <a:srgbClr val="F4F7FA"/>
          </a:solidFill>
          <a:ln w="12700">
            <a:solidFill>
              <a:srgbClr val="DCE5EE"/>
            </a:solidFill>
            <a:prstDash val="solid"/>
          </a:ln>
        </p:spPr>
      </p:sp>
      <p:sp>
        <p:nvSpPr>
          <p:cNvPr id="65" name="Text 63"/>
          <p:cNvSpPr txBox="1"/>
          <p:nvPr/>
        </p:nvSpPr>
        <p:spPr>
          <a:xfrm>
            <a:off x="777240" y="6053328"/>
            <a:ext cx="10607040" cy="566928"/>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THE SHARED SEAM:  feedback listens for BOTH job.completed and order.delivered. One rating mechanism, two entry points. That convergence is the merge of the two halves working correctly.</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CHANNELS</a:t>
            </a:r>
            <a:endParaRPr lang="en-US" sz="1050" dirty="0"/>
          </a:p>
        </p:txBody>
      </p:sp>
      <p:sp>
        <p:nvSpPr>
          <p:cNvPr id="3" name="Text 1"/>
          <p:cNvSpPr txBox="1"/>
          <p:nvPr/>
        </p:nvSpPr>
        <p:spPr>
          <a:xfrm>
            <a:off x="548640" y="512064"/>
            <a:ext cx="11064240" cy="566928"/>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Channels and the outbound dispatcher</a:t>
            </a:r>
            <a:endParaRPr lang="en-US" sz="2800" dirty="0"/>
          </a:p>
        </p:txBody>
      </p:sp>
      <p:sp>
        <p:nvSpPr>
          <p:cNvPr id="4" name="Shape 2"/>
          <p:cNvSpPr/>
          <p:nvPr/>
        </p:nvSpPr>
        <p:spPr>
          <a:xfrm>
            <a:off x="548640" y="1143000"/>
            <a:ext cx="5394960" cy="2377440"/>
          </a:xfrm>
          <a:prstGeom prst="roundRect">
            <a:avLst>
              <a:gd name="adj" fmla="val 2692"/>
            </a:avLst>
          </a:prstGeom>
          <a:solidFill>
            <a:srgbClr val="F4F7FA"/>
          </a:solidFill>
          <a:ln w="12700">
            <a:solidFill>
              <a:srgbClr val="C9D6E2"/>
            </a:solidFill>
            <a:prstDash val="solid"/>
          </a:ln>
        </p:spPr>
      </p:sp>
      <p:sp>
        <p:nvSpPr>
          <p:cNvPr id="5" name="Text 3"/>
          <p:cNvSpPr txBox="1"/>
          <p:nvPr/>
        </p:nvSpPr>
        <p:spPr>
          <a:xfrm>
            <a:off x="777240" y="1234440"/>
            <a:ext cx="4572000" cy="237744"/>
          </a:xfrm>
          <a:prstGeom prst="rect">
            <a:avLst/>
          </a:prstGeom>
          <a:noFill/>
          <a:ln/>
        </p:spPr>
        <p:txBody>
          <a:bodyPr wrap="square" lIns="0" tIns="0" rIns="0" bIns="0"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INBOUND — the critical path</a:t>
            </a:r>
            <a:endParaRPr lang="en-US" sz="1000" dirty="0"/>
          </a:p>
        </p:txBody>
      </p:sp>
      <p:sp>
        <p:nvSpPr>
          <p:cNvPr id="6" name="Shape 4"/>
          <p:cNvSpPr/>
          <p:nvPr/>
        </p:nvSpPr>
        <p:spPr>
          <a:xfrm>
            <a:off x="822960" y="1572768"/>
            <a:ext cx="256032" cy="256032"/>
          </a:xfrm>
          <a:prstGeom prst="ellipse">
            <a:avLst/>
          </a:prstGeom>
          <a:solidFill>
            <a:srgbClr val="065A82"/>
          </a:solidFill>
          <a:ln/>
        </p:spPr>
      </p:sp>
      <p:sp>
        <p:nvSpPr>
          <p:cNvPr id="7" name="Text 5"/>
          <p:cNvSpPr txBox="1"/>
          <p:nvPr/>
        </p:nvSpPr>
        <p:spPr>
          <a:xfrm>
            <a:off x="822960" y="157276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6"/>
          <p:cNvSpPr txBox="1"/>
          <p:nvPr/>
        </p:nvSpPr>
        <p:spPr>
          <a:xfrm>
            <a:off x="1188720" y="1554480"/>
            <a:ext cx="4572000" cy="274320"/>
          </a:xfrm>
          <a:prstGeom prst="rect">
            <a:avLst/>
          </a:prstGeom>
          <a:noFill/>
          <a:ln/>
        </p:spPr>
        <p:txBody>
          <a:bodyPr wrap="square" lIns="0" tIns="0" rIns="0" bIns="0" rtlCol="0" anchor="ctr"/>
          <a:lstStyle/>
          <a:p>
            <a:pPr indent="0" marL="0">
              <a:buNone/>
            </a:pPr>
            <a:r>
              <a:rPr lang="en-US" sz="1100" dirty="0">
                <a:solidFill>
                  <a:srgbClr val="1A2733"/>
                </a:solidFill>
                <a:latin typeface="Calibri" pitchFamily="34" charset="0"/>
                <a:ea typeface="Calibri" pitchFamily="34" charset="-122"/>
                <a:cs typeface="Calibri" pitchFamily="34" charset="-120"/>
              </a:rPr>
              <a:t>Verify the signature</a:t>
            </a:r>
            <a:endParaRPr lang="en-US" sz="1100" dirty="0"/>
          </a:p>
        </p:txBody>
      </p:sp>
      <p:sp>
        <p:nvSpPr>
          <p:cNvPr id="9" name="Shape 7"/>
          <p:cNvSpPr/>
          <p:nvPr/>
        </p:nvSpPr>
        <p:spPr>
          <a:xfrm>
            <a:off x="822960" y="1938528"/>
            <a:ext cx="256032" cy="256032"/>
          </a:xfrm>
          <a:prstGeom prst="ellipse">
            <a:avLst/>
          </a:prstGeom>
          <a:solidFill>
            <a:srgbClr val="065A82"/>
          </a:solidFill>
          <a:ln/>
        </p:spPr>
      </p:sp>
      <p:sp>
        <p:nvSpPr>
          <p:cNvPr id="10" name="Text 8"/>
          <p:cNvSpPr txBox="1"/>
          <p:nvPr/>
        </p:nvSpPr>
        <p:spPr>
          <a:xfrm>
            <a:off x="822960" y="193852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1" name="Text 9"/>
          <p:cNvSpPr txBox="1"/>
          <p:nvPr/>
        </p:nvSpPr>
        <p:spPr>
          <a:xfrm>
            <a:off x="1188720" y="1920240"/>
            <a:ext cx="4572000" cy="274320"/>
          </a:xfrm>
          <a:prstGeom prst="rect">
            <a:avLst/>
          </a:prstGeom>
          <a:noFill/>
          <a:ln/>
        </p:spPr>
        <p:txBody>
          <a:bodyPr wrap="square" lIns="0" tIns="0" rIns="0" bIns="0" rtlCol="0" anchor="ctr"/>
          <a:lstStyle/>
          <a:p>
            <a:pPr indent="0" marL="0">
              <a:buNone/>
            </a:pPr>
            <a:r>
              <a:rPr lang="en-US" sz="1100" dirty="0">
                <a:solidFill>
                  <a:srgbClr val="1A2733"/>
                </a:solidFill>
                <a:latin typeface="Calibri" pitchFamily="34" charset="0"/>
                <a:ea typeface="Calibri" pitchFamily="34" charset="-122"/>
                <a:cs typeface="Calibri" pitchFamily="34" charset="-120"/>
              </a:rPr>
              <a:t>Look up tenant by phone_number_id</a:t>
            </a:r>
            <a:endParaRPr lang="en-US" sz="1100" dirty="0"/>
          </a:p>
        </p:txBody>
      </p:sp>
      <p:sp>
        <p:nvSpPr>
          <p:cNvPr id="12" name="Shape 10"/>
          <p:cNvSpPr/>
          <p:nvPr/>
        </p:nvSpPr>
        <p:spPr>
          <a:xfrm>
            <a:off x="822960" y="2304288"/>
            <a:ext cx="256032" cy="256032"/>
          </a:xfrm>
          <a:prstGeom prst="ellipse">
            <a:avLst/>
          </a:prstGeom>
          <a:solidFill>
            <a:srgbClr val="065A82"/>
          </a:solidFill>
          <a:ln/>
        </p:spPr>
      </p:sp>
      <p:sp>
        <p:nvSpPr>
          <p:cNvPr id="13" name="Text 11"/>
          <p:cNvSpPr txBox="1"/>
          <p:nvPr/>
        </p:nvSpPr>
        <p:spPr>
          <a:xfrm>
            <a:off x="822960" y="230428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4" name="Text 12"/>
          <p:cNvSpPr txBox="1"/>
          <p:nvPr/>
        </p:nvSpPr>
        <p:spPr>
          <a:xfrm>
            <a:off x="1188720" y="2286000"/>
            <a:ext cx="4572000" cy="274320"/>
          </a:xfrm>
          <a:prstGeom prst="rect">
            <a:avLst/>
          </a:prstGeom>
          <a:noFill/>
          <a:ln/>
        </p:spPr>
        <p:txBody>
          <a:bodyPr wrap="square" lIns="0" tIns="0" rIns="0" bIns="0" rtlCol="0" anchor="ctr"/>
          <a:lstStyle/>
          <a:p>
            <a:pPr indent="0" marL="0">
              <a:buNone/>
            </a:pPr>
            <a:r>
              <a:rPr lang="en-US" sz="1100" dirty="0">
                <a:solidFill>
                  <a:srgbClr val="1A2733"/>
                </a:solidFill>
                <a:latin typeface="Calibri" pitchFamily="34" charset="0"/>
                <a:ea typeface="Calibri" pitchFamily="34" charset="-122"/>
                <a:cs typeface="Calibri" pitchFamily="34" charset="-120"/>
              </a:rPr>
              <a:t>Insert raw payload (idempotent)</a:t>
            </a:r>
            <a:endParaRPr lang="en-US" sz="1100" dirty="0"/>
          </a:p>
        </p:txBody>
      </p:sp>
      <p:sp>
        <p:nvSpPr>
          <p:cNvPr id="15" name="Shape 13"/>
          <p:cNvSpPr/>
          <p:nvPr/>
        </p:nvSpPr>
        <p:spPr>
          <a:xfrm>
            <a:off x="822960" y="2670048"/>
            <a:ext cx="256032" cy="256032"/>
          </a:xfrm>
          <a:prstGeom prst="ellipse">
            <a:avLst/>
          </a:prstGeom>
          <a:solidFill>
            <a:srgbClr val="065A82"/>
          </a:solidFill>
          <a:ln/>
        </p:spPr>
      </p:sp>
      <p:sp>
        <p:nvSpPr>
          <p:cNvPr id="16" name="Text 14"/>
          <p:cNvSpPr txBox="1"/>
          <p:nvPr/>
        </p:nvSpPr>
        <p:spPr>
          <a:xfrm>
            <a:off x="822960" y="267004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7" name="Text 15"/>
          <p:cNvSpPr txBox="1"/>
          <p:nvPr/>
        </p:nvSpPr>
        <p:spPr>
          <a:xfrm>
            <a:off x="1188720" y="2651760"/>
            <a:ext cx="4572000" cy="274320"/>
          </a:xfrm>
          <a:prstGeom prst="rect">
            <a:avLst/>
          </a:prstGeom>
          <a:noFill/>
          <a:ln/>
        </p:spPr>
        <p:txBody>
          <a:bodyPr wrap="square" lIns="0" tIns="0" rIns="0" bIns="0" rtlCol="0" anchor="ctr"/>
          <a:lstStyle/>
          <a:p>
            <a:pPr indent="0" marL="0">
              <a:buNone/>
            </a:pPr>
            <a:r>
              <a:rPr lang="en-US" sz="1100" dirty="0">
                <a:solidFill>
                  <a:srgbClr val="1A2733"/>
                </a:solidFill>
                <a:latin typeface="Calibri" pitchFamily="34" charset="0"/>
                <a:ea typeface="Calibri" pitchFamily="34" charset="-122"/>
                <a:cs typeface="Calibri" pitchFamily="34" charset="-120"/>
              </a:rPr>
              <a:t>Enqueue to inbound</a:t>
            </a:r>
            <a:endParaRPr lang="en-US" sz="1100" dirty="0"/>
          </a:p>
        </p:txBody>
      </p:sp>
      <p:sp>
        <p:nvSpPr>
          <p:cNvPr id="18" name="Shape 16"/>
          <p:cNvSpPr/>
          <p:nvPr/>
        </p:nvSpPr>
        <p:spPr>
          <a:xfrm>
            <a:off x="822960" y="3035808"/>
            <a:ext cx="256032" cy="256032"/>
          </a:xfrm>
          <a:prstGeom prst="ellipse">
            <a:avLst/>
          </a:prstGeom>
          <a:solidFill>
            <a:srgbClr val="065A82"/>
          </a:solidFill>
          <a:ln/>
        </p:spPr>
      </p:sp>
      <p:sp>
        <p:nvSpPr>
          <p:cNvPr id="19" name="Text 17"/>
          <p:cNvSpPr txBox="1"/>
          <p:nvPr/>
        </p:nvSpPr>
        <p:spPr>
          <a:xfrm>
            <a:off x="822960" y="303580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0" name="Text 18"/>
          <p:cNvSpPr txBox="1"/>
          <p:nvPr/>
        </p:nvSpPr>
        <p:spPr>
          <a:xfrm>
            <a:off x="1188720" y="3017520"/>
            <a:ext cx="4572000" cy="274320"/>
          </a:xfrm>
          <a:prstGeom prst="rect">
            <a:avLst/>
          </a:prstGeom>
          <a:noFill/>
          <a:ln/>
        </p:spPr>
        <p:txBody>
          <a:bodyPr wrap="square" lIns="0" tIns="0" rIns="0" bIns="0" rtlCol="0" anchor="ctr"/>
          <a:lstStyle/>
          <a:p>
            <a:pPr indent="0" marL="0">
              <a:buNone/>
            </a:pPr>
            <a:r>
              <a:rPr lang="en-US" sz="1100" dirty="0">
                <a:solidFill>
                  <a:srgbClr val="1A2733"/>
                </a:solidFill>
                <a:latin typeface="Calibri" pitchFamily="34" charset="0"/>
                <a:ea typeface="Calibri" pitchFamily="34" charset="-122"/>
                <a:cs typeface="Calibri" pitchFamily="34" charset="-120"/>
              </a:rPr>
              <a:t>Return 200</a:t>
            </a:r>
            <a:endParaRPr lang="en-US" sz="1100" dirty="0"/>
          </a:p>
        </p:txBody>
      </p:sp>
      <p:sp>
        <p:nvSpPr>
          <p:cNvPr id="21" name="Text 19"/>
          <p:cNvSpPr txBox="1"/>
          <p:nvPr/>
        </p:nvSpPr>
        <p:spPr>
          <a:xfrm>
            <a:off x="822960" y="3200400"/>
            <a:ext cx="4937760" cy="237744"/>
          </a:xfrm>
          <a:prstGeom prst="rect">
            <a:avLst/>
          </a:prstGeom>
          <a:noFill/>
          <a:ln/>
        </p:spPr>
        <p:txBody>
          <a:bodyPr wrap="square" lIns="0" tIns="0" rIns="0" bIns="0" rtlCol="0" anchor="ctr"/>
          <a:lstStyle/>
          <a:p>
            <a:pPr indent="0" marL="0">
              <a:buNone/>
            </a:pPr>
            <a:r>
              <a:rPr lang="en-US" sz="1000" b="1" i="1" dirty="0">
                <a:solidFill>
                  <a:srgbClr val="B23A48"/>
                </a:solidFill>
                <a:latin typeface="Calibri" pitchFamily="34" charset="0"/>
                <a:ea typeface="Calibri" pitchFamily="34" charset="-122"/>
                <a:cs typeface="Calibri" pitchFamily="34" charset="-120"/>
              </a:rPr>
              <a:t>Target: under 200ms.  No LLM call, no database join.</a:t>
            </a:r>
            <a:endParaRPr lang="en-US" sz="1000" dirty="0"/>
          </a:p>
        </p:txBody>
      </p:sp>
      <p:sp>
        <p:nvSpPr>
          <p:cNvPr id="22" name="Shape 20"/>
          <p:cNvSpPr/>
          <p:nvPr/>
        </p:nvSpPr>
        <p:spPr>
          <a:xfrm>
            <a:off x="6217920" y="1143000"/>
            <a:ext cx="5394960" cy="2377440"/>
          </a:xfrm>
          <a:prstGeom prst="roundRect">
            <a:avLst>
              <a:gd name="adj" fmla="val 2692"/>
            </a:avLst>
          </a:prstGeom>
          <a:solidFill>
            <a:srgbClr val="F4F7FA"/>
          </a:solidFill>
          <a:ln w="12700">
            <a:solidFill>
              <a:srgbClr val="C9D6E2"/>
            </a:solidFill>
            <a:prstDash val="solid"/>
          </a:ln>
        </p:spPr>
      </p:sp>
      <p:sp>
        <p:nvSpPr>
          <p:cNvPr id="23" name="Text 21"/>
          <p:cNvSpPr txBox="1"/>
          <p:nvPr/>
        </p:nvSpPr>
        <p:spPr>
          <a:xfrm>
            <a:off x="6446520" y="1234440"/>
            <a:ext cx="4572000" cy="237744"/>
          </a:xfrm>
          <a:prstGeom prst="rect">
            <a:avLst/>
          </a:prstGeom>
          <a:noFill/>
          <a:ln/>
        </p:spPr>
        <p:txBody>
          <a:bodyPr wrap="square" lIns="0" tIns="0" rIns="0" bIns="0"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OUTBOUND — one dispatcher, always</a:t>
            </a:r>
            <a:endParaRPr lang="en-US" sz="1000" dirty="0"/>
          </a:p>
        </p:txBody>
      </p:sp>
      <p:sp>
        <p:nvSpPr>
          <p:cNvPr id="24" name="Shape 22"/>
          <p:cNvSpPr/>
          <p:nvPr/>
        </p:nvSpPr>
        <p:spPr>
          <a:xfrm>
            <a:off x="6492240" y="1572768"/>
            <a:ext cx="256032" cy="256032"/>
          </a:xfrm>
          <a:prstGeom prst="ellipse">
            <a:avLst/>
          </a:prstGeom>
          <a:solidFill>
            <a:srgbClr val="065A82"/>
          </a:solidFill>
          <a:ln/>
        </p:spPr>
      </p:sp>
      <p:sp>
        <p:nvSpPr>
          <p:cNvPr id="25" name="Text 23"/>
          <p:cNvSpPr txBox="1"/>
          <p:nvPr/>
        </p:nvSpPr>
        <p:spPr>
          <a:xfrm>
            <a:off x="6492240" y="157276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6" name="Text 24"/>
          <p:cNvSpPr txBox="1"/>
          <p:nvPr/>
        </p:nvSpPr>
        <p:spPr>
          <a:xfrm>
            <a:off x="6858000" y="1554480"/>
            <a:ext cx="4572000" cy="274320"/>
          </a:xfrm>
          <a:prstGeom prst="rect">
            <a:avLst/>
          </a:prstGeom>
          <a:noFill/>
          <a:ln/>
        </p:spPr>
        <p:txBody>
          <a:bodyPr wrap="square" lIns="0" tIns="0" rIns="0" bIns="0" rtlCol="0" anchor="ctr"/>
          <a:lstStyle/>
          <a:p>
            <a:pPr indent="0" marL="0">
              <a:buNone/>
            </a:pPr>
            <a:r>
              <a:rPr lang="en-US" sz="1100" dirty="0">
                <a:solidFill>
                  <a:srgbClr val="1A2733"/>
                </a:solidFill>
                <a:latin typeface="Calibri" pitchFamily="34" charset="0"/>
                <a:ea typeface="Calibri" pitchFamily="34" charset="-122"/>
                <a:cs typeface="Calibri" pitchFamily="34" charset="-120"/>
              </a:rPr>
              <a:t>Dedupe key on every send</a:t>
            </a:r>
            <a:endParaRPr lang="en-US" sz="1100" dirty="0"/>
          </a:p>
        </p:txBody>
      </p:sp>
      <p:sp>
        <p:nvSpPr>
          <p:cNvPr id="27" name="Shape 25"/>
          <p:cNvSpPr/>
          <p:nvPr/>
        </p:nvSpPr>
        <p:spPr>
          <a:xfrm>
            <a:off x="6492240" y="1938528"/>
            <a:ext cx="256032" cy="256032"/>
          </a:xfrm>
          <a:prstGeom prst="ellipse">
            <a:avLst/>
          </a:prstGeom>
          <a:solidFill>
            <a:srgbClr val="065A82"/>
          </a:solidFill>
          <a:ln/>
        </p:spPr>
      </p:sp>
      <p:sp>
        <p:nvSpPr>
          <p:cNvPr id="28" name="Text 26"/>
          <p:cNvSpPr txBox="1"/>
          <p:nvPr/>
        </p:nvSpPr>
        <p:spPr>
          <a:xfrm>
            <a:off x="6492240" y="193852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9" name="Text 27"/>
          <p:cNvSpPr txBox="1"/>
          <p:nvPr/>
        </p:nvSpPr>
        <p:spPr>
          <a:xfrm>
            <a:off x="6858000" y="1920240"/>
            <a:ext cx="4572000" cy="274320"/>
          </a:xfrm>
          <a:prstGeom prst="rect">
            <a:avLst/>
          </a:prstGeom>
          <a:noFill/>
          <a:ln/>
        </p:spPr>
        <p:txBody>
          <a:bodyPr wrap="square" lIns="0" tIns="0" rIns="0" bIns="0" rtlCol="0" anchor="ctr"/>
          <a:lstStyle/>
          <a:p>
            <a:pPr indent="0" marL="0">
              <a:buNone/>
            </a:pPr>
            <a:r>
              <a:rPr lang="en-US" sz="1100" dirty="0">
                <a:solidFill>
                  <a:srgbClr val="1A2733"/>
                </a:solidFill>
                <a:latin typeface="Calibri" pitchFamily="34" charset="0"/>
                <a:ea typeface="Calibri" pitchFamily="34" charset="-122"/>
                <a:cs typeface="Calibri" pitchFamily="34" charset="-120"/>
              </a:rPr>
              <a:t>Per-tenant, per-channel rate limits</a:t>
            </a:r>
            <a:endParaRPr lang="en-US" sz="1100" dirty="0"/>
          </a:p>
        </p:txBody>
      </p:sp>
      <p:sp>
        <p:nvSpPr>
          <p:cNvPr id="30" name="Shape 28"/>
          <p:cNvSpPr/>
          <p:nvPr/>
        </p:nvSpPr>
        <p:spPr>
          <a:xfrm>
            <a:off x="6492240" y="2304288"/>
            <a:ext cx="256032" cy="256032"/>
          </a:xfrm>
          <a:prstGeom prst="ellipse">
            <a:avLst/>
          </a:prstGeom>
          <a:solidFill>
            <a:srgbClr val="065A82"/>
          </a:solidFill>
          <a:ln/>
        </p:spPr>
      </p:sp>
      <p:sp>
        <p:nvSpPr>
          <p:cNvPr id="31" name="Text 29"/>
          <p:cNvSpPr txBox="1"/>
          <p:nvPr/>
        </p:nvSpPr>
        <p:spPr>
          <a:xfrm>
            <a:off x="6492240" y="230428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2" name="Text 30"/>
          <p:cNvSpPr txBox="1"/>
          <p:nvPr/>
        </p:nvSpPr>
        <p:spPr>
          <a:xfrm>
            <a:off x="6858000" y="2286000"/>
            <a:ext cx="4572000" cy="274320"/>
          </a:xfrm>
          <a:prstGeom prst="rect">
            <a:avLst/>
          </a:prstGeom>
          <a:noFill/>
          <a:ln/>
        </p:spPr>
        <p:txBody>
          <a:bodyPr wrap="square" lIns="0" tIns="0" rIns="0" bIns="0" rtlCol="0" anchor="ctr"/>
          <a:lstStyle/>
          <a:p>
            <a:pPr indent="0" marL="0">
              <a:buNone/>
            </a:pPr>
            <a:r>
              <a:rPr lang="en-US" sz="1100" dirty="0">
                <a:solidFill>
                  <a:srgbClr val="1A2733"/>
                </a:solidFill>
                <a:latin typeface="Calibri" pitchFamily="34" charset="0"/>
                <a:ea typeface="Calibri" pitchFamily="34" charset="-122"/>
                <a:cs typeface="Calibri" pitchFamily="34" charset="-120"/>
              </a:rPr>
              <a:t>Exponential backoff</a:t>
            </a:r>
            <a:endParaRPr lang="en-US" sz="1100" dirty="0"/>
          </a:p>
        </p:txBody>
      </p:sp>
      <p:sp>
        <p:nvSpPr>
          <p:cNvPr id="33" name="Shape 31"/>
          <p:cNvSpPr/>
          <p:nvPr/>
        </p:nvSpPr>
        <p:spPr>
          <a:xfrm>
            <a:off x="6492240" y="2670048"/>
            <a:ext cx="256032" cy="256032"/>
          </a:xfrm>
          <a:prstGeom prst="ellipse">
            <a:avLst/>
          </a:prstGeom>
          <a:solidFill>
            <a:srgbClr val="065A82"/>
          </a:solidFill>
          <a:ln/>
        </p:spPr>
      </p:sp>
      <p:sp>
        <p:nvSpPr>
          <p:cNvPr id="34" name="Text 32"/>
          <p:cNvSpPr txBox="1"/>
          <p:nvPr/>
        </p:nvSpPr>
        <p:spPr>
          <a:xfrm>
            <a:off x="6492240" y="267004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5" name="Text 33"/>
          <p:cNvSpPr txBox="1"/>
          <p:nvPr/>
        </p:nvSpPr>
        <p:spPr>
          <a:xfrm>
            <a:off x="6858000" y="2651760"/>
            <a:ext cx="4572000" cy="274320"/>
          </a:xfrm>
          <a:prstGeom prst="rect">
            <a:avLst/>
          </a:prstGeom>
          <a:noFill/>
          <a:ln/>
        </p:spPr>
        <p:txBody>
          <a:bodyPr wrap="square" lIns="0" tIns="0" rIns="0" bIns="0" rtlCol="0" anchor="ctr"/>
          <a:lstStyle/>
          <a:p>
            <a:pPr indent="0" marL="0">
              <a:buNone/>
            </a:pPr>
            <a:r>
              <a:rPr lang="en-US" sz="1100" dirty="0">
                <a:solidFill>
                  <a:srgbClr val="1A2733"/>
                </a:solidFill>
                <a:latin typeface="Calibri" pitchFamily="34" charset="0"/>
                <a:ea typeface="Calibri" pitchFamily="34" charset="-122"/>
                <a:cs typeface="Calibri" pitchFamily="34" charset="-120"/>
              </a:rPr>
              <a:t>Dead-letter queue with replay</a:t>
            </a:r>
            <a:endParaRPr lang="en-US" sz="1100" dirty="0"/>
          </a:p>
        </p:txBody>
      </p:sp>
      <p:sp>
        <p:nvSpPr>
          <p:cNvPr id="36" name="Shape 34"/>
          <p:cNvSpPr/>
          <p:nvPr/>
        </p:nvSpPr>
        <p:spPr>
          <a:xfrm>
            <a:off x="6492240" y="3035808"/>
            <a:ext cx="256032" cy="256032"/>
          </a:xfrm>
          <a:prstGeom prst="ellipse">
            <a:avLst/>
          </a:prstGeom>
          <a:solidFill>
            <a:srgbClr val="065A82"/>
          </a:solidFill>
          <a:ln/>
        </p:spPr>
      </p:sp>
      <p:sp>
        <p:nvSpPr>
          <p:cNvPr id="37" name="Text 35"/>
          <p:cNvSpPr txBox="1"/>
          <p:nvPr/>
        </p:nvSpPr>
        <p:spPr>
          <a:xfrm>
            <a:off x="6492240" y="303580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8" name="Text 36"/>
          <p:cNvSpPr txBox="1"/>
          <p:nvPr/>
        </p:nvSpPr>
        <p:spPr>
          <a:xfrm>
            <a:off x="6858000" y="3017520"/>
            <a:ext cx="4572000" cy="274320"/>
          </a:xfrm>
          <a:prstGeom prst="rect">
            <a:avLst/>
          </a:prstGeom>
          <a:noFill/>
          <a:ln/>
        </p:spPr>
        <p:txBody>
          <a:bodyPr wrap="square" lIns="0" tIns="0" rIns="0" bIns="0" rtlCol="0" anchor="ctr"/>
          <a:lstStyle/>
          <a:p>
            <a:pPr indent="0" marL="0">
              <a:buNone/>
            </a:pPr>
            <a:r>
              <a:rPr lang="en-US" sz="1100" dirty="0">
                <a:solidFill>
                  <a:srgbClr val="1A2733"/>
                </a:solidFill>
                <a:latin typeface="Calibri" pitchFamily="34" charset="0"/>
                <a:ea typeface="Calibri" pitchFamily="34" charset="-122"/>
                <a:cs typeface="Calibri" pitchFamily="34" charset="-120"/>
              </a:rPr>
              <a:t>Provider adapter formats it</a:t>
            </a:r>
            <a:endParaRPr lang="en-US" sz="1100" dirty="0"/>
          </a:p>
        </p:txBody>
      </p:sp>
      <p:sp>
        <p:nvSpPr>
          <p:cNvPr id="39" name="Text 37"/>
          <p:cNvSpPr txBox="1"/>
          <p:nvPr/>
        </p:nvSpPr>
        <p:spPr>
          <a:xfrm>
            <a:off x="6492240" y="3200400"/>
            <a:ext cx="4937760" cy="237744"/>
          </a:xfrm>
          <a:prstGeom prst="rect">
            <a:avLst/>
          </a:prstGeom>
          <a:noFill/>
          <a:ln/>
        </p:spPr>
        <p:txBody>
          <a:bodyPr wrap="square" lIns="0" tIns="0" rIns="0" bIns="0" rtlCol="0" anchor="ctr"/>
          <a:lstStyle/>
          <a:p>
            <a:pPr indent="0" marL="0">
              <a:buNone/>
            </a:pPr>
            <a:r>
              <a:rPr lang="en-US" sz="1000" b="1" i="1" dirty="0">
                <a:solidFill>
                  <a:srgbClr val="B23A48"/>
                </a:solidFill>
                <a:latin typeface="Calibri" pitchFamily="34" charset="0"/>
                <a:ea typeface="Calibri" pitchFamily="34" charset="-122"/>
                <a:cs typeface="Calibri" pitchFamily="34" charset="-120"/>
              </a:rPr>
              <a:t>A double-sent quotation is an account-losing bug.</a:t>
            </a:r>
            <a:endParaRPr lang="en-US" sz="1000" dirty="0"/>
          </a:p>
        </p:txBody>
      </p:sp>
      <p:sp>
        <p:nvSpPr>
          <p:cNvPr id="40" name="Text 38"/>
          <p:cNvSpPr txBox="1"/>
          <p:nvPr/>
        </p:nvSpPr>
        <p:spPr>
          <a:xfrm>
            <a:off x="548640" y="3703320"/>
            <a:ext cx="11064240" cy="237744"/>
          </a:xfrm>
          <a:prstGeom prst="rect">
            <a:avLst/>
          </a:prstGeom>
          <a:noFill/>
          <a:ln/>
        </p:spPr>
        <p:txBody>
          <a:bodyPr wrap="square" lIns="0" tIns="0" rIns="0" bIns="0" rtlCol="0" anchor="ctr"/>
          <a:lstStyle/>
          <a:p>
            <a:pPr indent="0" marL="0">
              <a:buNone/>
            </a:pPr>
            <a:r>
              <a:rPr lang="en-US" sz="1000" b="1" spc="150" kern="0" dirty="0">
                <a:solidFill>
                  <a:srgbClr val="1C7293"/>
                </a:solidFill>
                <a:latin typeface="Calibri" pitchFamily="34" charset="0"/>
                <a:ea typeface="Calibri" pitchFamily="34" charset="-122"/>
                <a:cs typeface="Calibri" pitchFamily="34" charset="-120"/>
              </a:rPr>
              <a:t>CHANNELS SUPPORTED</a:t>
            </a:r>
            <a:endParaRPr lang="en-US" sz="1000" dirty="0"/>
          </a:p>
        </p:txBody>
      </p:sp>
      <p:sp>
        <p:nvSpPr>
          <p:cNvPr id="41" name="Shape 39"/>
          <p:cNvSpPr/>
          <p:nvPr/>
        </p:nvSpPr>
        <p:spPr>
          <a:xfrm>
            <a:off x="548640" y="4005072"/>
            <a:ext cx="2084832" cy="1371600"/>
          </a:xfrm>
          <a:prstGeom prst="roundRect">
            <a:avLst>
              <a:gd name="adj" fmla="val 4667"/>
            </a:avLst>
          </a:prstGeom>
          <a:solidFill>
            <a:srgbClr val="FFFFFF"/>
          </a:solidFill>
          <a:ln w="12700">
            <a:solidFill>
              <a:srgbClr val="DCE5EE"/>
            </a:solidFill>
            <a:prstDash val="solid"/>
          </a:ln>
        </p:spPr>
      </p:sp>
      <p:sp>
        <p:nvSpPr>
          <p:cNvPr id="42" name="Text 40"/>
          <p:cNvSpPr txBox="1"/>
          <p:nvPr/>
        </p:nvSpPr>
        <p:spPr>
          <a:xfrm>
            <a:off x="694944" y="4114800"/>
            <a:ext cx="1828800" cy="256032"/>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WhatsApp</a:t>
            </a:r>
            <a:endParaRPr lang="en-US" sz="1200" dirty="0"/>
          </a:p>
        </p:txBody>
      </p:sp>
      <p:sp>
        <p:nvSpPr>
          <p:cNvPr id="43" name="Text 41"/>
          <p:cNvSpPr txBox="1"/>
          <p:nvPr/>
        </p:nvSpPr>
        <p:spPr>
          <a:xfrm>
            <a:off x="694944" y="4389120"/>
            <a:ext cx="1828800" cy="658368"/>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Primary. Official Cloud API only.</a:t>
            </a:r>
            <a:endParaRPr lang="en-US" sz="900" dirty="0"/>
          </a:p>
        </p:txBody>
      </p:sp>
      <p:sp>
        <p:nvSpPr>
          <p:cNvPr id="44" name="Shape 42"/>
          <p:cNvSpPr/>
          <p:nvPr/>
        </p:nvSpPr>
        <p:spPr>
          <a:xfrm>
            <a:off x="694944" y="5065776"/>
            <a:ext cx="640080" cy="219456"/>
          </a:xfrm>
          <a:prstGeom prst="roundRect">
            <a:avLst>
              <a:gd name="adj" fmla="val 29167"/>
            </a:avLst>
          </a:prstGeom>
          <a:solidFill>
            <a:srgbClr val="2E8B57"/>
          </a:solidFill>
          <a:ln/>
        </p:spPr>
      </p:sp>
      <p:sp>
        <p:nvSpPr>
          <p:cNvPr id="45" name="Text 43"/>
          <p:cNvSpPr txBox="1"/>
          <p:nvPr/>
        </p:nvSpPr>
        <p:spPr>
          <a:xfrm>
            <a:off x="694944" y="5065776"/>
            <a:ext cx="64008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v1</a:t>
            </a:r>
            <a:endParaRPr lang="en-US" sz="800" dirty="0"/>
          </a:p>
        </p:txBody>
      </p:sp>
      <p:sp>
        <p:nvSpPr>
          <p:cNvPr id="46" name="Shape 44"/>
          <p:cNvSpPr/>
          <p:nvPr/>
        </p:nvSpPr>
        <p:spPr>
          <a:xfrm>
            <a:off x="2816352" y="4005072"/>
            <a:ext cx="2084832" cy="1371600"/>
          </a:xfrm>
          <a:prstGeom prst="roundRect">
            <a:avLst>
              <a:gd name="adj" fmla="val 4667"/>
            </a:avLst>
          </a:prstGeom>
          <a:solidFill>
            <a:srgbClr val="FFFFFF"/>
          </a:solidFill>
          <a:ln w="12700">
            <a:solidFill>
              <a:srgbClr val="DCE5EE"/>
            </a:solidFill>
            <a:prstDash val="solid"/>
          </a:ln>
        </p:spPr>
      </p:sp>
      <p:sp>
        <p:nvSpPr>
          <p:cNvPr id="47" name="Text 45"/>
          <p:cNvSpPr txBox="1"/>
          <p:nvPr/>
        </p:nvSpPr>
        <p:spPr>
          <a:xfrm>
            <a:off x="2962656" y="4114800"/>
            <a:ext cx="1828800" cy="256032"/>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Instagram DM</a:t>
            </a:r>
            <a:endParaRPr lang="en-US" sz="1200" dirty="0"/>
          </a:p>
        </p:txBody>
      </p:sp>
      <p:sp>
        <p:nvSpPr>
          <p:cNvPr id="48" name="Text 46"/>
          <p:cNvSpPr txBox="1"/>
          <p:nvPr/>
        </p:nvSpPr>
        <p:spPr>
          <a:xfrm>
            <a:off x="2962656" y="4389120"/>
            <a:ext cx="1828800" cy="658368"/>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Meta adapter, same interface.</a:t>
            </a:r>
            <a:endParaRPr lang="en-US" sz="900" dirty="0"/>
          </a:p>
        </p:txBody>
      </p:sp>
      <p:sp>
        <p:nvSpPr>
          <p:cNvPr id="49" name="Shape 47"/>
          <p:cNvSpPr/>
          <p:nvPr/>
        </p:nvSpPr>
        <p:spPr>
          <a:xfrm>
            <a:off x="2962656" y="5065776"/>
            <a:ext cx="640080" cy="219456"/>
          </a:xfrm>
          <a:prstGeom prst="roundRect">
            <a:avLst>
              <a:gd name="adj" fmla="val 29167"/>
            </a:avLst>
          </a:prstGeom>
          <a:solidFill>
            <a:srgbClr val="2E8B57"/>
          </a:solidFill>
          <a:ln/>
        </p:spPr>
      </p:sp>
      <p:sp>
        <p:nvSpPr>
          <p:cNvPr id="50" name="Text 48"/>
          <p:cNvSpPr txBox="1"/>
          <p:nvPr/>
        </p:nvSpPr>
        <p:spPr>
          <a:xfrm>
            <a:off x="2962656" y="5065776"/>
            <a:ext cx="64008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v1</a:t>
            </a:r>
            <a:endParaRPr lang="en-US" sz="800" dirty="0"/>
          </a:p>
        </p:txBody>
      </p:sp>
      <p:sp>
        <p:nvSpPr>
          <p:cNvPr id="51" name="Shape 49"/>
          <p:cNvSpPr/>
          <p:nvPr/>
        </p:nvSpPr>
        <p:spPr>
          <a:xfrm>
            <a:off x="5084064" y="4005072"/>
            <a:ext cx="2084832" cy="1371600"/>
          </a:xfrm>
          <a:prstGeom prst="roundRect">
            <a:avLst>
              <a:gd name="adj" fmla="val 4667"/>
            </a:avLst>
          </a:prstGeom>
          <a:solidFill>
            <a:srgbClr val="FFFFFF"/>
          </a:solidFill>
          <a:ln w="12700">
            <a:solidFill>
              <a:srgbClr val="DCE5EE"/>
            </a:solidFill>
            <a:prstDash val="solid"/>
          </a:ln>
        </p:spPr>
      </p:sp>
      <p:sp>
        <p:nvSpPr>
          <p:cNvPr id="52" name="Text 50"/>
          <p:cNvSpPr txBox="1"/>
          <p:nvPr/>
        </p:nvSpPr>
        <p:spPr>
          <a:xfrm>
            <a:off x="5230368" y="4114800"/>
            <a:ext cx="1828800" cy="256032"/>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Messenger</a:t>
            </a:r>
            <a:endParaRPr lang="en-US" sz="1200" dirty="0"/>
          </a:p>
        </p:txBody>
      </p:sp>
      <p:sp>
        <p:nvSpPr>
          <p:cNvPr id="53" name="Text 51"/>
          <p:cNvSpPr txBox="1"/>
          <p:nvPr/>
        </p:nvSpPr>
        <p:spPr>
          <a:xfrm>
            <a:off x="5230368" y="4389120"/>
            <a:ext cx="1828800" cy="658368"/>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#1 messaging app in Denmark, #2 Sweden.</a:t>
            </a:r>
            <a:endParaRPr lang="en-US" sz="900" dirty="0"/>
          </a:p>
        </p:txBody>
      </p:sp>
      <p:sp>
        <p:nvSpPr>
          <p:cNvPr id="54" name="Shape 52"/>
          <p:cNvSpPr/>
          <p:nvPr/>
        </p:nvSpPr>
        <p:spPr>
          <a:xfrm>
            <a:off x="5230368" y="5065776"/>
            <a:ext cx="640080" cy="219456"/>
          </a:xfrm>
          <a:prstGeom prst="roundRect">
            <a:avLst>
              <a:gd name="adj" fmla="val 29167"/>
            </a:avLst>
          </a:prstGeom>
          <a:solidFill>
            <a:srgbClr val="2E8B57"/>
          </a:solidFill>
          <a:ln/>
        </p:spPr>
      </p:sp>
      <p:sp>
        <p:nvSpPr>
          <p:cNvPr id="55" name="Text 53"/>
          <p:cNvSpPr txBox="1"/>
          <p:nvPr/>
        </p:nvSpPr>
        <p:spPr>
          <a:xfrm>
            <a:off x="5230368" y="5065776"/>
            <a:ext cx="64008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v1</a:t>
            </a:r>
            <a:endParaRPr lang="en-US" sz="800" dirty="0"/>
          </a:p>
        </p:txBody>
      </p:sp>
      <p:sp>
        <p:nvSpPr>
          <p:cNvPr id="56" name="Shape 54"/>
          <p:cNvSpPr/>
          <p:nvPr/>
        </p:nvSpPr>
        <p:spPr>
          <a:xfrm>
            <a:off x="7351776" y="4005072"/>
            <a:ext cx="2084832" cy="1371600"/>
          </a:xfrm>
          <a:prstGeom prst="roundRect">
            <a:avLst>
              <a:gd name="adj" fmla="val 4667"/>
            </a:avLst>
          </a:prstGeom>
          <a:solidFill>
            <a:srgbClr val="FFFFFF"/>
          </a:solidFill>
          <a:ln w="12700">
            <a:solidFill>
              <a:srgbClr val="DCE5EE"/>
            </a:solidFill>
            <a:prstDash val="solid"/>
          </a:ln>
        </p:spPr>
      </p:sp>
      <p:sp>
        <p:nvSpPr>
          <p:cNvPr id="57" name="Text 55"/>
          <p:cNvSpPr txBox="1"/>
          <p:nvPr/>
        </p:nvSpPr>
        <p:spPr>
          <a:xfrm>
            <a:off x="7498080" y="4114800"/>
            <a:ext cx="1828800" cy="256032"/>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Web widget</a:t>
            </a:r>
            <a:endParaRPr lang="en-US" sz="1200" dirty="0"/>
          </a:p>
        </p:txBody>
      </p:sp>
      <p:sp>
        <p:nvSpPr>
          <p:cNvPr id="58" name="Text 56"/>
          <p:cNvSpPr txBox="1"/>
          <p:nvPr/>
        </p:nvSpPr>
        <p:spPr>
          <a:xfrm>
            <a:off x="7498080" y="4389120"/>
            <a:ext cx="1828800" cy="658368"/>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No platform approval needed.</a:t>
            </a:r>
            <a:endParaRPr lang="en-US" sz="900" dirty="0"/>
          </a:p>
        </p:txBody>
      </p:sp>
      <p:sp>
        <p:nvSpPr>
          <p:cNvPr id="59" name="Shape 57"/>
          <p:cNvSpPr/>
          <p:nvPr/>
        </p:nvSpPr>
        <p:spPr>
          <a:xfrm>
            <a:off x="7498080" y="5065776"/>
            <a:ext cx="640080" cy="219456"/>
          </a:xfrm>
          <a:prstGeom prst="roundRect">
            <a:avLst>
              <a:gd name="adj" fmla="val 29167"/>
            </a:avLst>
          </a:prstGeom>
          <a:solidFill>
            <a:srgbClr val="2E8B57"/>
          </a:solidFill>
          <a:ln/>
        </p:spPr>
      </p:sp>
      <p:sp>
        <p:nvSpPr>
          <p:cNvPr id="60" name="Text 58"/>
          <p:cNvSpPr txBox="1"/>
          <p:nvPr/>
        </p:nvSpPr>
        <p:spPr>
          <a:xfrm>
            <a:off x="7498080" y="5065776"/>
            <a:ext cx="64008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v1</a:t>
            </a:r>
            <a:endParaRPr lang="en-US" sz="800" dirty="0"/>
          </a:p>
        </p:txBody>
      </p:sp>
      <p:sp>
        <p:nvSpPr>
          <p:cNvPr id="61" name="Shape 59"/>
          <p:cNvSpPr/>
          <p:nvPr/>
        </p:nvSpPr>
        <p:spPr>
          <a:xfrm>
            <a:off x="9619488" y="4005072"/>
            <a:ext cx="2084832" cy="1371600"/>
          </a:xfrm>
          <a:prstGeom prst="roundRect">
            <a:avLst>
              <a:gd name="adj" fmla="val 4667"/>
            </a:avLst>
          </a:prstGeom>
          <a:solidFill>
            <a:srgbClr val="FFFFFF"/>
          </a:solidFill>
          <a:ln w="12700">
            <a:solidFill>
              <a:srgbClr val="DCE5EE"/>
            </a:solidFill>
            <a:prstDash val="solid"/>
          </a:ln>
        </p:spPr>
      </p:sp>
      <p:sp>
        <p:nvSpPr>
          <p:cNvPr id="62" name="Text 60"/>
          <p:cNvSpPr txBox="1"/>
          <p:nvPr/>
        </p:nvSpPr>
        <p:spPr>
          <a:xfrm>
            <a:off x="9765792" y="4114800"/>
            <a:ext cx="1828800" cy="256032"/>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Telegram</a:t>
            </a:r>
            <a:endParaRPr lang="en-US" sz="1200" dirty="0"/>
          </a:p>
        </p:txBody>
      </p:sp>
      <p:sp>
        <p:nvSpPr>
          <p:cNvPr id="63" name="Text 61"/>
          <p:cNvSpPr txBox="1"/>
          <p:nvPr/>
        </p:nvSpPr>
        <p:spPr>
          <a:xfrm>
            <a:off x="9765792" y="4389120"/>
            <a:ext cx="1828800" cy="658368"/>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Owner-side. Bot token, no OAuth.</a:t>
            </a:r>
            <a:endParaRPr lang="en-US" sz="900" dirty="0"/>
          </a:p>
        </p:txBody>
      </p:sp>
      <p:sp>
        <p:nvSpPr>
          <p:cNvPr id="64" name="Shape 62"/>
          <p:cNvSpPr/>
          <p:nvPr/>
        </p:nvSpPr>
        <p:spPr>
          <a:xfrm>
            <a:off x="9765792" y="5065776"/>
            <a:ext cx="640080" cy="219456"/>
          </a:xfrm>
          <a:prstGeom prst="roundRect">
            <a:avLst>
              <a:gd name="adj" fmla="val 29167"/>
            </a:avLst>
          </a:prstGeom>
          <a:solidFill>
            <a:srgbClr val="F2A104"/>
          </a:solidFill>
          <a:ln/>
        </p:spPr>
      </p:sp>
      <p:sp>
        <p:nvSpPr>
          <p:cNvPr id="65" name="Text 63"/>
          <p:cNvSpPr txBox="1"/>
          <p:nvPr/>
        </p:nvSpPr>
        <p:spPr>
          <a:xfrm>
            <a:off x="9765792" y="5065776"/>
            <a:ext cx="64008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v1</a:t>
            </a:r>
            <a:endParaRPr lang="en-US" sz="800" dirty="0"/>
          </a:p>
        </p:txBody>
      </p:sp>
      <p:sp>
        <p:nvSpPr>
          <p:cNvPr id="66" name="Shape 64"/>
          <p:cNvSpPr/>
          <p:nvPr/>
        </p:nvSpPr>
        <p:spPr>
          <a:xfrm>
            <a:off x="548640" y="6053328"/>
            <a:ext cx="11064240" cy="566928"/>
          </a:xfrm>
          <a:prstGeom prst="roundRect">
            <a:avLst>
              <a:gd name="adj" fmla="val 11290"/>
            </a:avLst>
          </a:prstGeom>
          <a:solidFill>
            <a:srgbClr val="F4F7FA"/>
          </a:solidFill>
          <a:ln w="12700">
            <a:solidFill>
              <a:srgbClr val="DCE5EE"/>
            </a:solidFill>
            <a:prstDash val="solid"/>
          </a:ln>
        </p:spPr>
      </p:sp>
      <p:sp>
        <p:nvSpPr>
          <p:cNvPr id="67" name="Text 65"/>
          <p:cNvSpPr txBox="1"/>
          <p:nvPr/>
        </p:nvSpPr>
        <p:spPr>
          <a:xfrm>
            <a:off x="777240" y="6053328"/>
            <a:ext cx="10607040" cy="566928"/>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WHY MULTI-CHANNEL MATTERS:  an earlier analysis disqualified Sweden and Denmark on WhatsApp reach. That reasoning was wrong - Messenger is #1 in Denmark and #2 in Sweden at 65%. Stop scoring markets on WhatsApp alone.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COMPLIANCE</a:t>
            </a:r>
            <a:endParaRPr lang="en-US" sz="1050" dirty="0"/>
          </a:p>
        </p:txBody>
      </p:sp>
      <p:sp>
        <p:nvSpPr>
          <p:cNvPr id="3" name="Text 1"/>
          <p:cNvSpPr txBox="1"/>
          <p:nvPr/>
        </p:nvSpPr>
        <p:spPr>
          <a:xfrm>
            <a:off x="548640" y="512064"/>
            <a:ext cx="11064240" cy="566928"/>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Compliance, built into the flow</a:t>
            </a:r>
            <a:endParaRPr lang="en-US" sz="2800" dirty="0"/>
          </a:p>
        </p:txBody>
      </p:sp>
      <p:sp>
        <p:nvSpPr>
          <p:cNvPr id="4" name="Text 2"/>
          <p:cNvSpPr txBox="1"/>
          <p:nvPr/>
        </p:nvSpPr>
        <p:spPr>
          <a:xfrm>
            <a:off x="548640" y="1115568"/>
            <a:ext cx="11064240" cy="274320"/>
          </a:xfrm>
          <a:prstGeom prst="rect">
            <a:avLst/>
          </a:prstGeom>
          <a:noFill/>
          <a:ln/>
        </p:spPr>
        <p:txBody>
          <a:bodyPr wrap="square" lIns="0" tIns="0" rIns="0" bIns="0" rtlCol="0" anchor="ctr"/>
          <a:lstStyle/>
          <a:p>
            <a:pPr indent="0" marL="0">
              <a:buNone/>
            </a:pPr>
            <a:r>
              <a:rPr lang="en-US" sz="1250" i="1" dirty="0">
                <a:solidFill>
                  <a:srgbClr val="5A6B7B"/>
                </a:solidFill>
                <a:latin typeface="Calibri" pitchFamily="34" charset="0"/>
                <a:ea typeface="Calibri" pitchFamily="34" charset="-122"/>
                <a:cs typeface="Calibri" pitchFamily="34" charset="-120"/>
              </a:rPr>
              <a:t>Six engineering requirements. Cheap designed in now, expensive to retrofit - and largely unmarketed by competitors.</a:t>
            </a:r>
            <a:endParaRPr lang="en-US" sz="1250" dirty="0"/>
          </a:p>
        </p:txBody>
      </p:sp>
      <p:sp>
        <p:nvSpPr>
          <p:cNvPr id="5" name="Shape 3"/>
          <p:cNvSpPr/>
          <p:nvPr/>
        </p:nvSpPr>
        <p:spPr>
          <a:xfrm>
            <a:off x="548640" y="1517904"/>
            <a:ext cx="5440680" cy="1115568"/>
          </a:xfrm>
          <a:prstGeom prst="roundRect">
            <a:avLst>
              <a:gd name="adj" fmla="val 5738"/>
            </a:avLst>
          </a:prstGeom>
          <a:solidFill>
            <a:srgbClr val="FFFFFF"/>
          </a:solidFill>
          <a:ln w="12700">
            <a:solidFill>
              <a:srgbClr val="DCE5EE"/>
            </a:solidFill>
            <a:prstDash val="solid"/>
          </a:ln>
        </p:spPr>
      </p:sp>
      <p:sp>
        <p:nvSpPr>
          <p:cNvPr id="6" name="Shape 4"/>
          <p:cNvSpPr/>
          <p:nvPr/>
        </p:nvSpPr>
        <p:spPr>
          <a:xfrm>
            <a:off x="694944" y="1664208"/>
            <a:ext cx="310896" cy="310896"/>
          </a:xfrm>
          <a:prstGeom prst="ellipse">
            <a:avLst/>
          </a:prstGeom>
          <a:solidFill>
            <a:srgbClr val="2E8B57"/>
          </a:solidFill>
          <a:ln/>
        </p:spPr>
      </p:sp>
      <p:sp>
        <p:nvSpPr>
          <p:cNvPr id="7" name="Text 5"/>
          <p:cNvSpPr txBox="1"/>
          <p:nvPr/>
        </p:nvSpPr>
        <p:spPr>
          <a:xfrm>
            <a:off x="694944" y="166420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6"/>
          <p:cNvSpPr txBox="1"/>
          <p:nvPr/>
        </p:nvSpPr>
        <p:spPr>
          <a:xfrm>
            <a:off x="1097280" y="1636776"/>
            <a:ext cx="4754880" cy="274320"/>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AI disclosure at first contact</a:t>
            </a:r>
            <a:endParaRPr lang="en-US" sz="1200" dirty="0"/>
          </a:p>
        </p:txBody>
      </p:sp>
      <p:sp>
        <p:nvSpPr>
          <p:cNvPr id="9" name="Text 7"/>
          <p:cNvSpPr txBox="1"/>
          <p:nvPr/>
        </p:nvSpPr>
        <p:spPr>
          <a:xfrm>
            <a:off x="1097280" y="1920240"/>
            <a:ext cx="4754880" cy="640080"/>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Per-tenant wording, NOT disableable, logged as an event. Repeated on resume after a gap and on handback from a human.</a:t>
            </a:r>
            <a:endParaRPr lang="en-US" sz="950" dirty="0"/>
          </a:p>
        </p:txBody>
      </p:sp>
      <p:sp>
        <p:nvSpPr>
          <p:cNvPr id="10" name="Shape 8"/>
          <p:cNvSpPr/>
          <p:nvPr/>
        </p:nvSpPr>
        <p:spPr>
          <a:xfrm>
            <a:off x="6217920" y="1517904"/>
            <a:ext cx="5440680" cy="1115568"/>
          </a:xfrm>
          <a:prstGeom prst="roundRect">
            <a:avLst>
              <a:gd name="adj" fmla="val 5738"/>
            </a:avLst>
          </a:prstGeom>
          <a:solidFill>
            <a:srgbClr val="FFFFFF"/>
          </a:solidFill>
          <a:ln w="12700">
            <a:solidFill>
              <a:srgbClr val="DCE5EE"/>
            </a:solidFill>
            <a:prstDash val="solid"/>
          </a:ln>
        </p:spPr>
      </p:sp>
      <p:sp>
        <p:nvSpPr>
          <p:cNvPr id="11" name="Shape 9"/>
          <p:cNvSpPr/>
          <p:nvPr/>
        </p:nvSpPr>
        <p:spPr>
          <a:xfrm>
            <a:off x="6364224" y="1664208"/>
            <a:ext cx="310896" cy="310896"/>
          </a:xfrm>
          <a:prstGeom prst="ellipse">
            <a:avLst/>
          </a:prstGeom>
          <a:solidFill>
            <a:srgbClr val="2E8B57"/>
          </a:solidFill>
          <a:ln/>
        </p:spPr>
      </p:sp>
      <p:sp>
        <p:nvSpPr>
          <p:cNvPr id="12" name="Text 10"/>
          <p:cNvSpPr txBox="1"/>
          <p:nvPr/>
        </p:nvSpPr>
        <p:spPr>
          <a:xfrm>
            <a:off x="6364224" y="166420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1"/>
          <p:cNvSpPr txBox="1"/>
          <p:nvPr/>
        </p:nvSpPr>
        <p:spPr>
          <a:xfrm>
            <a:off x="6766560" y="1636776"/>
            <a:ext cx="4754880" cy="274320"/>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No terminal auto-rejection</a:t>
            </a:r>
            <a:endParaRPr lang="en-US" sz="1200" dirty="0"/>
          </a:p>
        </p:txBody>
      </p:sp>
      <p:sp>
        <p:nvSpPr>
          <p:cNvPr id="14" name="Text 12"/>
          <p:cNvSpPr txBox="1"/>
          <p:nvPr/>
        </p:nvSpPr>
        <p:spPr>
          <a:xfrm>
            <a:off x="6766560" y="1920240"/>
            <a:ext cx="4754880" cy="640080"/>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Infeasible routes to the owner or produces a non-final outcome with a route to a human. Never a closed door.</a:t>
            </a:r>
            <a:endParaRPr lang="en-US" sz="950" dirty="0"/>
          </a:p>
        </p:txBody>
      </p:sp>
      <p:sp>
        <p:nvSpPr>
          <p:cNvPr id="15" name="Shape 13"/>
          <p:cNvSpPr/>
          <p:nvPr/>
        </p:nvSpPr>
        <p:spPr>
          <a:xfrm>
            <a:off x="548640" y="2752344"/>
            <a:ext cx="5440680" cy="1115568"/>
          </a:xfrm>
          <a:prstGeom prst="roundRect">
            <a:avLst>
              <a:gd name="adj" fmla="val 5738"/>
            </a:avLst>
          </a:prstGeom>
          <a:solidFill>
            <a:srgbClr val="F4F7FA"/>
          </a:solidFill>
          <a:ln w="12700">
            <a:solidFill>
              <a:srgbClr val="DCE5EE"/>
            </a:solidFill>
            <a:prstDash val="solid"/>
          </a:ln>
        </p:spPr>
      </p:sp>
      <p:sp>
        <p:nvSpPr>
          <p:cNvPr id="16" name="Shape 14"/>
          <p:cNvSpPr/>
          <p:nvPr/>
        </p:nvSpPr>
        <p:spPr>
          <a:xfrm>
            <a:off x="694944" y="2898648"/>
            <a:ext cx="310896" cy="310896"/>
          </a:xfrm>
          <a:prstGeom prst="ellipse">
            <a:avLst/>
          </a:prstGeom>
          <a:solidFill>
            <a:srgbClr val="2E8B57"/>
          </a:solidFill>
          <a:ln/>
        </p:spPr>
      </p:sp>
      <p:sp>
        <p:nvSpPr>
          <p:cNvPr id="17" name="Text 15"/>
          <p:cNvSpPr txBox="1"/>
          <p:nvPr/>
        </p:nvSpPr>
        <p:spPr>
          <a:xfrm>
            <a:off x="694944" y="289864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txBox="1"/>
          <p:nvPr/>
        </p:nvSpPr>
        <p:spPr>
          <a:xfrm>
            <a:off x="1097280" y="2871216"/>
            <a:ext cx="4754880" cy="274320"/>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Explainability per score</a:t>
            </a:r>
            <a:endParaRPr lang="en-US" sz="1200" dirty="0"/>
          </a:p>
        </p:txBody>
      </p:sp>
      <p:sp>
        <p:nvSpPr>
          <p:cNvPr id="19" name="Text 17"/>
          <p:cNvSpPr txBox="1"/>
          <p:nvPr/>
        </p:nvSpPr>
        <p:spPr>
          <a:xfrm>
            <a:off x="1097280" y="3154680"/>
            <a:ext cx="4754880" cy="640080"/>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Score, model version, input features and the human decision recorded for every contact.</a:t>
            </a:r>
            <a:endParaRPr lang="en-US" sz="950" dirty="0"/>
          </a:p>
        </p:txBody>
      </p:sp>
      <p:sp>
        <p:nvSpPr>
          <p:cNvPr id="20" name="Shape 18"/>
          <p:cNvSpPr/>
          <p:nvPr/>
        </p:nvSpPr>
        <p:spPr>
          <a:xfrm>
            <a:off x="6217920" y="2752344"/>
            <a:ext cx="5440680" cy="1115568"/>
          </a:xfrm>
          <a:prstGeom prst="roundRect">
            <a:avLst>
              <a:gd name="adj" fmla="val 5738"/>
            </a:avLst>
          </a:prstGeom>
          <a:solidFill>
            <a:srgbClr val="F4F7FA"/>
          </a:solidFill>
          <a:ln w="12700">
            <a:solidFill>
              <a:srgbClr val="DCE5EE"/>
            </a:solidFill>
            <a:prstDash val="solid"/>
          </a:ln>
        </p:spPr>
      </p:sp>
      <p:sp>
        <p:nvSpPr>
          <p:cNvPr id="21" name="Shape 19"/>
          <p:cNvSpPr/>
          <p:nvPr/>
        </p:nvSpPr>
        <p:spPr>
          <a:xfrm>
            <a:off x="6364224" y="2898648"/>
            <a:ext cx="310896" cy="310896"/>
          </a:xfrm>
          <a:prstGeom prst="ellipse">
            <a:avLst/>
          </a:prstGeom>
          <a:solidFill>
            <a:srgbClr val="2E8B57"/>
          </a:solidFill>
          <a:ln/>
        </p:spPr>
      </p:sp>
      <p:sp>
        <p:nvSpPr>
          <p:cNvPr id="22" name="Text 20"/>
          <p:cNvSpPr txBox="1"/>
          <p:nvPr/>
        </p:nvSpPr>
        <p:spPr>
          <a:xfrm>
            <a:off x="6364224" y="289864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3" name="Text 21"/>
          <p:cNvSpPr txBox="1"/>
          <p:nvPr/>
        </p:nvSpPr>
        <p:spPr>
          <a:xfrm>
            <a:off x="6766560" y="2871216"/>
            <a:ext cx="4754880" cy="274320"/>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Consent with versioned text</a:t>
            </a:r>
            <a:endParaRPr lang="en-US" sz="1200" dirty="0"/>
          </a:p>
        </p:txBody>
      </p:sp>
      <p:sp>
        <p:nvSpPr>
          <p:cNvPr id="24" name="Text 22"/>
          <p:cNvSpPr txBox="1"/>
          <p:nvPr/>
        </p:nvSpPr>
        <p:spPr>
          <a:xfrm>
            <a:off x="6766560" y="3154680"/>
            <a:ext cx="4754880" cy="640080"/>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Timestamp, source and consent_text_version. Opt-out in every marketing message.</a:t>
            </a:r>
            <a:endParaRPr lang="en-US" sz="950" dirty="0"/>
          </a:p>
        </p:txBody>
      </p:sp>
      <p:sp>
        <p:nvSpPr>
          <p:cNvPr id="25" name="Shape 23"/>
          <p:cNvSpPr/>
          <p:nvPr/>
        </p:nvSpPr>
        <p:spPr>
          <a:xfrm>
            <a:off x="548640" y="3986784"/>
            <a:ext cx="5440680" cy="1115568"/>
          </a:xfrm>
          <a:prstGeom prst="roundRect">
            <a:avLst>
              <a:gd name="adj" fmla="val 5738"/>
            </a:avLst>
          </a:prstGeom>
          <a:solidFill>
            <a:srgbClr val="FFFFFF"/>
          </a:solidFill>
          <a:ln w="12700">
            <a:solidFill>
              <a:srgbClr val="DCE5EE"/>
            </a:solidFill>
            <a:prstDash val="solid"/>
          </a:ln>
        </p:spPr>
      </p:sp>
      <p:sp>
        <p:nvSpPr>
          <p:cNvPr id="26" name="Shape 24"/>
          <p:cNvSpPr/>
          <p:nvPr/>
        </p:nvSpPr>
        <p:spPr>
          <a:xfrm>
            <a:off x="694944" y="4133088"/>
            <a:ext cx="310896" cy="310896"/>
          </a:xfrm>
          <a:prstGeom prst="ellipse">
            <a:avLst/>
          </a:prstGeom>
          <a:solidFill>
            <a:srgbClr val="2E8B57"/>
          </a:solidFill>
          <a:ln/>
        </p:spPr>
      </p:sp>
      <p:sp>
        <p:nvSpPr>
          <p:cNvPr id="27" name="Text 25"/>
          <p:cNvSpPr txBox="1"/>
          <p:nvPr/>
        </p:nvSpPr>
        <p:spPr>
          <a:xfrm>
            <a:off x="694944" y="413308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8" name="Text 26"/>
          <p:cNvSpPr txBox="1"/>
          <p:nvPr/>
        </p:nvSpPr>
        <p:spPr>
          <a:xfrm>
            <a:off x="1097280" y="4105656"/>
            <a:ext cx="4754880" cy="274320"/>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Tenant-level region</a:t>
            </a:r>
            <a:endParaRPr lang="en-US" sz="1200" dirty="0"/>
          </a:p>
        </p:txBody>
      </p:sp>
      <p:sp>
        <p:nvSpPr>
          <p:cNvPr id="29" name="Text 27"/>
          <p:cNvSpPr txBox="1"/>
          <p:nvPr/>
        </p:nvSpPr>
        <p:spPr>
          <a:xfrm>
            <a:off x="1097280" y="4389120"/>
            <a:ext cx="4754880" cy="640080"/>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Decided at provisioning, not changeable later without a migration. EU data stays in the EU.</a:t>
            </a:r>
            <a:endParaRPr lang="en-US" sz="950" dirty="0"/>
          </a:p>
        </p:txBody>
      </p:sp>
      <p:sp>
        <p:nvSpPr>
          <p:cNvPr id="30" name="Shape 28"/>
          <p:cNvSpPr/>
          <p:nvPr/>
        </p:nvSpPr>
        <p:spPr>
          <a:xfrm>
            <a:off x="6217920" y="3986784"/>
            <a:ext cx="5440680" cy="1115568"/>
          </a:xfrm>
          <a:prstGeom prst="roundRect">
            <a:avLst>
              <a:gd name="adj" fmla="val 5738"/>
            </a:avLst>
          </a:prstGeom>
          <a:solidFill>
            <a:srgbClr val="FFFFFF"/>
          </a:solidFill>
          <a:ln w="12700">
            <a:solidFill>
              <a:srgbClr val="DCE5EE"/>
            </a:solidFill>
            <a:prstDash val="solid"/>
          </a:ln>
        </p:spPr>
      </p:sp>
      <p:sp>
        <p:nvSpPr>
          <p:cNvPr id="31" name="Shape 29"/>
          <p:cNvSpPr/>
          <p:nvPr/>
        </p:nvSpPr>
        <p:spPr>
          <a:xfrm>
            <a:off x="6364224" y="4133088"/>
            <a:ext cx="310896" cy="310896"/>
          </a:xfrm>
          <a:prstGeom prst="ellipse">
            <a:avLst/>
          </a:prstGeom>
          <a:solidFill>
            <a:srgbClr val="2E8B57"/>
          </a:solidFill>
          <a:ln/>
        </p:spPr>
      </p:sp>
      <p:sp>
        <p:nvSpPr>
          <p:cNvPr id="32" name="Text 30"/>
          <p:cNvSpPr txBox="1"/>
          <p:nvPr/>
        </p:nvSpPr>
        <p:spPr>
          <a:xfrm>
            <a:off x="6364224" y="413308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3" name="Text 31"/>
          <p:cNvSpPr txBox="1"/>
          <p:nvPr/>
        </p:nvSpPr>
        <p:spPr>
          <a:xfrm>
            <a:off x="6766560" y="4105656"/>
            <a:ext cx="4754880" cy="274320"/>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Data subject rights as endpoints</a:t>
            </a:r>
            <a:endParaRPr lang="en-US" sz="1200" dirty="0"/>
          </a:p>
        </p:txBody>
      </p:sp>
      <p:sp>
        <p:nvSpPr>
          <p:cNvPr id="34" name="Text 32"/>
          <p:cNvSpPr txBox="1"/>
          <p:nvPr/>
        </p:nvSpPr>
        <p:spPr>
          <a:xfrm>
            <a:off x="6766560" y="4389120"/>
            <a:ext cx="4754880" cy="640080"/>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Export, erase, rectify, object-to-profiling, and request human review. Working functionality, not policy text.</a:t>
            </a:r>
            <a:endParaRPr lang="en-US" sz="950" dirty="0"/>
          </a:p>
        </p:txBody>
      </p:sp>
      <p:sp>
        <p:nvSpPr>
          <p:cNvPr id="35" name="Shape 33"/>
          <p:cNvSpPr/>
          <p:nvPr/>
        </p:nvSpPr>
        <p:spPr>
          <a:xfrm>
            <a:off x="548640" y="6053328"/>
            <a:ext cx="11064240" cy="566928"/>
          </a:xfrm>
          <a:prstGeom prst="roundRect">
            <a:avLst>
              <a:gd name="adj" fmla="val 11290"/>
            </a:avLst>
          </a:prstGeom>
          <a:solidFill>
            <a:srgbClr val="21295C"/>
          </a:solidFill>
          <a:ln/>
        </p:spPr>
      </p:sp>
      <p:sp>
        <p:nvSpPr>
          <p:cNvPr id="36" name="Text 34"/>
          <p:cNvSpPr txBox="1"/>
          <p:nvPr/>
        </p:nvSpPr>
        <p:spPr>
          <a:xfrm>
            <a:off x="777240" y="6053328"/>
            <a:ext cx="10607040" cy="56692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AN OPPORTUNITY WE ARE NOT USING:  AI disclosure has been enforceable since 2 Aug 2026 with penalties to €15m or 3% of turnover, and research found very little evidence of vendors doing it visibly. We built it and did not market it.</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STACK</a:t>
            </a:r>
            <a:endParaRPr lang="en-US" sz="1050" dirty="0"/>
          </a:p>
        </p:txBody>
      </p:sp>
      <p:sp>
        <p:nvSpPr>
          <p:cNvPr id="3" name="Text 1"/>
          <p:cNvSpPr txBox="1"/>
          <p:nvPr/>
        </p:nvSpPr>
        <p:spPr>
          <a:xfrm>
            <a:off x="548640" y="512064"/>
            <a:ext cx="11064240" cy="566928"/>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Technology stack</a:t>
            </a:r>
            <a:endParaRPr lang="en-US" sz="2800" dirty="0"/>
          </a:p>
        </p:txBody>
      </p:sp>
      <p:sp>
        <p:nvSpPr>
          <p:cNvPr id="4" name="Shape 2"/>
          <p:cNvSpPr/>
          <p:nvPr/>
        </p:nvSpPr>
        <p:spPr>
          <a:xfrm>
            <a:off x="548640" y="1170432"/>
            <a:ext cx="11064240" cy="356616"/>
          </a:xfrm>
          <a:prstGeom prst="roundRect">
            <a:avLst>
              <a:gd name="adj" fmla="val 17949"/>
            </a:avLst>
          </a:prstGeom>
          <a:solidFill>
            <a:srgbClr val="FFFFFF"/>
          </a:solidFill>
          <a:ln/>
        </p:spPr>
      </p:sp>
      <p:sp>
        <p:nvSpPr>
          <p:cNvPr id="5" name="Text 3"/>
          <p:cNvSpPr txBox="1"/>
          <p:nvPr/>
        </p:nvSpPr>
        <p:spPr>
          <a:xfrm>
            <a:off x="731520" y="1207008"/>
            <a:ext cx="2103120" cy="283464"/>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Frontend</a:t>
            </a:r>
            <a:endParaRPr lang="en-US" sz="1100" dirty="0"/>
          </a:p>
        </p:txBody>
      </p:sp>
      <p:sp>
        <p:nvSpPr>
          <p:cNvPr id="6" name="Text 4"/>
          <p:cNvSpPr txBox="1"/>
          <p:nvPr/>
        </p:nvSpPr>
        <p:spPr>
          <a:xfrm>
            <a:off x="2926080" y="1207008"/>
            <a:ext cx="3931920" cy="283464"/>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Next.js + Tailwind on Vercel</a:t>
            </a:r>
            <a:endParaRPr lang="en-US" sz="1050" dirty="0"/>
          </a:p>
        </p:txBody>
      </p:sp>
      <p:sp>
        <p:nvSpPr>
          <p:cNvPr id="7" name="Text 5"/>
          <p:cNvSpPr txBox="1"/>
          <p:nvPr/>
        </p:nvSpPr>
        <p:spPr>
          <a:xfrm>
            <a:off x="6949440" y="1207008"/>
            <a:ext cx="4480560" cy="283464"/>
          </a:xfrm>
          <a:prstGeom prst="rect">
            <a:avLst/>
          </a:prstGeom>
          <a:noFill/>
          <a:ln/>
        </p:spPr>
        <p:txBody>
          <a:bodyPr wrap="square" lIns="0" tIns="0" rIns="0" bIns="0" rtlCol="0" anchor="ctr"/>
          <a:lstStyle/>
          <a:p>
            <a:pPr indent="0" marL="0">
              <a:buNone/>
            </a:pPr>
            <a:r>
              <a:rPr lang="en-US" sz="900" i="1" dirty="0">
                <a:solidFill>
                  <a:srgbClr val="5A6B7B"/>
                </a:solidFill>
                <a:latin typeface="Calibri" pitchFamily="34" charset="0"/>
                <a:ea typeface="Calibri" pitchFamily="34" charset="-122"/>
                <a:cs typeface="Calibri" pitchFamily="34" charset="-120"/>
              </a:rPr>
              <a:t>Mobile web is first-class; owner's slow job is desktop</a:t>
            </a:r>
            <a:endParaRPr lang="en-US" sz="900" dirty="0"/>
          </a:p>
        </p:txBody>
      </p:sp>
      <p:sp>
        <p:nvSpPr>
          <p:cNvPr id="8" name="Shape 6"/>
          <p:cNvSpPr/>
          <p:nvPr/>
        </p:nvSpPr>
        <p:spPr>
          <a:xfrm>
            <a:off x="548640" y="1572768"/>
            <a:ext cx="11064240" cy="356616"/>
          </a:xfrm>
          <a:prstGeom prst="roundRect">
            <a:avLst>
              <a:gd name="adj" fmla="val 17949"/>
            </a:avLst>
          </a:prstGeom>
          <a:solidFill>
            <a:srgbClr val="F4F7FA"/>
          </a:solidFill>
          <a:ln/>
        </p:spPr>
      </p:sp>
      <p:sp>
        <p:nvSpPr>
          <p:cNvPr id="9" name="Text 7"/>
          <p:cNvSpPr txBox="1"/>
          <p:nvPr/>
        </p:nvSpPr>
        <p:spPr>
          <a:xfrm>
            <a:off x="731520" y="1609344"/>
            <a:ext cx="2103120" cy="283464"/>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Backend</a:t>
            </a:r>
            <a:endParaRPr lang="en-US" sz="1100" dirty="0"/>
          </a:p>
        </p:txBody>
      </p:sp>
      <p:sp>
        <p:nvSpPr>
          <p:cNvPr id="10" name="Text 8"/>
          <p:cNvSpPr txBox="1"/>
          <p:nvPr/>
        </p:nvSpPr>
        <p:spPr>
          <a:xfrm>
            <a:off x="2926080" y="1609344"/>
            <a:ext cx="3931920" cy="283464"/>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Python 3.12 + FastAPI</a:t>
            </a:r>
            <a:endParaRPr lang="en-US" sz="1050" dirty="0"/>
          </a:p>
        </p:txBody>
      </p:sp>
      <p:sp>
        <p:nvSpPr>
          <p:cNvPr id="11" name="Text 9"/>
          <p:cNvSpPr txBox="1"/>
          <p:nvPr/>
        </p:nvSpPr>
        <p:spPr>
          <a:xfrm>
            <a:off x="6949440" y="1609344"/>
            <a:ext cx="4480560" cy="283464"/>
          </a:xfrm>
          <a:prstGeom prst="rect">
            <a:avLst/>
          </a:prstGeom>
          <a:noFill/>
          <a:ln/>
        </p:spPr>
        <p:txBody>
          <a:bodyPr wrap="square" lIns="0" tIns="0" rIns="0" bIns="0" rtlCol="0" anchor="ctr"/>
          <a:lstStyle/>
          <a:p>
            <a:pPr indent="0" marL="0">
              <a:buNone/>
            </a:pPr>
            <a:r>
              <a:rPr lang="en-US" sz="900" i="1" dirty="0">
                <a:solidFill>
                  <a:srgbClr val="5A6B7B"/>
                </a:solidFill>
                <a:latin typeface="Calibri" pitchFamily="34" charset="0"/>
                <a:ea typeface="Calibri" pitchFamily="34" charset="-122"/>
                <a:cs typeface="Calibri" pitchFamily="34" charset="-120"/>
              </a:rPr>
              <a:t>Stateless, one deployable</a:t>
            </a:r>
            <a:endParaRPr lang="en-US" sz="900" dirty="0"/>
          </a:p>
        </p:txBody>
      </p:sp>
      <p:sp>
        <p:nvSpPr>
          <p:cNvPr id="12" name="Shape 10"/>
          <p:cNvSpPr/>
          <p:nvPr/>
        </p:nvSpPr>
        <p:spPr>
          <a:xfrm>
            <a:off x="548640" y="1975104"/>
            <a:ext cx="11064240" cy="356616"/>
          </a:xfrm>
          <a:prstGeom prst="roundRect">
            <a:avLst>
              <a:gd name="adj" fmla="val 17949"/>
            </a:avLst>
          </a:prstGeom>
          <a:solidFill>
            <a:srgbClr val="FFFFFF"/>
          </a:solidFill>
          <a:ln/>
        </p:spPr>
      </p:sp>
      <p:sp>
        <p:nvSpPr>
          <p:cNvPr id="13" name="Text 11"/>
          <p:cNvSpPr txBox="1"/>
          <p:nvPr/>
        </p:nvSpPr>
        <p:spPr>
          <a:xfrm>
            <a:off x="731520" y="2011680"/>
            <a:ext cx="2103120" cy="283464"/>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ORM / migrations</a:t>
            </a:r>
            <a:endParaRPr lang="en-US" sz="1100" dirty="0"/>
          </a:p>
        </p:txBody>
      </p:sp>
      <p:sp>
        <p:nvSpPr>
          <p:cNvPr id="14" name="Text 12"/>
          <p:cNvSpPr txBox="1"/>
          <p:nvPr/>
        </p:nvSpPr>
        <p:spPr>
          <a:xfrm>
            <a:off x="2926080" y="2011680"/>
            <a:ext cx="3931920" cy="283464"/>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SQLAlchemy 2.0 + Alembic</a:t>
            </a:r>
            <a:endParaRPr lang="en-US" sz="1050" dirty="0"/>
          </a:p>
        </p:txBody>
      </p:sp>
      <p:sp>
        <p:nvSpPr>
          <p:cNvPr id="15" name="Text 13"/>
          <p:cNvSpPr txBox="1"/>
          <p:nvPr/>
        </p:nvSpPr>
        <p:spPr>
          <a:xfrm>
            <a:off x="6949440" y="2011680"/>
            <a:ext cx="4480560" cy="283464"/>
          </a:xfrm>
          <a:prstGeom prst="rect">
            <a:avLst/>
          </a:prstGeom>
          <a:noFill/>
          <a:ln/>
        </p:spPr>
        <p:txBody>
          <a:bodyPr wrap="square" lIns="0" tIns="0" rIns="0" bIns="0" rtlCol="0" anchor="ctr"/>
          <a:lstStyle/>
          <a:p>
            <a:pPr indent="0" marL="0">
              <a:buNone/>
            </a:pPr>
            <a:r>
              <a:rPr lang="en-US" sz="900" i="1" dirty="0">
                <a:solidFill>
                  <a:srgbClr val="5A6B7B"/>
                </a:solidFill>
                <a:latin typeface="Calibri" pitchFamily="34" charset="0"/>
                <a:ea typeface="Calibri" pitchFamily="34" charset="-122"/>
                <a:cs typeface="Calibri" pitchFamily="34" charset="-120"/>
              </a:rPr>
              <a:t>Non-negotiable for an evolving multi-tenant schema</a:t>
            </a:r>
            <a:endParaRPr lang="en-US" sz="900" dirty="0"/>
          </a:p>
        </p:txBody>
      </p:sp>
      <p:sp>
        <p:nvSpPr>
          <p:cNvPr id="16" name="Shape 14"/>
          <p:cNvSpPr/>
          <p:nvPr/>
        </p:nvSpPr>
        <p:spPr>
          <a:xfrm>
            <a:off x="548640" y="2377440"/>
            <a:ext cx="11064240" cy="356616"/>
          </a:xfrm>
          <a:prstGeom prst="roundRect">
            <a:avLst>
              <a:gd name="adj" fmla="val 17949"/>
            </a:avLst>
          </a:prstGeom>
          <a:solidFill>
            <a:srgbClr val="F4F7FA"/>
          </a:solidFill>
          <a:ln/>
        </p:spPr>
      </p:sp>
      <p:sp>
        <p:nvSpPr>
          <p:cNvPr id="17" name="Text 15"/>
          <p:cNvSpPr txBox="1"/>
          <p:nvPr/>
        </p:nvSpPr>
        <p:spPr>
          <a:xfrm>
            <a:off x="731520" y="2414016"/>
            <a:ext cx="2103120" cy="283464"/>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Database</a:t>
            </a:r>
            <a:endParaRPr lang="en-US" sz="1100" dirty="0"/>
          </a:p>
        </p:txBody>
      </p:sp>
      <p:sp>
        <p:nvSpPr>
          <p:cNvPr id="18" name="Text 16"/>
          <p:cNvSpPr txBox="1"/>
          <p:nvPr/>
        </p:nvSpPr>
        <p:spPr>
          <a:xfrm>
            <a:off x="2926080" y="2414016"/>
            <a:ext cx="3931920" cy="283464"/>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PostgreSQL + row-level security</a:t>
            </a:r>
            <a:endParaRPr lang="en-US" sz="1050" dirty="0"/>
          </a:p>
        </p:txBody>
      </p:sp>
      <p:sp>
        <p:nvSpPr>
          <p:cNvPr id="19" name="Text 17"/>
          <p:cNvSpPr txBox="1"/>
          <p:nvPr/>
        </p:nvSpPr>
        <p:spPr>
          <a:xfrm>
            <a:off x="6949440" y="2414016"/>
            <a:ext cx="4480560" cy="283464"/>
          </a:xfrm>
          <a:prstGeom prst="rect">
            <a:avLst/>
          </a:prstGeom>
          <a:noFill/>
          <a:ln/>
        </p:spPr>
        <p:txBody>
          <a:bodyPr wrap="square" lIns="0" tIns="0" rIns="0" bIns="0" rtlCol="0" anchor="ctr"/>
          <a:lstStyle/>
          <a:p>
            <a:pPr indent="0" marL="0">
              <a:buNone/>
            </a:pPr>
            <a:r>
              <a:rPr lang="en-US" sz="900" i="1" dirty="0">
                <a:solidFill>
                  <a:srgbClr val="5A6B7B"/>
                </a:solidFill>
                <a:latin typeface="Calibri" pitchFamily="34" charset="0"/>
                <a:ea typeface="Calibri" pitchFamily="34" charset="-122"/>
                <a:cs typeface="Calibri" pitchFamily="34" charset="-120"/>
              </a:rPr>
              <a:t>jsonb for flexible fields; RLS as the backstop</a:t>
            </a:r>
            <a:endParaRPr lang="en-US" sz="900" dirty="0"/>
          </a:p>
        </p:txBody>
      </p:sp>
      <p:sp>
        <p:nvSpPr>
          <p:cNvPr id="20" name="Shape 18"/>
          <p:cNvSpPr/>
          <p:nvPr/>
        </p:nvSpPr>
        <p:spPr>
          <a:xfrm>
            <a:off x="548640" y="2779776"/>
            <a:ext cx="11064240" cy="356616"/>
          </a:xfrm>
          <a:prstGeom prst="roundRect">
            <a:avLst>
              <a:gd name="adj" fmla="val 17949"/>
            </a:avLst>
          </a:prstGeom>
          <a:solidFill>
            <a:srgbClr val="FFFFFF"/>
          </a:solidFill>
          <a:ln/>
        </p:spPr>
      </p:sp>
      <p:sp>
        <p:nvSpPr>
          <p:cNvPr id="21" name="Text 19"/>
          <p:cNvSpPr txBox="1"/>
          <p:nvPr/>
        </p:nvSpPr>
        <p:spPr>
          <a:xfrm>
            <a:off x="731520" y="2816352"/>
            <a:ext cx="2103120" cy="283464"/>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Cache / broker</a:t>
            </a:r>
            <a:endParaRPr lang="en-US" sz="1100" dirty="0"/>
          </a:p>
        </p:txBody>
      </p:sp>
      <p:sp>
        <p:nvSpPr>
          <p:cNvPr id="22" name="Text 20"/>
          <p:cNvSpPr txBox="1"/>
          <p:nvPr/>
        </p:nvSpPr>
        <p:spPr>
          <a:xfrm>
            <a:off x="2926080" y="2816352"/>
            <a:ext cx="3931920" cy="283464"/>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Redis</a:t>
            </a:r>
            <a:endParaRPr lang="en-US" sz="1050" dirty="0"/>
          </a:p>
        </p:txBody>
      </p:sp>
      <p:sp>
        <p:nvSpPr>
          <p:cNvPr id="23" name="Text 21"/>
          <p:cNvSpPr txBox="1"/>
          <p:nvPr/>
        </p:nvSpPr>
        <p:spPr>
          <a:xfrm>
            <a:off x="6949440" y="2816352"/>
            <a:ext cx="4480560" cy="283464"/>
          </a:xfrm>
          <a:prstGeom prst="rect">
            <a:avLst/>
          </a:prstGeom>
          <a:noFill/>
          <a:ln/>
        </p:spPr>
        <p:txBody>
          <a:bodyPr wrap="square" lIns="0" tIns="0" rIns="0" bIns="0" rtlCol="0" anchor="ctr"/>
          <a:lstStyle/>
          <a:p>
            <a:pPr indent="0" marL="0">
              <a:buNone/>
            </a:pPr>
            <a:r>
              <a:rPr lang="en-US" sz="900" i="1" dirty="0">
                <a:solidFill>
                  <a:srgbClr val="5A6B7B"/>
                </a:solidFill>
                <a:latin typeface="Calibri" pitchFamily="34" charset="0"/>
                <a:ea typeface="Calibri" pitchFamily="34" charset="-122"/>
                <a:cs typeface="Calibri" pitchFamily="34" charset="-120"/>
              </a:rPr>
              <a:t>Hot conversation window, rate-limit counters, Celery broker</a:t>
            </a:r>
            <a:endParaRPr lang="en-US" sz="900" dirty="0"/>
          </a:p>
        </p:txBody>
      </p:sp>
      <p:sp>
        <p:nvSpPr>
          <p:cNvPr id="24" name="Shape 22"/>
          <p:cNvSpPr/>
          <p:nvPr/>
        </p:nvSpPr>
        <p:spPr>
          <a:xfrm>
            <a:off x="548640" y="3182112"/>
            <a:ext cx="11064240" cy="356616"/>
          </a:xfrm>
          <a:prstGeom prst="roundRect">
            <a:avLst>
              <a:gd name="adj" fmla="val 17949"/>
            </a:avLst>
          </a:prstGeom>
          <a:solidFill>
            <a:srgbClr val="F4F7FA"/>
          </a:solidFill>
          <a:ln/>
        </p:spPr>
      </p:sp>
      <p:sp>
        <p:nvSpPr>
          <p:cNvPr id="25" name="Text 23"/>
          <p:cNvSpPr txBox="1"/>
          <p:nvPr/>
        </p:nvSpPr>
        <p:spPr>
          <a:xfrm>
            <a:off x="731520" y="3218688"/>
            <a:ext cx="2103120" cy="283464"/>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Async</a:t>
            </a:r>
            <a:endParaRPr lang="en-US" sz="1100" dirty="0"/>
          </a:p>
        </p:txBody>
      </p:sp>
      <p:sp>
        <p:nvSpPr>
          <p:cNvPr id="26" name="Text 24"/>
          <p:cNvSpPr txBox="1"/>
          <p:nvPr/>
        </p:nvSpPr>
        <p:spPr>
          <a:xfrm>
            <a:off x="2926080" y="3218688"/>
            <a:ext cx="3931920" cy="283464"/>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Celery + Celery Beat</a:t>
            </a:r>
            <a:endParaRPr lang="en-US" sz="1050" dirty="0"/>
          </a:p>
        </p:txBody>
      </p:sp>
      <p:sp>
        <p:nvSpPr>
          <p:cNvPr id="27" name="Text 25"/>
          <p:cNvSpPr txBox="1"/>
          <p:nvPr/>
        </p:nvSpPr>
        <p:spPr>
          <a:xfrm>
            <a:off x="6949440" y="3218688"/>
            <a:ext cx="4480560" cy="283464"/>
          </a:xfrm>
          <a:prstGeom prst="rect">
            <a:avLst/>
          </a:prstGeom>
          <a:noFill/>
          <a:ln/>
        </p:spPr>
        <p:txBody>
          <a:bodyPr wrap="square" lIns="0" tIns="0" rIns="0" bIns="0" rtlCol="0" anchor="ctr"/>
          <a:lstStyle/>
          <a:p>
            <a:pPr indent="0" marL="0">
              <a:buNone/>
            </a:pPr>
            <a:r>
              <a:rPr lang="en-US" sz="900" i="1" dirty="0">
                <a:solidFill>
                  <a:srgbClr val="5A6B7B"/>
                </a:solidFill>
                <a:latin typeface="Calibri" pitchFamily="34" charset="0"/>
                <a:ea typeface="Calibri" pitchFamily="34" charset="-122"/>
                <a:cs typeface="Calibri" pitchFamily="34" charset="-120"/>
              </a:rPr>
              <a:t>Four queues split by workload class</a:t>
            </a:r>
            <a:endParaRPr lang="en-US" sz="900" dirty="0"/>
          </a:p>
        </p:txBody>
      </p:sp>
      <p:sp>
        <p:nvSpPr>
          <p:cNvPr id="28" name="Shape 26"/>
          <p:cNvSpPr/>
          <p:nvPr/>
        </p:nvSpPr>
        <p:spPr>
          <a:xfrm>
            <a:off x="548640" y="3584448"/>
            <a:ext cx="11064240" cy="356616"/>
          </a:xfrm>
          <a:prstGeom prst="roundRect">
            <a:avLst>
              <a:gd name="adj" fmla="val 17949"/>
            </a:avLst>
          </a:prstGeom>
          <a:solidFill>
            <a:srgbClr val="FFFFFF"/>
          </a:solidFill>
          <a:ln/>
        </p:spPr>
      </p:sp>
      <p:sp>
        <p:nvSpPr>
          <p:cNvPr id="29" name="Text 27"/>
          <p:cNvSpPr txBox="1"/>
          <p:nvPr/>
        </p:nvSpPr>
        <p:spPr>
          <a:xfrm>
            <a:off x="731520" y="3621024"/>
            <a:ext cx="2103120" cy="283464"/>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LLM</a:t>
            </a:r>
            <a:endParaRPr lang="en-US" sz="1100" dirty="0"/>
          </a:p>
        </p:txBody>
      </p:sp>
      <p:sp>
        <p:nvSpPr>
          <p:cNvPr id="30" name="Text 28"/>
          <p:cNvSpPr txBox="1"/>
          <p:nvPr/>
        </p:nvSpPr>
        <p:spPr>
          <a:xfrm>
            <a:off x="2926080" y="3621024"/>
            <a:ext cx="3931920" cy="283464"/>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Direct SDK calls + typed structured output</a:t>
            </a:r>
            <a:endParaRPr lang="en-US" sz="1050" dirty="0"/>
          </a:p>
        </p:txBody>
      </p:sp>
      <p:sp>
        <p:nvSpPr>
          <p:cNvPr id="31" name="Text 29"/>
          <p:cNvSpPr txBox="1"/>
          <p:nvPr/>
        </p:nvSpPr>
        <p:spPr>
          <a:xfrm>
            <a:off x="6949440" y="3621024"/>
            <a:ext cx="4480560" cy="283464"/>
          </a:xfrm>
          <a:prstGeom prst="rect">
            <a:avLst/>
          </a:prstGeom>
          <a:noFill/>
          <a:ln/>
        </p:spPr>
        <p:txBody>
          <a:bodyPr wrap="square" lIns="0" tIns="0" rIns="0" bIns="0" rtlCol="0" anchor="ctr"/>
          <a:lstStyle/>
          <a:p>
            <a:pPr indent="0" marL="0">
              <a:buNone/>
            </a:pPr>
            <a:r>
              <a:rPr lang="en-US" sz="900" i="1" dirty="0">
                <a:solidFill>
                  <a:srgbClr val="5A6B7B"/>
                </a:solidFill>
                <a:latin typeface="Calibri" pitchFamily="34" charset="0"/>
                <a:ea typeface="Calibri" pitchFamily="34" charset="-122"/>
                <a:cs typeface="Calibri" pitchFamily="34" charset="-120"/>
              </a:rPr>
              <a:t>NO LangChain in the core path - see why below</a:t>
            </a:r>
            <a:endParaRPr lang="en-US" sz="900" dirty="0"/>
          </a:p>
        </p:txBody>
      </p:sp>
      <p:sp>
        <p:nvSpPr>
          <p:cNvPr id="32" name="Shape 30"/>
          <p:cNvSpPr/>
          <p:nvPr/>
        </p:nvSpPr>
        <p:spPr>
          <a:xfrm>
            <a:off x="548640" y="3986784"/>
            <a:ext cx="11064240" cy="356616"/>
          </a:xfrm>
          <a:prstGeom prst="roundRect">
            <a:avLst>
              <a:gd name="adj" fmla="val 17949"/>
            </a:avLst>
          </a:prstGeom>
          <a:solidFill>
            <a:srgbClr val="F4F7FA"/>
          </a:solidFill>
          <a:ln/>
        </p:spPr>
      </p:sp>
      <p:sp>
        <p:nvSpPr>
          <p:cNvPr id="33" name="Text 31"/>
          <p:cNvSpPr txBox="1"/>
          <p:nvPr/>
        </p:nvSpPr>
        <p:spPr>
          <a:xfrm>
            <a:off x="731520" y="4023360"/>
            <a:ext cx="2103120" cy="283464"/>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ML</a:t>
            </a:r>
            <a:endParaRPr lang="en-US" sz="1100" dirty="0"/>
          </a:p>
        </p:txBody>
      </p:sp>
      <p:sp>
        <p:nvSpPr>
          <p:cNvPr id="34" name="Text 32"/>
          <p:cNvSpPr txBox="1"/>
          <p:nvPr/>
        </p:nvSpPr>
        <p:spPr>
          <a:xfrm>
            <a:off x="2926080" y="4023360"/>
            <a:ext cx="3931920" cy="283464"/>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scikit-learn</a:t>
            </a:r>
            <a:endParaRPr lang="en-US" sz="1050" dirty="0"/>
          </a:p>
        </p:txBody>
      </p:sp>
      <p:sp>
        <p:nvSpPr>
          <p:cNvPr id="35" name="Text 33"/>
          <p:cNvSpPr txBox="1"/>
          <p:nvPr/>
        </p:nvSpPr>
        <p:spPr>
          <a:xfrm>
            <a:off x="6949440" y="4023360"/>
            <a:ext cx="4480560" cy="283464"/>
          </a:xfrm>
          <a:prstGeom prst="rect">
            <a:avLst/>
          </a:prstGeom>
          <a:noFill/>
          <a:ln/>
        </p:spPr>
        <p:txBody>
          <a:bodyPr wrap="square" lIns="0" tIns="0" rIns="0" bIns="0" rtlCol="0" anchor="ctr"/>
          <a:lstStyle/>
          <a:p>
            <a:pPr indent="0" marL="0">
              <a:buNone/>
            </a:pPr>
            <a:r>
              <a:rPr lang="en-US" sz="900" i="1" dirty="0">
                <a:solidFill>
                  <a:srgbClr val="5A6B7B"/>
                </a:solidFill>
                <a:latin typeface="Calibri" pitchFamily="34" charset="0"/>
                <a:ea typeface="Calibri" pitchFamily="34" charset="-122"/>
                <a:cs typeface="Calibri" pitchFamily="34" charset="-120"/>
              </a:rPr>
              <a:t>Lead scoring, later propensity</a:t>
            </a:r>
            <a:endParaRPr lang="en-US" sz="900" dirty="0"/>
          </a:p>
        </p:txBody>
      </p:sp>
      <p:sp>
        <p:nvSpPr>
          <p:cNvPr id="36" name="Shape 34"/>
          <p:cNvSpPr/>
          <p:nvPr/>
        </p:nvSpPr>
        <p:spPr>
          <a:xfrm>
            <a:off x="548640" y="4389120"/>
            <a:ext cx="11064240" cy="356616"/>
          </a:xfrm>
          <a:prstGeom prst="roundRect">
            <a:avLst>
              <a:gd name="adj" fmla="val 17949"/>
            </a:avLst>
          </a:prstGeom>
          <a:solidFill>
            <a:srgbClr val="FFFFFF"/>
          </a:solidFill>
          <a:ln/>
        </p:spPr>
      </p:sp>
      <p:sp>
        <p:nvSpPr>
          <p:cNvPr id="37" name="Text 35"/>
          <p:cNvSpPr txBox="1"/>
          <p:nvPr/>
        </p:nvSpPr>
        <p:spPr>
          <a:xfrm>
            <a:off x="731520" y="4425696"/>
            <a:ext cx="2103120" cy="283464"/>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Search</a:t>
            </a:r>
            <a:endParaRPr lang="en-US" sz="1100" dirty="0"/>
          </a:p>
        </p:txBody>
      </p:sp>
      <p:sp>
        <p:nvSpPr>
          <p:cNvPr id="38" name="Text 36"/>
          <p:cNvSpPr txBox="1"/>
          <p:nvPr/>
        </p:nvSpPr>
        <p:spPr>
          <a:xfrm>
            <a:off x="2926080" y="4425696"/>
            <a:ext cx="3931920" cy="283464"/>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Postgres full-text, then pgvector</a:t>
            </a:r>
            <a:endParaRPr lang="en-US" sz="1050" dirty="0"/>
          </a:p>
        </p:txBody>
      </p:sp>
      <p:sp>
        <p:nvSpPr>
          <p:cNvPr id="39" name="Text 37"/>
          <p:cNvSpPr txBox="1"/>
          <p:nvPr/>
        </p:nvSpPr>
        <p:spPr>
          <a:xfrm>
            <a:off x="6949440" y="4425696"/>
            <a:ext cx="4480560" cy="283464"/>
          </a:xfrm>
          <a:prstGeom prst="rect">
            <a:avLst/>
          </a:prstGeom>
          <a:noFill/>
          <a:ln/>
        </p:spPr>
        <p:txBody>
          <a:bodyPr wrap="square" lIns="0" tIns="0" rIns="0" bIns="0" rtlCol="0" anchor="ctr"/>
          <a:lstStyle/>
          <a:p>
            <a:pPr indent="0" marL="0">
              <a:buNone/>
            </a:pPr>
            <a:r>
              <a:rPr lang="en-US" sz="900" i="1" dirty="0">
                <a:solidFill>
                  <a:srgbClr val="5A6B7B"/>
                </a:solidFill>
                <a:latin typeface="Calibri" pitchFamily="34" charset="0"/>
                <a:ea typeface="Calibri" pitchFamily="34" charset="-122"/>
                <a:cs typeface="Calibri" pitchFamily="34" charset="-120"/>
              </a:rPr>
              <a:t>Avoids running a separate search service</a:t>
            </a:r>
            <a:endParaRPr lang="en-US" sz="900" dirty="0"/>
          </a:p>
        </p:txBody>
      </p:sp>
      <p:sp>
        <p:nvSpPr>
          <p:cNvPr id="40" name="Shape 38"/>
          <p:cNvSpPr/>
          <p:nvPr/>
        </p:nvSpPr>
        <p:spPr>
          <a:xfrm>
            <a:off x="548640" y="4791456"/>
            <a:ext cx="11064240" cy="356616"/>
          </a:xfrm>
          <a:prstGeom prst="roundRect">
            <a:avLst>
              <a:gd name="adj" fmla="val 17949"/>
            </a:avLst>
          </a:prstGeom>
          <a:solidFill>
            <a:srgbClr val="F4F7FA"/>
          </a:solidFill>
          <a:ln/>
        </p:spPr>
      </p:sp>
      <p:sp>
        <p:nvSpPr>
          <p:cNvPr id="41" name="Text 39"/>
          <p:cNvSpPr txBox="1"/>
          <p:nvPr/>
        </p:nvSpPr>
        <p:spPr>
          <a:xfrm>
            <a:off x="731520" y="4828032"/>
            <a:ext cx="2103120" cy="283464"/>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Channels</a:t>
            </a:r>
            <a:endParaRPr lang="en-US" sz="1100" dirty="0"/>
          </a:p>
        </p:txBody>
      </p:sp>
      <p:sp>
        <p:nvSpPr>
          <p:cNvPr id="42" name="Text 40"/>
          <p:cNvSpPr txBox="1"/>
          <p:nvPr/>
        </p:nvSpPr>
        <p:spPr>
          <a:xfrm>
            <a:off x="2926080" y="4828032"/>
            <a:ext cx="3931920" cy="283464"/>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WhatsApp Cloud API (official)</a:t>
            </a:r>
            <a:endParaRPr lang="en-US" sz="1050" dirty="0"/>
          </a:p>
        </p:txBody>
      </p:sp>
      <p:sp>
        <p:nvSpPr>
          <p:cNvPr id="43" name="Text 41"/>
          <p:cNvSpPr txBox="1"/>
          <p:nvPr/>
        </p:nvSpPr>
        <p:spPr>
          <a:xfrm>
            <a:off x="6949440" y="4828032"/>
            <a:ext cx="4480560" cy="283464"/>
          </a:xfrm>
          <a:prstGeom prst="rect">
            <a:avLst/>
          </a:prstGeom>
          <a:noFill/>
          <a:ln/>
        </p:spPr>
        <p:txBody>
          <a:bodyPr wrap="square" lIns="0" tIns="0" rIns="0" bIns="0" rtlCol="0" anchor="ctr"/>
          <a:lstStyle/>
          <a:p>
            <a:pPr indent="0" marL="0">
              <a:buNone/>
            </a:pPr>
            <a:r>
              <a:rPr lang="en-US" sz="900" i="1" dirty="0">
                <a:solidFill>
                  <a:srgbClr val="5A6B7B"/>
                </a:solidFill>
                <a:latin typeface="Calibri" pitchFamily="34" charset="0"/>
                <a:ea typeface="Calibri" pitchFamily="34" charset="-122"/>
                <a:cs typeface="Calibri" pitchFamily="34" charset="-120"/>
              </a:rPr>
              <a:t>Never WhatsApp Web automation providers</a:t>
            </a:r>
            <a:endParaRPr lang="en-US" sz="900" dirty="0"/>
          </a:p>
        </p:txBody>
      </p:sp>
      <p:sp>
        <p:nvSpPr>
          <p:cNvPr id="44" name="Shape 42"/>
          <p:cNvSpPr/>
          <p:nvPr/>
        </p:nvSpPr>
        <p:spPr>
          <a:xfrm>
            <a:off x="548640" y="5193792"/>
            <a:ext cx="11064240" cy="356616"/>
          </a:xfrm>
          <a:prstGeom prst="roundRect">
            <a:avLst>
              <a:gd name="adj" fmla="val 17949"/>
            </a:avLst>
          </a:prstGeom>
          <a:solidFill>
            <a:srgbClr val="FFFFFF"/>
          </a:solidFill>
          <a:ln/>
        </p:spPr>
      </p:sp>
      <p:sp>
        <p:nvSpPr>
          <p:cNvPr id="45" name="Text 43"/>
          <p:cNvSpPr txBox="1"/>
          <p:nvPr/>
        </p:nvSpPr>
        <p:spPr>
          <a:xfrm>
            <a:off x="731520" y="5230368"/>
            <a:ext cx="2103120" cy="283464"/>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Files</a:t>
            </a:r>
            <a:endParaRPr lang="en-US" sz="1100" dirty="0"/>
          </a:p>
        </p:txBody>
      </p:sp>
      <p:sp>
        <p:nvSpPr>
          <p:cNvPr id="46" name="Text 44"/>
          <p:cNvSpPr txBox="1"/>
          <p:nvPr/>
        </p:nvSpPr>
        <p:spPr>
          <a:xfrm>
            <a:off x="2926080" y="5230368"/>
            <a:ext cx="3931920" cy="283464"/>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S3</a:t>
            </a:r>
            <a:endParaRPr lang="en-US" sz="1050" dirty="0"/>
          </a:p>
        </p:txBody>
      </p:sp>
      <p:sp>
        <p:nvSpPr>
          <p:cNvPr id="47" name="Text 45"/>
          <p:cNvSpPr txBox="1"/>
          <p:nvPr/>
        </p:nvSpPr>
        <p:spPr>
          <a:xfrm>
            <a:off x="6949440" y="5230368"/>
            <a:ext cx="4480560" cy="283464"/>
          </a:xfrm>
          <a:prstGeom prst="rect">
            <a:avLst/>
          </a:prstGeom>
          <a:noFill/>
          <a:ln/>
        </p:spPr>
        <p:txBody>
          <a:bodyPr wrap="square" lIns="0" tIns="0" rIns="0" bIns="0" rtlCol="0" anchor="ctr"/>
          <a:lstStyle/>
          <a:p>
            <a:pPr indent="0" marL="0">
              <a:buNone/>
            </a:pPr>
            <a:r>
              <a:rPr lang="en-US" sz="900" i="1" dirty="0">
                <a:solidFill>
                  <a:srgbClr val="5A6B7B"/>
                </a:solidFill>
                <a:latin typeface="Calibri" pitchFamily="34" charset="0"/>
                <a:ea typeface="Calibri" pitchFamily="34" charset="-122"/>
                <a:cs typeface="Calibri" pitchFamily="34" charset="-120"/>
              </a:rPr>
              <a:t>Media and generated quotation PDFs</a:t>
            </a:r>
            <a:endParaRPr lang="en-US" sz="900" dirty="0"/>
          </a:p>
        </p:txBody>
      </p:sp>
      <p:sp>
        <p:nvSpPr>
          <p:cNvPr id="48" name="Shape 46"/>
          <p:cNvSpPr/>
          <p:nvPr/>
        </p:nvSpPr>
        <p:spPr>
          <a:xfrm>
            <a:off x="548640" y="5596128"/>
            <a:ext cx="11064240" cy="356616"/>
          </a:xfrm>
          <a:prstGeom prst="roundRect">
            <a:avLst>
              <a:gd name="adj" fmla="val 17949"/>
            </a:avLst>
          </a:prstGeom>
          <a:solidFill>
            <a:srgbClr val="F4F7FA"/>
          </a:solidFill>
          <a:ln/>
        </p:spPr>
      </p:sp>
      <p:sp>
        <p:nvSpPr>
          <p:cNvPr id="49" name="Text 47"/>
          <p:cNvSpPr txBox="1"/>
          <p:nvPr/>
        </p:nvSpPr>
        <p:spPr>
          <a:xfrm>
            <a:off x="731520" y="5632704"/>
            <a:ext cx="2103120" cy="283464"/>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Deploy</a:t>
            </a:r>
            <a:endParaRPr lang="en-US" sz="1100" dirty="0"/>
          </a:p>
        </p:txBody>
      </p:sp>
      <p:sp>
        <p:nvSpPr>
          <p:cNvPr id="50" name="Text 48"/>
          <p:cNvSpPr txBox="1"/>
          <p:nvPr/>
        </p:nvSpPr>
        <p:spPr>
          <a:xfrm>
            <a:off x="2926080" y="5632704"/>
            <a:ext cx="3931920" cy="283464"/>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Docker Compose on one instance</a:t>
            </a:r>
            <a:endParaRPr lang="en-US" sz="1050" dirty="0"/>
          </a:p>
        </p:txBody>
      </p:sp>
      <p:sp>
        <p:nvSpPr>
          <p:cNvPr id="51" name="Text 49"/>
          <p:cNvSpPr txBox="1"/>
          <p:nvPr/>
        </p:nvSpPr>
        <p:spPr>
          <a:xfrm>
            <a:off x="6949440" y="5632704"/>
            <a:ext cx="4480560" cy="283464"/>
          </a:xfrm>
          <a:prstGeom prst="rect">
            <a:avLst/>
          </a:prstGeom>
          <a:noFill/>
          <a:ln/>
        </p:spPr>
        <p:txBody>
          <a:bodyPr wrap="square" lIns="0" tIns="0" rIns="0" bIns="0" rtlCol="0" anchor="ctr"/>
          <a:lstStyle/>
          <a:p>
            <a:pPr indent="0" marL="0">
              <a:buNone/>
            </a:pPr>
            <a:r>
              <a:rPr lang="en-US" sz="900" i="1" dirty="0">
                <a:solidFill>
                  <a:srgbClr val="5A6B7B"/>
                </a:solidFill>
                <a:latin typeface="Calibri" pitchFamily="34" charset="0"/>
                <a:ea typeface="Calibri" pitchFamily="34" charset="-122"/>
                <a:cs typeface="Calibri" pitchFamily="34" charset="-120"/>
              </a:rPr>
              <a:t>Resist Kubernetes; path to managed containers is config</a:t>
            </a:r>
            <a:endParaRPr lang="en-US" sz="900" dirty="0"/>
          </a:p>
        </p:txBody>
      </p:sp>
      <p:sp>
        <p:nvSpPr>
          <p:cNvPr id="52" name="Shape 50"/>
          <p:cNvSpPr/>
          <p:nvPr/>
        </p:nvSpPr>
        <p:spPr>
          <a:xfrm>
            <a:off x="548640" y="6053328"/>
            <a:ext cx="11064240" cy="566928"/>
          </a:xfrm>
          <a:prstGeom prst="roundRect">
            <a:avLst>
              <a:gd name="adj" fmla="val 11290"/>
            </a:avLst>
          </a:prstGeom>
          <a:solidFill>
            <a:srgbClr val="F4F7FA"/>
          </a:solidFill>
          <a:ln w="12700">
            <a:solidFill>
              <a:srgbClr val="DCE5EE"/>
            </a:solidFill>
            <a:prstDash val="solid"/>
          </a:ln>
        </p:spPr>
      </p:sp>
      <p:sp>
        <p:nvSpPr>
          <p:cNvPr id="53" name="Text 51"/>
          <p:cNvSpPr txBox="1"/>
          <p:nvPr/>
        </p:nvSpPr>
        <p:spPr>
          <a:xfrm>
            <a:off x="777240" y="6053328"/>
            <a:ext cx="10607040" cy="566928"/>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WHY NO LANGCHAIN IN THE CORE PATH:  the pipeline is deterministic - classify, extract, decide, generate. Direct SDK calls with typed models are simpler, cheaper, faster to debug and easier to defend. Those frameworks earn their keep for open-ended agent loops with dynamic tool selection, which this is not.</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DELIVERY</a:t>
            </a:r>
            <a:endParaRPr lang="en-US" sz="1050" dirty="0"/>
          </a:p>
        </p:txBody>
      </p:sp>
      <p:sp>
        <p:nvSpPr>
          <p:cNvPr id="3" name="Text 1"/>
          <p:cNvSpPr txBox="1"/>
          <p:nvPr/>
        </p:nvSpPr>
        <p:spPr>
          <a:xfrm>
            <a:off x="548640" y="512064"/>
            <a:ext cx="11064240" cy="566928"/>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What we build, and in what order</a:t>
            </a:r>
            <a:endParaRPr lang="en-US" sz="2800" dirty="0"/>
          </a:p>
        </p:txBody>
      </p:sp>
      <p:sp>
        <p:nvSpPr>
          <p:cNvPr id="4" name="Shape 2"/>
          <p:cNvSpPr/>
          <p:nvPr/>
        </p:nvSpPr>
        <p:spPr>
          <a:xfrm>
            <a:off x="548640" y="1170432"/>
            <a:ext cx="2651760" cy="4480560"/>
          </a:xfrm>
          <a:prstGeom prst="roundRect">
            <a:avLst>
              <a:gd name="adj" fmla="val 2414"/>
            </a:avLst>
          </a:prstGeom>
          <a:solidFill>
            <a:srgbClr val="F4F7FA"/>
          </a:solidFill>
          <a:ln w="12700">
            <a:solidFill>
              <a:srgbClr val="2E8B57"/>
            </a:solidFill>
            <a:prstDash val="solid"/>
          </a:ln>
        </p:spPr>
      </p:sp>
      <p:sp>
        <p:nvSpPr>
          <p:cNvPr id="5" name="Shape 3"/>
          <p:cNvSpPr/>
          <p:nvPr/>
        </p:nvSpPr>
        <p:spPr>
          <a:xfrm>
            <a:off x="713232" y="1298448"/>
            <a:ext cx="731520" cy="292608"/>
          </a:xfrm>
          <a:prstGeom prst="roundRect">
            <a:avLst>
              <a:gd name="adj" fmla="val 21875"/>
            </a:avLst>
          </a:prstGeom>
          <a:solidFill>
            <a:srgbClr val="2E8B57"/>
          </a:solidFill>
          <a:ln/>
        </p:spPr>
      </p:sp>
      <p:sp>
        <p:nvSpPr>
          <p:cNvPr id="6" name="Text 4"/>
          <p:cNvSpPr txBox="1"/>
          <p:nvPr/>
        </p:nvSpPr>
        <p:spPr>
          <a:xfrm>
            <a:off x="713232" y="1298448"/>
            <a:ext cx="7315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V1</a:t>
            </a:r>
            <a:endParaRPr lang="en-US" sz="1000" dirty="0"/>
          </a:p>
        </p:txBody>
      </p:sp>
      <p:sp>
        <p:nvSpPr>
          <p:cNvPr id="7" name="Text 5"/>
          <p:cNvSpPr txBox="1"/>
          <p:nvPr/>
        </p:nvSpPr>
        <p:spPr>
          <a:xfrm>
            <a:off x="713232" y="1691640"/>
            <a:ext cx="2331720" cy="457200"/>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Service mode, end to end</a:t>
            </a:r>
            <a:endParaRPr lang="en-US" sz="1150" dirty="0"/>
          </a:p>
        </p:txBody>
      </p:sp>
      <p:sp>
        <p:nvSpPr>
          <p:cNvPr id="8" name="Shape 6"/>
          <p:cNvSpPr/>
          <p:nvPr/>
        </p:nvSpPr>
        <p:spPr>
          <a:xfrm>
            <a:off x="731520" y="2249424"/>
            <a:ext cx="100584" cy="100584"/>
          </a:xfrm>
          <a:prstGeom prst="ellipse">
            <a:avLst/>
          </a:prstGeom>
          <a:solidFill>
            <a:srgbClr val="2E8B57"/>
          </a:solidFill>
          <a:ln/>
        </p:spPr>
      </p:sp>
      <p:sp>
        <p:nvSpPr>
          <p:cNvPr id="9" name="Text 7"/>
          <p:cNvSpPr txBox="1"/>
          <p:nvPr/>
        </p:nvSpPr>
        <p:spPr>
          <a:xfrm>
            <a:off x="932688" y="2157984"/>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Tenancy, auth, roles, usage metering</a:t>
            </a:r>
            <a:endParaRPr lang="en-US" sz="900" dirty="0"/>
          </a:p>
        </p:txBody>
      </p:sp>
      <p:sp>
        <p:nvSpPr>
          <p:cNvPr id="10" name="Shape 8"/>
          <p:cNvSpPr/>
          <p:nvPr/>
        </p:nvSpPr>
        <p:spPr>
          <a:xfrm>
            <a:off x="731520" y="2633472"/>
            <a:ext cx="100584" cy="100584"/>
          </a:xfrm>
          <a:prstGeom prst="ellipse">
            <a:avLst/>
          </a:prstGeom>
          <a:solidFill>
            <a:srgbClr val="2E8B57"/>
          </a:solidFill>
          <a:ln/>
        </p:spPr>
      </p:sp>
      <p:sp>
        <p:nvSpPr>
          <p:cNvPr id="11" name="Text 9"/>
          <p:cNvSpPr txBox="1"/>
          <p:nvPr/>
        </p:nvSpPr>
        <p:spPr>
          <a:xfrm>
            <a:off x="932688" y="2542032"/>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Guided onboarding + sandbox mode</a:t>
            </a:r>
            <a:endParaRPr lang="en-US" sz="900" dirty="0"/>
          </a:p>
        </p:txBody>
      </p:sp>
      <p:sp>
        <p:nvSpPr>
          <p:cNvPr id="12" name="Shape 10"/>
          <p:cNvSpPr/>
          <p:nvPr/>
        </p:nvSpPr>
        <p:spPr>
          <a:xfrm>
            <a:off x="731520" y="3017520"/>
            <a:ext cx="100584" cy="100584"/>
          </a:xfrm>
          <a:prstGeom prst="ellipse">
            <a:avLst/>
          </a:prstGeom>
          <a:solidFill>
            <a:srgbClr val="2E8B57"/>
          </a:solidFill>
          <a:ln/>
        </p:spPr>
      </p:sp>
      <p:sp>
        <p:nvSpPr>
          <p:cNvPr id="13" name="Text 11"/>
          <p:cNvSpPr txBox="1"/>
          <p:nvPr/>
        </p:nvSpPr>
        <p:spPr>
          <a:xfrm>
            <a:off x="932688" y="2926080"/>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WhatsApp, Instagram, Messenger, web</a:t>
            </a:r>
            <a:endParaRPr lang="en-US" sz="900" dirty="0"/>
          </a:p>
        </p:txBody>
      </p:sp>
      <p:sp>
        <p:nvSpPr>
          <p:cNvPr id="14" name="Shape 12"/>
          <p:cNvSpPr/>
          <p:nvPr/>
        </p:nvSpPr>
        <p:spPr>
          <a:xfrm>
            <a:off x="731520" y="3401568"/>
            <a:ext cx="100584" cy="100584"/>
          </a:xfrm>
          <a:prstGeom prst="ellipse">
            <a:avLst/>
          </a:prstGeom>
          <a:solidFill>
            <a:srgbClr val="2E8B57"/>
          </a:solidFill>
          <a:ln/>
        </p:spPr>
      </p:sp>
      <p:sp>
        <p:nvSpPr>
          <p:cNvPr id="15" name="Text 13"/>
          <p:cNvSpPr txBox="1"/>
          <p:nvPr/>
        </p:nvSpPr>
        <p:spPr>
          <a:xfrm>
            <a:off x="932688" y="3310128"/>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Qualification, extraction, handoff</a:t>
            </a:r>
            <a:endParaRPr lang="en-US" sz="900" dirty="0"/>
          </a:p>
        </p:txBody>
      </p:sp>
      <p:sp>
        <p:nvSpPr>
          <p:cNvPr id="16" name="Shape 14"/>
          <p:cNvSpPr/>
          <p:nvPr/>
        </p:nvSpPr>
        <p:spPr>
          <a:xfrm>
            <a:off x="731520" y="3785616"/>
            <a:ext cx="100584" cy="100584"/>
          </a:xfrm>
          <a:prstGeom prst="ellipse">
            <a:avLst/>
          </a:prstGeom>
          <a:solidFill>
            <a:srgbClr val="2E8B57"/>
          </a:solidFill>
          <a:ln/>
        </p:spPr>
      </p:sp>
      <p:sp>
        <p:nvSpPr>
          <p:cNvPr id="17" name="Text 15"/>
          <p:cNvSpPr txBox="1"/>
          <p:nvPr/>
        </p:nvSpPr>
        <p:spPr>
          <a:xfrm>
            <a:off x="932688" y="3694176"/>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Feasibility with reasons</a:t>
            </a:r>
            <a:endParaRPr lang="en-US" sz="900" dirty="0"/>
          </a:p>
        </p:txBody>
      </p:sp>
      <p:sp>
        <p:nvSpPr>
          <p:cNvPr id="18" name="Shape 16"/>
          <p:cNvSpPr/>
          <p:nvPr/>
        </p:nvSpPr>
        <p:spPr>
          <a:xfrm>
            <a:off x="731520" y="4169664"/>
            <a:ext cx="100584" cy="100584"/>
          </a:xfrm>
          <a:prstGeom prst="ellipse">
            <a:avLst/>
          </a:prstGeom>
          <a:solidFill>
            <a:srgbClr val="2E8B57"/>
          </a:solidFill>
          <a:ln/>
        </p:spPr>
      </p:sp>
      <p:sp>
        <p:nvSpPr>
          <p:cNvPr id="19" name="Text 17"/>
          <p:cNvSpPr txBox="1"/>
          <p:nvPr/>
        </p:nvSpPr>
        <p:spPr>
          <a:xfrm>
            <a:off x="932688" y="4078224"/>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Deterministic pricing + approval + PDF</a:t>
            </a:r>
            <a:endParaRPr lang="en-US" sz="900" dirty="0"/>
          </a:p>
        </p:txBody>
      </p:sp>
      <p:sp>
        <p:nvSpPr>
          <p:cNvPr id="20" name="Shape 18"/>
          <p:cNvSpPr/>
          <p:nvPr/>
        </p:nvSpPr>
        <p:spPr>
          <a:xfrm>
            <a:off x="731520" y="4553712"/>
            <a:ext cx="100584" cy="100584"/>
          </a:xfrm>
          <a:prstGeom prst="ellipse">
            <a:avLst/>
          </a:prstGeom>
          <a:solidFill>
            <a:srgbClr val="2E8B57"/>
          </a:solidFill>
          <a:ln/>
        </p:spPr>
      </p:sp>
      <p:sp>
        <p:nvSpPr>
          <p:cNvPr id="21" name="Text 19"/>
          <p:cNvSpPr txBox="1"/>
          <p:nvPr/>
        </p:nvSpPr>
        <p:spPr>
          <a:xfrm>
            <a:off x="932688" y="4462272"/>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Rating loop and tickets</a:t>
            </a:r>
            <a:endParaRPr lang="en-US" sz="900" dirty="0"/>
          </a:p>
        </p:txBody>
      </p:sp>
      <p:sp>
        <p:nvSpPr>
          <p:cNvPr id="22" name="Shape 20"/>
          <p:cNvSpPr/>
          <p:nvPr/>
        </p:nvSpPr>
        <p:spPr>
          <a:xfrm>
            <a:off x="731520" y="4937760"/>
            <a:ext cx="100584" cy="100584"/>
          </a:xfrm>
          <a:prstGeom prst="ellipse">
            <a:avLst/>
          </a:prstGeom>
          <a:solidFill>
            <a:srgbClr val="2E8B57"/>
          </a:solidFill>
          <a:ln/>
        </p:spPr>
      </p:sp>
      <p:sp>
        <p:nvSpPr>
          <p:cNvPr id="23" name="Text 21"/>
          <p:cNvSpPr txBox="1"/>
          <p:nvPr/>
        </p:nvSpPr>
        <p:spPr>
          <a:xfrm>
            <a:off x="932688" y="4846320"/>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Dashboard with conversation viewer</a:t>
            </a:r>
            <a:endParaRPr lang="en-US" sz="900" dirty="0"/>
          </a:p>
        </p:txBody>
      </p:sp>
      <p:sp>
        <p:nvSpPr>
          <p:cNvPr id="24" name="Shape 22"/>
          <p:cNvSpPr/>
          <p:nvPr/>
        </p:nvSpPr>
        <p:spPr>
          <a:xfrm>
            <a:off x="731520" y="5321808"/>
            <a:ext cx="100584" cy="100584"/>
          </a:xfrm>
          <a:prstGeom prst="ellipse">
            <a:avLst/>
          </a:prstGeom>
          <a:solidFill>
            <a:srgbClr val="2E8B57"/>
          </a:solidFill>
          <a:ln/>
        </p:spPr>
      </p:sp>
      <p:sp>
        <p:nvSpPr>
          <p:cNvPr id="25" name="Text 23"/>
          <p:cNvSpPr txBox="1"/>
          <p:nvPr/>
        </p:nvSpPr>
        <p:spPr>
          <a:xfrm>
            <a:off x="932688" y="5230368"/>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The six compliance items</a:t>
            </a:r>
            <a:endParaRPr lang="en-US" sz="900" dirty="0"/>
          </a:p>
        </p:txBody>
      </p:sp>
      <p:sp>
        <p:nvSpPr>
          <p:cNvPr id="26" name="Shape 24"/>
          <p:cNvSpPr/>
          <p:nvPr/>
        </p:nvSpPr>
        <p:spPr>
          <a:xfrm>
            <a:off x="3383280" y="1170432"/>
            <a:ext cx="2651760" cy="4480560"/>
          </a:xfrm>
          <a:prstGeom prst="roundRect">
            <a:avLst>
              <a:gd name="adj" fmla="val 2414"/>
            </a:avLst>
          </a:prstGeom>
          <a:solidFill>
            <a:srgbClr val="FFFFFF"/>
          </a:solidFill>
          <a:ln w="12700">
            <a:solidFill>
              <a:srgbClr val="DCE5EE"/>
            </a:solidFill>
            <a:prstDash val="solid"/>
          </a:ln>
        </p:spPr>
      </p:sp>
      <p:sp>
        <p:nvSpPr>
          <p:cNvPr id="27" name="Shape 25"/>
          <p:cNvSpPr/>
          <p:nvPr/>
        </p:nvSpPr>
        <p:spPr>
          <a:xfrm>
            <a:off x="3547872" y="1298448"/>
            <a:ext cx="731520" cy="292608"/>
          </a:xfrm>
          <a:prstGeom prst="roundRect">
            <a:avLst>
              <a:gd name="adj" fmla="val 21875"/>
            </a:avLst>
          </a:prstGeom>
          <a:solidFill>
            <a:srgbClr val="1C7293"/>
          </a:solidFill>
          <a:ln/>
        </p:spPr>
      </p:sp>
      <p:sp>
        <p:nvSpPr>
          <p:cNvPr id="28" name="Text 26"/>
          <p:cNvSpPr txBox="1"/>
          <p:nvPr/>
        </p:nvSpPr>
        <p:spPr>
          <a:xfrm>
            <a:off x="3547872" y="1298448"/>
            <a:ext cx="7315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V1.1</a:t>
            </a:r>
            <a:endParaRPr lang="en-US" sz="1000" dirty="0"/>
          </a:p>
        </p:txBody>
      </p:sp>
      <p:sp>
        <p:nvSpPr>
          <p:cNvPr id="29" name="Text 27"/>
          <p:cNvSpPr txBox="1"/>
          <p:nvPr/>
        </p:nvSpPr>
        <p:spPr>
          <a:xfrm>
            <a:off x="3547872" y="1691640"/>
            <a:ext cx="2331720" cy="457200"/>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Prove the catalogue port</a:t>
            </a:r>
            <a:endParaRPr lang="en-US" sz="1150" dirty="0"/>
          </a:p>
        </p:txBody>
      </p:sp>
      <p:sp>
        <p:nvSpPr>
          <p:cNvPr id="30" name="Shape 28"/>
          <p:cNvSpPr/>
          <p:nvPr/>
        </p:nvSpPr>
        <p:spPr>
          <a:xfrm>
            <a:off x="3566160" y="2249424"/>
            <a:ext cx="100584" cy="100584"/>
          </a:xfrm>
          <a:prstGeom prst="ellipse">
            <a:avLst/>
          </a:prstGeom>
          <a:solidFill>
            <a:srgbClr val="1C7293"/>
          </a:solidFill>
          <a:ln/>
        </p:spPr>
      </p:sp>
      <p:sp>
        <p:nvSpPr>
          <p:cNvPr id="31" name="Text 29"/>
          <p:cNvSpPr txBox="1"/>
          <p:nvPr/>
        </p:nvSpPr>
        <p:spPr>
          <a:xfrm>
            <a:off x="3767328" y="2157984"/>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Manual sheet / CSV adapter</a:t>
            </a:r>
            <a:endParaRPr lang="en-US" sz="900" dirty="0"/>
          </a:p>
        </p:txBody>
      </p:sp>
      <p:sp>
        <p:nvSpPr>
          <p:cNvPr id="32" name="Shape 30"/>
          <p:cNvSpPr/>
          <p:nvPr/>
        </p:nvSpPr>
        <p:spPr>
          <a:xfrm>
            <a:off x="3566160" y="2633472"/>
            <a:ext cx="100584" cy="100584"/>
          </a:xfrm>
          <a:prstGeom prst="ellipse">
            <a:avLst/>
          </a:prstGeom>
          <a:solidFill>
            <a:srgbClr val="1C7293"/>
          </a:solidFill>
          <a:ln/>
        </p:spPr>
      </p:sp>
      <p:sp>
        <p:nvSpPr>
          <p:cNvPr id="33" name="Text 31"/>
          <p:cNvSpPr txBox="1"/>
          <p:nvPr/>
        </p:nvSpPr>
        <p:spPr>
          <a:xfrm>
            <a:off x="3767328" y="2542032"/>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Product search and stock</a:t>
            </a:r>
            <a:endParaRPr lang="en-US" sz="900" dirty="0"/>
          </a:p>
        </p:txBody>
      </p:sp>
      <p:sp>
        <p:nvSpPr>
          <p:cNvPr id="34" name="Shape 32"/>
          <p:cNvSpPr/>
          <p:nvPr/>
        </p:nvSpPr>
        <p:spPr>
          <a:xfrm>
            <a:off x="3566160" y="3017520"/>
            <a:ext cx="100584" cy="100584"/>
          </a:xfrm>
          <a:prstGeom prst="ellipse">
            <a:avLst/>
          </a:prstGeom>
          <a:solidFill>
            <a:srgbClr val="1C7293"/>
          </a:solidFill>
          <a:ln/>
        </p:spPr>
      </p:sp>
      <p:sp>
        <p:nvSpPr>
          <p:cNvPr id="35" name="Text 33"/>
          <p:cNvSpPr txBox="1"/>
          <p:nvPr/>
        </p:nvSpPr>
        <p:spPr>
          <a:xfrm>
            <a:off x="3767328" y="2926080"/>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Shopify adapter</a:t>
            </a:r>
            <a:endParaRPr lang="en-US" sz="900" dirty="0"/>
          </a:p>
        </p:txBody>
      </p:sp>
      <p:sp>
        <p:nvSpPr>
          <p:cNvPr id="36" name="Shape 34"/>
          <p:cNvSpPr/>
          <p:nvPr/>
        </p:nvSpPr>
        <p:spPr>
          <a:xfrm>
            <a:off x="3566160" y="3401568"/>
            <a:ext cx="100584" cy="100584"/>
          </a:xfrm>
          <a:prstGeom prst="ellipse">
            <a:avLst/>
          </a:prstGeom>
          <a:solidFill>
            <a:srgbClr val="1C7293"/>
          </a:solidFill>
          <a:ln/>
        </p:spPr>
      </p:sp>
      <p:sp>
        <p:nvSpPr>
          <p:cNvPr id="37" name="Text 35"/>
          <p:cNvSpPr txBox="1"/>
          <p:nvPr/>
        </p:nvSpPr>
        <p:spPr>
          <a:xfrm>
            <a:off x="3767328" y="3310128"/>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Good-Better-Best quote tiers</a:t>
            </a:r>
            <a:endParaRPr lang="en-US" sz="900" dirty="0"/>
          </a:p>
        </p:txBody>
      </p:sp>
      <p:sp>
        <p:nvSpPr>
          <p:cNvPr id="38" name="Shape 36"/>
          <p:cNvSpPr/>
          <p:nvPr/>
        </p:nvSpPr>
        <p:spPr>
          <a:xfrm>
            <a:off x="3566160" y="3785616"/>
            <a:ext cx="100584" cy="100584"/>
          </a:xfrm>
          <a:prstGeom prst="ellipse">
            <a:avLst/>
          </a:prstGeom>
          <a:solidFill>
            <a:srgbClr val="1C7293"/>
          </a:solidFill>
          <a:ln/>
        </p:spPr>
      </p:sp>
      <p:sp>
        <p:nvSpPr>
          <p:cNvPr id="39" name="Text 37"/>
          <p:cNvSpPr txBox="1"/>
          <p:nvPr/>
        </p:nvSpPr>
        <p:spPr>
          <a:xfrm>
            <a:off x="3767328" y="3694176"/>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Knowledge base retrieval</a:t>
            </a:r>
            <a:endParaRPr lang="en-US" sz="900" dirty="0"/>
          </a:p>
        </p:txBody>
      </p:sp>
      <p:sp>
        <p:nvSpPr>
          <p:cNvPr id="40" name="Shape 38"/>
          <p:cNvSpPr/>
          <p:nvPr/>
        </p:nvSpPr>
        <p:spPr>
          <a:xfrm>
            <a:off x="6217920" y="1170432"/>
            <a:ext cx="2651760" cy="4480560"/>
          </a:xfrm>
          <a:prstGeom prst="roundRect">
            <a:avLst>
              <a:gd name="adj" fmla="val 2414"/>
            </a:avLst>
          </a:prstGeom>
          <a:solidFill>
            <a:srgbClr val="FFFFFF"/>
          </a:solidFill>
          <a:ln w="12700">
            <a:solidFill>
              <a:srgbClr val="DCE5EE"/>
            </a:solidFill>
            <a:prstDash val="solid"/>
          </a:ln>
        </p:spPr>
      </p:sp>
      <p:sp>
        <p:nvSpPr>
          <p:cNvPr id="41" name="Shape 39"/>
          <p:cNvSpPr/>
          <p:nvPr/>
        </p:nvSpPr>
        <p:spPr>
          <a:xfrm>
            <a:off x="6382512" y="1298448"/>
            <a:ext cx="731520" cy="292608"/>
          </a:xfrm>
          <a:prstGeom prst="roundRect">
            <a:avLst>
              <a:gd name="adj" fmla="val 21875"/>
            </a:avLst>
          </a:prstGeom>
          <a:solidFill>
            <a:srgbClr val="065A82"/>
          </a:solidFill>
          <a:ln/>
        </p:spPr>
      </p:sp>
      <p:sp>
        <p:nvSpPr>
          <p:cNvPr id="42" name="Text 40"/>
          <p:cNvSpPr txBox="1"/>
          <p:nvPr/>
        </p:nvSpPr>
        <p:spPr>
          <a:xfrm>
            <a:off x="6382512" y="1298448"/>
            <a:ext cx="7315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V2</a:t>
            </a:r>
            <a:endParaRPr lang="en-US" sz="1000" dirty="0"/>
          </a:p>
        </p:txBody>
      </p:sp>
      <p:sp>
        <p:nvSpPr>
          <p:cNvPr id="43" name="Text 41"/>
          <p:cNvSpPr txBox="1"/>
          <p:nvPr/>
        </p:nvSpPr>
        <p:spPr>
          <a:xfrm>
            <a:off x="6382512" y="1691640"/>
            <a:ext cx="2331720" cy="457200"/>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Product mode and retention</a:t>
            </a:r>
            <a:endParaRPr lang="en-US" sz="1150" dirty="0"/>
          </a:p>
        </p:txBody>
      </p:sp>
      <p:sp>
        <p:nvSpPr>
          <p:cNvPr id="44" name="Shape 42"/>
          <p:cNvSpPr/>
          <p:nvPr/>
        </p:nvSpPr>
        <p:spPr>
          <a:xfrm>
            <a:off x="6400800" y="2249424"/>
            <a:ext cx="100584" cy="100584"/>
          </a:xfrm>
          <a:prstGeom prst="ellipse">
            <a:avLst/>
          </a:prstGeom>
          <a:solidFill>
            <a:srgbClr val="065A82"/>
          </a:solidFill>
          <a:ln/>
        </p:spPr>
      </p:sp>
      <p:sp>
        <p:nvSpPr>
          <p:cNvPr id="45" name="Text 43"/>
          <p:cNvSpPr txBox="1"/>
          <p:nvPr/>
        </p:nvSpPr>
        <p:spPr>
          <a:xfrm>
            <a:off x="6601968" y="2157984"/>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WooCommerce adapter</a:t>
            </a:r>
            <a:endParaRPr lang="en-US" sz="900" dirty="0"/>
          </a:p>
        </p:txBody>
      </p:sp>
      <p:sp>
        <p:nvSpPr>
          <p:cNvPr id="46" name="Shape 44"/>
          <p:cNvSpPr/>
          <p:nvPr/>
        </p:nvSpPr>
        <p:spPr>
          <a:xfrm>
            <a:off x="6400800" y="2633472"/>
            <a:ext cx="100584" cy="100584"/>
          </a:xfrm>
          <a:prstGeom prst="ellipse">
            <a:avLst/>
          </a:prstGeom>
          <a:solidFill>
            <a:srgbClr val="065A82"/>
          </a:solidFill>
          <a:ln/>
        </p:spPr>
      </p:sp>
      <p:sp>
        <p:nvSpPr>
          <p:cNvPr id="47" name="Text 45"/>
          <p:cNvSpPr txBox="1"/>
          <p:nvPr/>
        </p:nvSpPr>
        <p:spPr>
          <a:xfrm>
            <a:off x="6601968" y="2542032"/>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Cart, orders, delivery, refunds</a:t>
            </a:r>
            <a:endParaRPr lang="en-US" sz="900" dirty="0"/>
          </a:p>
        </p:txBody>
      </p:sp>
      <p:sp>
        <p:nvSpPr>
          <p:cNvPr id="48" name="Shape 46"/>
          <p:cNvSpPr/>
          <p:nvPr/>
        </p:nvSpPr>
        <p:spPr>
          <a:xfrm>
            <a:off x="6400800" y="3017520"/>
            <a:ext cx="100584" cy="100584"/>
          </a:xfrm>
          <a:prstGeom prst="ellipse">
            <a:avLst/>
          </a:prstGeom>
          <a:solidFill>
            <a:srgbClr val="065A82"/>
          </a:solidFill>
          <a:ln/>
        </p:spPr>
      </p:sp>
      <p:sp>
        <p:nvSpPr>
          <p:cNvPr id="49" name="Text 47"/>
          <p:cNvSpPr txBox="1"/>
          <p:nvPr/>
        </p:nvSpPr>
        <p:spPr>
          <a:xfrm>
            <a:off x="6601968" y="2926080"/>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Coupons, loyalty, referrals</a:t>
            </a:r>
            <a:endParaRPr lang="en-US" sz="900" dirty="0"/>
          </a:p>
        </p:txBody>
      </p:sp>
      <p:sp>
        <p:nvSpPr>
          <p:cNvPr id="50" name="Shape 48"/>
          <p:cNvSpPr/>
          <p:nvPr/>
        </p:nvSpPr>
        <p:spPr>
          <a:xfrm>
            <a:off x="6400800" y="3401568"/>
            <a:ext cx="100584" cy="100584"/>
          </a:xfrm>
          <a:prstGeom prst="ellipse">
            <a:avLst/>
          </a:prstGeom>
          <a:solidFill>
            <a:srgbClr val="065A82"/>
          </a:solidFill>
          <a:ln/>
        </p:spPr>
      </p:sp>
      <p:sp>
        <p:nvSpPr>
          <p:cNvPr id="51" name="Text 49"/>
          <p:cNvSpPr txBox="1"/>
          <p:nvPr/>
        </p:nvSpPr>
        <p:spPr>
          <a:xfrm>
            <a:off x="6601968" y="3310128"/>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Retention campaigns and segments</a:t>
            </a:r>
            <a:endParaRPr lang="en-US" sz="900" dirty="0"/>
          </a:p>
        </p:txBody>
      </p:sp>
      <p:sp>
        <p:nvSpPr>
          <p:cNvPr id="52" name="Shape 50"/>
          <p:cNvSpPr/>
          <p:nvPr/>
        </p:nvSpPr>
        <p:spPr>
          <a:xfrm>
            <a:off x="6400800" y="3785616"/>
            <a:ext cx="100584" cy="100584"/>
          </a:xfrm>
          <a:prstGeom prst="ellipse">
            <a:avLst/>
          </a:prstGeom>
          <a:solidFill>
            <a:srgbClr val="065A82"/>
          </a:solidFill>
          <a:ln/>
        </p:spPr>
      </p:sp>
      <p:sp>
        <p:nvSpPr>
          <p:cNvPr id="53" name="Text 51"/>
          <p:cNvSpPr txBox="1"/>
          <p:nvPr/>
        </p:nvSpPr>
        <p:spPr>
          <a:xfrm>
            <a:off x="6601968" y="3694176"/>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Generic REST adapter</a:t>
            </a:r>
            <a:endParaRPr lang="en-US" sz="900" dirty="0"/>
          </a:p>
        </p:txBody>
      </p:sp>
      <p:sp>
        <p:nvSpPr>
          <p:cNvPr id="54" name="Shape 52"/>
          <p:cNvSpPr/>
          <p:nvPr/>
        </p:nvSpPr>
        <p:spPr>
          <a:xfrm>
            <a:off x="9052560" y="1170432"/>
            <a:ext cx="2651760" cy="4480560"/>
          </a:xfrm>
          <a:prstGeom prst="roundRect">
            <a:avLst>
              <a:gd name="adj" fmla="val 2414"/>
            </a:avLst>
          </a:prstGeom>
          <a:solidFill>
            <a:srgbClr val="FFFFFF"/>
          </a:solidFill>
          <a:ln w="12700">
            <a:solidFill>
              <a:srgbClr val="DCE5EE"/>
            </a:solidFill>
            <a:prstDash val="solid"/>
          </a:ln>
        </p:spPr>
      </p:sp>
      <p:sp>
        <p:nvSpPr>
          <p:cNvPr id="55" name="Shape 53"/>
          <p:cNvSpPr/>
          <p:nvPr/>
        </p:nvSpPr>
        <p:spPr>
          <a:xfrm>
            <a:off x="9217152" y="1298448"/>
            <a:ext cx="731520" cy="292608"/>
          </a:xfrm>
          <a:prstGeom prst="roundRect">
            <a:avLst>
              <a:gd name="adj" fmla="val 21875"/>
            </a:avLst>
          </a:prstGeom>
          <a:solidFill>
            <a:srgbClr val="5A6B7B"/>
          </a:solidFill>
          <a:ln/>
        </p:spPr>
      </p:sp>
      <p:sp>
        <p:nvSpPr>
          <p:cNvPr id="56" name="Text 54"/>
          <p:cNvSpPr txBox="1"/>
          <p:nvPr/>
        </p:nvSpPr>
        <p:spPr>
          <a:xfrm>
            <a:off x="9217152" y="1298448"/>
            <a:ext cx="7315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V3</a:t>
            </a:r>
            <a:endParaRPr lang="en-US" sz="1000" dirty="0"/>
          </a:p>
        </p:txBody>
      </p:sp>
      <p:sp>
        <p:nvSpPr>
          <p:cNvPr id="57" name="Text 55"/>
          <p:cNvSpPr txBox="1"/>
          <p:nvPr/>
        </p:nvSpPr>
        <p:spPr>
          <a:xfrm>
            <a:off x="9217152" y="1691640"/>
            <a:ext cx="2331720" cy="457200"/>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Learning</a:t>
            </a:r>
            <a:endParaRPr lang="en-US" sz="1150" dirty="0"/>
          </a:p>
        </p:txBody>
      </p:sp>
      <p:sp>
        <p:nvSpPr>
          <p:cNvPr id="58" name="Shape 56"/>
          <p:cNvSpPr/>
          <p:nvPr/>
        </p:nvSpPr>
        <p:spPr>
          <a:xfrm>
            <a:off x="9235440" y="2249424"/>
            <a:ext cx="100584" cy="100584"/>
          </a:xfrm>
          <a:prstGeom prst="ellipse">
            <a:avLst/>
          </a:prstGeom>
          <a:solidFill>
            <a:srgbClr val="5A6B7B"/>
          </a:solidFill>
          <a:ln/>
        </p:spPr>
      </p:sp>
      <p:sp>
        <p:nvSpPr>
          <p:cNvPr id="59" name="Text 57"/>
          <p:cNvSpPr txBox="1"/>
          <p:nvPr/>
        </p:nvSpPr>
        <p:spPr>
          <a:xfrm>
            <a:off x="9436608" y="2157984"/>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A/B experiments</a:t>
            </a:r>
            <a:endParaRPr lang="en-US" sz="900" dirty="0"/>
          </a:p>
        </p:txBody>
      </p:sp>
      <p:sp>
        <p:nvSpPr>
          <p:cNvPr id="60" name="Shape 58"/>
          <p:cNvSpPr/>
          <p:nvPr/>
        </p:nvSpPr>
        <p:spPr>
          <a:xfrm>
            <a:off x="9235440" y="2633472"/>
            <a:ext cx="100584" cy="100584"/>
          </a:xfrm>
          <a:prstGeom prst="ellipse">
            <a:avLst/>
          </a:prstGeom>
          <a:solidFill>
            <a:srgbClr val="5A6B7B"/>
          </a:solidFill>
          <a:ln/>
        </p:spPr>
      </p:sp>
      <p:sp>
        <p:nvSpPr>
          <p:cNvPr id="61" name="Text 59"/>
          <p:cNvSpPr txBox="1"/>
          <p:nvPr/>
        </p:nvSpPr>
        <p:spPr>
          <a:xfrm>
            <a:off x="9436608" y="2542032"/>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Churn and reorder propensity</a:t>
            </a:r>
            <a:endParaRPr lang="en-US" sz="900" dirty="0"/>
          </a:p>
        </p:txBody>
      </p:sp>
      <p:sp>
        <p:nvSpPr>
          <p:cNvPr id="62" name="Shape 60"/>
          <p:cNvSpPr/>
          <p:nvPr/>
        </p:nvSpPr>
        <p:spPr>
          <a:xfrm>
            <a:off x="9235440" y="3017520"/>
            <a:ext cx="100584" cy="100584"/>
          </a:xfrm>
          <a:prstGeom prst="ellipse">
            <a:avLst/>
          </a:prstGeom>
          <a:solidFill>
            <a:srgbClr val="5A6B7B"/>
          </a:solidFill>
          <a:ln/>
        </p:spPr>
      </p:sp>
      <p:sp>
        <p:nvSpPr>
          <p:cNvPr id="63" name="Text 61"/>
          <p:cNvSpPr txBox="1"/>
          <p:nvPr/>
        </p:nvSpPr>
        <p:spPr>
          <a:xfrm>
            <a:off x="9436608" y="2926080"/>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Personas and CLV</a:t>
            </a:r>
            <a:endParaRPr lang="en-US" sz="900" dirty="0"/>
          </a:p>
        </p:txBody>
      </p:sp>
      <p:sp>
        <p:nvSpPr>
          <p:cNvPr id="64" name="Shape 62"/>
          <p:cNvSpPr/>
          <p:nvPr/>
        </p:nvSpPr>
        <p:spPr>
          <a:xfrm>
            <a:off x="9235440" y="3401568"/>
            <a:ext cx="100584" cy="100584"/>
          </a:xfrm>
          <a:prstGeom prst="ellipse">
            <a:avLst/>
          </a:prstGeom>
          <a:solidFill>
            <a:srgbClr val="5A6B7B"/>
          </a:solidFill>
          <a:ln/>
        </p:spPr>
      </p:sp>
      <p:sp>
        <p:nvSpPr>
          <p:cNvPr id="65" name="Text 63"/>
          <p:cNvSpPr txBox="1"/>
          <p:nvPr/>
        </p:nvSpPr>
        <p:spPr>
          <a:xfrm>
            <a:off x="9436608" y="3310128"/>
            <a:ext cx="2148840" cy="365760"/>
          </a:xfrm>
          <a:prstGeom prst="rect">
            <a:avLst/>
          </a:prstGeom>
          <a:noFill/>
          <a:ln/>
        </p:spPr>
        <p:txBody>
          <a:bodyPr wrap="square" lIns="0" tIns="0" rIns="0" bIns="0" rtlCol="0" anchor="ctr"/>
          <a:lstStyle/>
          <a:p>
            <a:pPr indent="0" marL="0">
              <a:buNone/>
            </a:pPr>
            <a:r>
              <a:rPr lang="en-US" sz="900" dirty="0">
                <a:solidFill>
                  <a:srgbClr val="1A2733"/>
                </a:solidFill>
                <a:latin typeface="Calibri" pitchFamily="34" charset="0"/>
                <a:ea typeface="Calibri" pitchFamily="34" charset="-122"/>
                <a:cs typeface="Calibri" pitchFamily="34" charset="-120"/>
              </a:rPr>
              <a:t>Self-learning label loop</a:t>
            </a:r>
            <a:endParaRPr lang="en-US" sz="900" dirty="0"/>
          </a:p>
        </p:txBody>
      </p:sp>
      <p:sp>
        <p:nvSpPr>
          <p:cNvPr id="66" name="Shape 64"/>
          <p:cNvSpPr/>
          <p:nvPr/>
        </p:nvSpPr>
        <p:spPr>
          <a:xfrm>
            <a:off x="548640" y="6053328"/>
            <a:ext cx="11064240" cy="566928"/>
          </a:xfrm>
          <a:prstGeom prst="roundRect">
            <a:avLst>
              <a:gd name="adj" fmla="val 11290"/>
            </a:avLst>
          </a:prstGeom>
          <a:solidFill>
            <a:srgbClr val="F4F7FA"/>
          </a:solidFill>
          <a:ln w="12700">
            <a:solidFill>
              <a:srgbClr val="DCE5EE"/>
            </a:solidFill>
            <a:prstDash val="solid"/>
          </a:ln>
        </p:spPr>
      </p:sp>
      <p:sp>
        <p:nvSpPr>
          <p:cNvPr id="67" name="Text 65"/>
          <p:cNvSpPr txBox="1"/>
          <p:nvPr/>
        </p:nvSpPr>
        <p:spPr>
          <a:xfrm>
            <a:off x="777240" y="6053328"/>
            <a:ext cx="10607040" cy="566928"/>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THE V1 TEST:  a person not on the team can be provisioned, onboard in 15 minutes, go live, receive a real enquiry, see the feasibility verdict with reasons, approve a quote on their phone in under a minute, and read the whole conversation back.</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RISKS</a:t>
            </a:r>
            <a:endParaRPr lang="en-US" sz="1050" dirty="0"/>
          </a:p>
        </p:txBody>
      </p:sp>
      <p:sp>
        <p:nvSpPr>
          <p:cNvPr id="3" name="Text 1"/>
          <p:cNvSpPr txBox="1"/>
          <p:nvPr/>
        </p:nvSpPr>
        <p:spPr>
          <a:xfrm>
            <a:off x="548640" y="512064"/>
            <a:ext cx="11064240" cy="566928"/>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What could go wrong</a:t>
            </a:r>
            <a:endParaRPr lang="en-US" sz="2800" dirty="0"/>
          </a:p>
        </p:txBody>
      </p:sp>
      <p:sp>
        <p:nvSpPr>
          <p:cNvPr id="4" name="Shape 2"/>
          <p:cNvSpPr/>
          <p:nvPr/>
        </p:nvSpPr>
        <p:spPr>
          <a:xfrm>
            <a:off x="548640" y="1170432"/>
            <a:ext cx="11064240" cy="731520"/>
          </a:xfrm>
          <a:prstGeom prst="roundRect">
            <a:avLst>
              <a:gd name="adj" fmla="val 8750"/>
            </a:avLst>
          </a:prstGeom>
          <a:solidFill>
            <a:srgbClr val="FFFFFF"/>
          </a:solidFill>
          <a:ln w="12700">
            <a:solidFill>
              <a:srgbClr val="DCE5EE"/>
            </a:solidFill>
            <a:prstDash val="solid"/>
          </a:ln>
        </p:spPr>
      </p:sp>
      <p:sp>
        <p:nvSpPr>
          <p:cNvPr id="5" name="Shape 3"/>
          <p:cNvSpPr/>
          <p:nvPr/>
        </p:nvSpPr>
        <p:spPr>
          <a:xfrm>
            <a:off x="713232" y="1298448"/>
            <a:ext cx="109728" cy="475488"/>
          </a:xfrm>
          <a:prstGeom prst="roundRect">
            <a:avLst>
              <a:gd name="adj" fmla="val 33333"/>
            </a:avLst>
          </a:prstGeom>
          <a:solidFill>
            <a:srgbClr val="B23A48"/>
          </a:solidFill>
          <a:ln/>
        </p:spPr>
      </p:sp>
      <p:sp>
        <p:nvSpPr>
          <p:cNvPr id="6" name="Text 4"/>
          <p:cNvSpPr txBox="1"/>
          <p:nvPr/>
        </p:nvSpPr>
        <p:spPr>
          <a:xfrm>
            <a:off x="987552" y="1225296"/>
            <a:ext cx="3200400" cy="621792"/>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Customers phone rather than message</a:t>
            </a:r>
            <a:endParaRPr lang="en-US" sz="1150" dirty="0"/>
          </a:p>
        </p:txBody>
      </p:sp>
      <p:sp>
        <p:nvSpPr>
          <p:cNvPr id="7" name="Text 5"/>
          <p:cNvSpPr txBox="1"/>
          <p:nvPr/>
        </p:nvSpPr>
        <p:spPr>
          <a:xfrm>
            <a:off x="4251960" y="1225296"/>
            <a:ext cx="3657600" cy="621792"/>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Every published figure on both sides is vendor marketing. UNRESOLVED.</a:t>
            </a:r>
            <a:endParaRPr lang="en-US" sz="950" dirty="0"/>
          </a:p>
        </p:txBody>
      </p:sp>
      <p:sp>
        <p:nvSpPr>
          <p:cNvPr id="8" name="Text 6"/>
          <p:cNvSpPr txBox="1"/>
          <p:nvPr/>
        </p:nvSpPr>
        <p:spPr>
          <a:xfrm>
            <a:off x="8001000" y="1225296"/>
            <a:ext cx="3429000" cy="621792"/>
          </a:xfrm>
          <a:prstGeom prst="rect">
            <a:avLst/>
          </a:prstGeom>
          <a:noFill/>
          <a:ln/>
        </p:spPr>
        <p:txBody>
          <a:bodyPr wrap="square" lIns="0" tIns="0" rIns="0" bIns="0" rtlCol="0" anchor="ctr"/>
          <a:lstStyle/>
          <a:p>
            <a:pPr indent="0" marL="0">
              <a:buNone/>
            </a:pPr>
            <a:r>
              <a:rPr lang="en-US" sz="950" b="1" dirty="0">
                <a:solidFill>
                  <a:srgbClr val="065A82"/>
                </a:solidFill>
                <a:latin typeface="Calibri" pitchFamily="34" charset="0"/>
                <a:ea typeface="Calibri" pitchFamily="34" charset="-122"/>
                <a:cs typeface="Calibri" pitchFamily="34" charset="-120"/>
              </a:rPr>
              <a:t>25-40 customer calls. Two days. Decides viability.</a:t>
            </a:r>
            <a:endParaRPr lang="en-US" sz="950" dirty="0"/>
          </a:p>
        </p:txBody>
      </p:sp>
      <p:sp>
        <p:nvSpPr>
          <p:cNvPr id="9" name="Shape 7"/>
          <p:cNvSpPr/>
          <p:nvPr/>
        </p:nvSpPr>
        <p:spPr>
          <a:xfrm>
            <a:off x="548640" y="1993392"/>
            <a:ext cx="11064240" cy="731520"/>
          </a:xfrm>
          <a:prstGeom prst="roundRect">
            <a:avLst>
              <a:gd name="adj" fmla="val 8750"/>
            </a:avLst>
          </a:prstGeom>
          <a:solidFill>
            <a:srgbClr val="F4F7FA"/>
          </a:solidFill>
          <a:ln w="12700">
            <a:solidFill>
              <a:srgbClr val="DCE5EE"/>
            </a:solidFill>
            <a:prstDash val="solid"/>
          </a:ln>
        </p:spPr>
      </p:sp>
      <p:sp>
        <p:nvSpPr>
          <p:cNvPr id="10" name="Shape 8"/>
          <p:cNvSpPr/>
          <p:nvPr/>
        </p:nvSpPr>
        <p:spPr>
          <a:xfrm>
            <a:off x="713232" y="2121408"/>
            <a:ext cx="109728" cy="475488"/>
          </a:xfrm>
          <a:prstGeom prst="roundRect">
            <a:avLst>
              <a:gd name="adj" fmla="val 33333"/>
            </a:avLst>
          </a:prstGeom>
          <a:solidFill>
            <a:srgbClr val="B23A48"/>
          </a:solidFill>
          <a:ln/>
        </p:spPr>
      </p:sp>
      <p:sp>
        <p:nvSpPr>
          <p:cNvPr id="11" name="Text 9"/>
          <p:cNvSpPr txBox="1"/>
          <p:nvPr/>
        </p:nvSpPr>
        <p:spPr>
          <a:xfrm>
            <a:off x="987552" y="2048256"/>
            <a:ext cx="3200400" cy="621792"/>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A wrong extracted price binds the business</a:t>
            </a:r>
            <a:endParaRPr lang="en-US" sz="1150" dirty="0"/>
          </a:p>
        </p:txBody>
      </p:sp>
      <p:sp>
        <p:nvSpPr>
          <p:cNvPr id="12" name="Text 10"/>
          <p:cNvSpPr txBox="1"/>
          <p:nvPr/>
        </p:nvSpPr>
        <p:spPr>
          <a:xfrm>
            <a:off x="4251960" y="2048256"/>
            <a:ext cx="3657600" cy="621792"/>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28-77% document accuracy; plausible-but-wrong is legally unescapable.</a:t>
            </a:r>
            <a:endParaRPr lang="en-US" sz="950" dirty="0"/>
          </a:p>
        </p:txBody>
      </p:sp>
      <p:sp>
        <p:nvSpPr>
          <p:cNvPr id="13" name="Text 11"/>
          <p:cNvSpPr txBox="1"/>
          <p:nvPr/>
        </p:nvSpPr>
        <p:spPr>
          <a:xfrm>
            <a:off x="8001000" y="2048256"/>
            <a:ext cx="3429000" cy="621792"/>
          </a:xfrm>
          <a:prstGeom prst="rect">
            <a:avLst/>
          </a:prstGeom>
          <a:noFill/>
          <a:ln/>
        </p:spPr>
        <p:txBody>
          <a:bodyPr wrap="square" lIns="0" tIns="0" rIns="0" bIns="0" rtlCol="0" anchor="ctr"/>
          <a:lstStyle/>
          <a:p>
            <a:pPr indent="0" marL="0">
              <a:buNone/>
            </a:pPr>
            <a:r>
              <a:rPr lang="en-US" sz="950" b="1" dirty="0">
                <a:solidFill>
                  <a:srgbClr val="065A82"/>
                </a:solidFill>
                <a:latin typeface="Calibri" pitchFamily="34" charset="0"/>
                <a:ea typeface="Calibri" pitchFamily="34" charset="-122"/>
                <a:cs typeface="Calibri" pitchFamily="34" charset="-120"/>
              </a:rPr>
              <a:t>Never price from retrieval. Version every rate card.</a:t>
            </a:r>
            <a:endParaRPr lang="en-US" sz="950" dirty="0"/>
          </a:p>
        </p:txBody>
      </p:sp>
      <p:sp>
        <p:nvSpPr>
          <p:cNvPr id="14" name="Shape 12"/>
          <p:cNvSpPr/>
          <p:nvPr/>
        </p:nvSpPr>
        <p:spPr>
          <a:xfrm>
            <a:off x="548640" y="2816352"/>
            <a:ext cx="11064240" cy="731520"/>
          </a:xfrm>
          <a:prstGeom prst="roundRect">
            <a:avLst>
              <a:gd name="adj" fmla="val 8750"/>
            </a:avLst>
          </a:prstGeom>
          <a:solidFill>
            <a:srgbClr val="FFFFFF"/>
          </a:solidFill>
          <a:ln w="12700">
            <a:solidFill>
              <a:srgbClr val="DCE5EE"/>
            </a:solidFill>
            <a:prstDash val="solid"/>
          </a:ln>
        </p:spPr>
      </p:sp>
      <p:sp>
        <p:nvSpPr>
          <p:cNvPr id="15" name="Shape 13"/>
          <p:cNvSpPr/>
          <p:nvPr/>
        </p:nvSpPr>
        <p:spPr>
          <a:xfrm>
            <a:off x="713232" y="2944368"/>
            <a:ext cx="109728" cy="475488"/>
          </a:xfrm>
          <a:prstGeom prst="roundRect">
            <a:avLst>
              <a:gd name="adj" fmla="val 33333"/>
            </a:avLst>
          </a:prstGeom>
          <a:solidFill>
            <a:srgbClr val="F2A104"/>
          </a:solidFill>
          <a:ln/>
        </p:spPr>
      </p:sp>
      <p:sp>
        <p:nvSpPr>
          <p:cNvPr id="16" name="Text 14"/>
          <p:cNvSpPr txBox="1"/>
          <p:nvPr/>
        </p:nvSpPr>
        <p:spPr>
          <a:xfrm>
            <a:off x="987552" y="2871216"/>
            <a:ext cx="3200400" cy="621792"/>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Owner approval becomes a rubber stamp</a:t>
            </a:r>
            <a:endParaRPr lang="en-US" sz="1150" dirty="0"/>
          </a:p>
        </p:txBody>
      </p:sp>
      <p:sp>
        <p:nvSpPr>
          <p:cNvPr id="17" name="Text 15"/>
          <p:cNvSpPr txBox="1"/>
          <p:nvPr/>
        </p:nvSpPr>
        <p:spPr>
          <a:xfrm>
            <a:off x="4251960" y="2871216"/>
            <a:ext cx="3657600" cy="621792"/>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Nominal sign-off is not meaningful human intervention.</a:t>
            </a:r>
            <a:endParaRPr lang="en-US" sz="950" dirty="0"/>
          </a:p>
        </p:txBody>
      </p:sp>
      <p:sp>
        <p:nvSpPr>
          <p:cNvPr id="18" name="Text 16"/>
          <p:cNvSpPr txBox="1"/>
          <p:nvPr/>
        </p:nvSpPr>
        <p:spPr>
          <a:xfrm>
            <a:off x="8001000" y="2871216"/>
            <a:ext cx="3429000" cy="621792"/>
          </a:xfrm>
          <a:prstGeom prst="rect">
            <a:avLst/>
          </a:prstGeom>
          <a:noFill/>
          <a:ln/>
        </p:spPr>
        <p:txBody>
          <a:bodyPr wrap="square" lIns="0" tIns="0" rIns="0" bIns="0" rtlCol="0" anchor="ctr"/>
          <a:lstStyle/>
          <a:p>
            <a:pPr indent="0" marL="0">
              <a:buNone/>
            </a:pPr>
            <a:r>
              <a:rPr lang="en-US" sz="950" b="1" dirty="0">
                <a:solidFill>
                  <a:srgbClr val="065A82"/>
                </a:solidFill>
                <a:latin typeface="Calibri" pitchFamily="34" charset="0"/>
                <a:ea typeface="Calibri" pitchFamily="34" charset="-122"/>
                <a:cs typeface="Calibri" pitchFamily="34" charset="-120"/>
              </a:rPr>
              <a:t>Show rate applied, rules fired, version. Flag outliers against their own history.</a:t>
            </a:r>
            <a:endParaRPr lang="en-US" sz="950" dirty="0"/>
          </a:p>
        </p:txBody>
      </p:sp>
      <p:sp>
        <p:nvSpPr>
          <p:cNvPr id="19" name="Shape 17"/>
          <p:cNvSpPr/>
          <p:nvPr/>
        </p:nvSpPr>
        <p:spPr>
          <a:xfrm>
            <a:off x="548640" y="3639312"/>
            <a:ext cx="11064240" cy="731520"/>
          </a:xfrm>
          <a:prstGeom prst="roundRect">
            <a:avLst>
              <a:gd name="adj" fmla="val 8750"/>
            </a:avLst>
          </a:prstGeom>
          <a:solidFill>
            <a:srgbClr val="F4F7FA"/>
          </a:solidFill>
          <a:ln w="12700">
            <a:solidFill>
              <a:srgbClr val="DCE5EE"/>
            </a:solidFill>
            <a:prstDash val="solid"/>
          </a:ln>
        </p:spPr>
      </p:sp>
      <p:sp>
        <p:nvSpPr>
          <p:cNvPr id="20" name="Shape 18"/>
          <p:cNvSpPr/>
          <p:nvPr/>
        </p:nvSpPr>
        <p:spPr>
          <a:xfrm>
            <a:off x="713232" y="3767328"/>
            <a:ext cx="109728" cy="475488"/>
          </a:xfrm>
          <a:prstGeom prst="roundRect">
            <a:avLst>
              <a:gd name="adj" fmla="val 33333"/>
            </a:avLst>
          </a:prstGeom>
          <a:solidFill>
            <a:srgbClr val="F2A104"/>
          </a:solidFill>
          <a:ln/>
        </p:spPr>
      </p:sp>
      <p:sp>
        <p:nvSpPr>
          <p:cNvPr id="21" name="Text 19"/>
          <p:cNvSpPr txBox="1"/>
          <p:nvPr/>
        </p:nvSpPr>
        <p:spPr>
          <a:xfrm>
            <a:off x="987552" y="3694176"/>
            <a:ext cx="3200400" cy="621792"/>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Promised crew or part does not exist</a:t>
            </a:r>
            <a:endParaRPr lang="en-US" sz="1150" dirty="0"/>
          </a:p>
        </p:txBody>
      </p:sp>
      <p:sp>
        <p:nvSpPr>
          <p:cNvPr id="22" name="Text 20"/>
          <p:cNvSpPr txBox="1"/>
          <p:nvPr/>
        </p:nvSpPr>
        <p:spPr>
          <a:xfrm>
            <a:off x="4251960" y="3694176"/>
            <a:ext cx="3657600" cy="621792"/>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Small operators often do not track van stock in software at all.</a:t>
            </a:r>
            <a:endParaRPr lang="en-US" sz="950" dirty="0"/>
          </a:p>
        </p:txBody>
      </p:sp>
      <p:sp>
        <p:nvSpPr>
          <p:cNvPr id="23" name="Text 21"/>
          <p:cNvSpPr txBox="1"/>
          <p:nvPr/>
        </p:nvSpPr>
        <p:spPr>
          <a:xfrm>
            <a:off x="8001000" y="3694176"/>
            <a:ext cx="3429000" cy="621792"/>
          </a:xfrm>
          <a:prstGeom prst="rect">
            <a:avLst/>
          </a:prstGeom>
          <a:noFill/>
          <a:ln/>
        </p:spPr>
        <p:txBody>
          <a:bodyPr wrap="square" lIns="0" tIns="0" rIns="0" bIns="0" rtlCol="0" anchor="ctr"/>
          <a:lstStyle/>
          <a:p>
            <a:pPr indent="0" marL="0">
              <a:buNone/>
            </a:pPr>
            <a:r>
              <a:rPr lang="en-US" sz="950" b="1" dirty="0">
                <a:solidFill>
                  <a:srgbClr val="065A82"/>
                </a:solidFill>
                <a:latin typeface="Calibri" pitchFamily="34" charset="0"/>
                <a:ea typeface="Calibri" pitchFamily="34" charset="-122"/>
                <a:cs typeface="Calibri" pitchFamily="34" charset="-120"/>
              </a:rPr>
              <a:t>Never assert volatile data without a live source. Degrade and escalate.</a:t>
            </a:r>
            <a:endParaRPr lang="en-US" sz="950" dirty="0"/>
          </a:p>
        </p:txBody>
      </p:sp>
      <p:sp>
        <p:nvSpPr>
          <p:cNvPr id="24" name="Shape 22"/>
          <p:cNvSpPr/>
          <p:nvPr/>
        </p:nvSpPr>
        <p:spPr>
          <a:xfrm>
            <a:off x="548640" y="4462272"/>
            <a:ext cx="11064240" cy="731520"/>
          </a:xfrm>
          <a:prstGeom prst="roundRect">
            <a:avLst>
              <a:gd name="adj" fmla="val 8750"/>
            </a:avLst>
          </a:prstGeom>
          <a:solidFill>
            <a:srgbClr val="FFFFFF"/>
          </a:solidFill>
          <a:ln w="12700">
            <a:solidFill>
              <a:srgbClr val="DCE5EE"/>
            </a:solidFill>
            <a:prstDash val="solid"/>
          </a:ln>
        </p:spPr>
      </p:sp>
      <p:sp>
        <p:nvSpPr>
          <p:cNvPr id="25" name="Shape 23"/>
          <p:cNvSpPr/>
          <p:nvPr/>
        </p:nvSpPr>
        <p:spPr>
          <a:xfrm>
            <a:off x="713232" y="4590288"/>
            <a:ext cx="109728" cy="475488"/>
          </a:xfrm>
          <a:prstGeom prst="roundRect">
            <a:avLst>
              <a:gd name="adj" fmla="val 33333"/>
            </a:avLst>
          </a:prstGeom>
          <a:solidFill>
            <a:srgbClr val="F2A104"/>
          </a:solidFill>
          <a:ln/>
        </p:spPr>
      </p:sp>
      <p:sp>
        <p:nvSpPr>
          <p:cNvPr id="26" name="Text 24"/>
          <p:cNvSpPr txBox="1"/>
          <p:nvPr/>
        </p:nvSpPr>
        <p:spPr>
          <a:xfrm>
            <a:off x="987552" y="4517136"/>
            <a:ext cx="3200400" cy="621792"/>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Rate-card onboarding kills adoption</a:t>
            </a:r>
            <a:endParaRPr lang="en-US" sz="1150" dirty="0"/>
          </a:p>
        </p:txBody>
      </p:sp>
      <p:sp>
        <p:nvSpPr>
          <p:cNvPr id="27" name="Text 25"/>
          <p:cNvSpPr txBox="1"/>
          <p:nvPr/>
        </p:nvSpPr>
        <p:spPr>
          <a:xfrm>
            <a:off x="4251960" y="4517136"/>
            <a:ext cx="3657600" cy="621792"/>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42% had no working price book after three months.</a:t>
            </a:r>
            <a:endParaRPr lang="en-US" sz="950" dirty="0"/>
          </a:p>
        </p:txBody>
      </p:sp>
      <p:sp>
        <p:nvSpPr>
          <p:cNvPr id="28" name="Text 26"/>
          <p:cNvSpPr txBox="1"/>
          <p:nvPr/>
        </p:nvSpPr>
        <p:spPr>
          <a:xfrm>
            <a:off x="8001000" y="4517136"/>
            <a:ext cx="3429000" cy="621792"/>
          </a:xfrm>
          <a:prstGeom prst="rect">
            <a:avLst/>
          </a:prstGeom>
          <a:noFill/>
          <a:ln/>
        </p:spPr>
        <p:txBody>
          <a:bodyPr wrap="square" lIns="0" tIns="0" rIns="0" bIns="0" rtlCol="0" anchor="ctr"/>
          <a:lstStyle/>
          <a:p>
            <a:pPr indent="0" marL="0">
              <a:buNone/>
            </a:pPr>
            <a:r>
              <a:rPr lang="en-US" sz="950" b="1" dirty="0">
                <a:solidFill>
                  <a:srgbClr val="065A82"/>
                </a:solidFill>
                <a:latin typeface="Calibri" pitchFamily="34" charset="0"/>
                <a:ea typeface="Calibri" pitchFamily="34" charset="-122"/>
                <a:cs typeface="Calibri" pitchFamily="34" charset="-120"/>
              </a:rPr>
              <a:t>Template-first, 15-minute target, go live on 3-5 services.</a:t>
            </a:r>
            <a:endParaRPr lang="en-US" sz="950" dirty="0"/>
          </a:p>
        </p:txBody>
      </p:sp>
      <p:sp>
        <p:nvSpPr>
          <p:cNvPr id="29" name="Shape 27"/>
          <p:cNvSpPr/>
          <p:nvPr/>
        </p:nvSpPr>
        <p:spPr>
          <a:xfrm>
            <a:off x="548640" y="5285232"/>
            <a:ext cx="11064240" cy="731520"/>
          </a:xfrm>
          <a:prstGeom prst="roundRect">
            <a:avLst>
              <a:gd name="adj" fmla="val 8750"/>
            </a:avLst>
          </a:prstGeom>
          <a:solidFill>
            <a:srgbClr val="F4F7FA"/>
          </a:solidFill>
          <a:ln w="12700">
            <a:solidFill>
              <a:srgbClr val="DCE5EE"/>
            </a:solidFill>
            <a:prstDash val="solid"/>
          </a:ln>
        </p:spPr>
      </p:sp>
      <p:sp>
        <p:nvSpPr>
          <p:cNvPr id="30" name="Shape 28"/>
          <p:cNvSpPr/>
          <p:nvPr/>
        </p:nvSpPr>
        <p:spPr>
          <a:xfrm>
            <a:off x="713232" y="5413248"/>
            <a:ext cx="109728" cy="475488"/>
          </a:xfrm>
          <a:prstGeom prst="roundRect">
            <a:avLst>
              <a:gd name="adj" fmla="val 33333"/>
            </a:avLst>
          </a:prstGeom>
          <a:solidFill>
            <a:srgbClr val="1C7293"/>
          </a:solidFill>
          <a:ln/>
        </p:spPr>
      </p:sp>
      <p:sp>
        <p:nvSpPr>
          <p:cNvPr id="31" name="Text 29"/>
          <p:cNvSpPr txBox="1"/>
          <p:nvPr/>
        </p:nvSpPr>
        <p:spPr>
          <a:xfrm>
            <a:off x="987552" y="5340096"/>
            <a:ext cx="3200400" cy="621792"/>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Search quality in product mode</a:t>
            </a:r>
            <a:endParaRPr lang="en-US" sz="1150" dirty="0"/>
          </a:p>
        </p:txBody>
      </p:sp>
      <p:sp>
        <p:nvSpPr>
          <p:cNvPr id="32" name="Text 30"/>
          <p:cNvSpPr txBox="1"/>
          <p:nvPr/>
        </p:nvSpPr>
        <p:spPr>
          <a:xfrm>
            <a:off x="4251960" y="5340096"/>
            <a:ext cx="3657600" cy="621792"/>
          </a:xfrm>
          <a:prstGeom prst="rect">
            <a:avLst/>
          </a:prstGeom>
          <a:noFill/>
          <a:ln/>
        </p:spPr>
        <p:txBody>
          <a:bodyPr wrap="square" lIns="0" tIns="0" rIns="0" bIns="0" rtlCol="0" anchor="ctr"/>
          <a:lstStyle/>
          <a:p>
            <a:pPr indent="0" marL="0">
              <a:buNone/>
            </a:pPr>
            <a:r>
              <a:rPr lang="en-US" sz="950" dirty="0">
                <a:solidFill>
                  <a:srgbClr val="1A2733"/>
                </a:solidFill>
                <a:latin typeface="Calibri" pitchFamily="34" charset="0"/>
                <a:ea typeface="Calibri" pitchFamily="34" charset="-122"/>
                <a:cs typeface="Calibri" pitchFamily="34" charset="-120"/>
              </a:rPr>
              <a:t>Untested at catalogue scale. Highest technical risk in V2.</a:t>
            </a:r>
            <a:endParaRPr lang="en-US" sz="950" dirty="0"/>
          </a:p>
        </p:txBody>
      </p:sp>
      <p:sp>
        <p:nvSpPr>
          <p:cNvPr id="33" name="Text 31"/>
          <p:cNvSpPr txBox="1"/>
          <p:nvPr/>
        </p:nvSpPr>
        <p:spPr>
          <a:xfrm>
            <a:off x="8001000" y="5340096"/>
            <a:ext cx="3429000" cy="621792"/>
          </a:xfrm>
          <a:prstGeom prst="rect">
            <a:avLst/>
          </a:prstGeom>
          <a:noFill/>
          <a:ln/>
        </p:spPr>
        <p:txBody>
          <a:bodyPr wrap="square" lIns="0" tIns="0" rIns="0" bIns="0" rtlCol="0" anchor="ctr"/>
          <a:lstStyle/>
          <a:p>
            <a:pPr indent="0" marL="0">
              <a:buNone/>
            </a:pPr>
            <a:r>
              <a:rPr lang="en-US" sz="950" b="1" dirty="0">
                <a:solidFill>
                  <a:srgbClr val="065A82"/>
                </a:solidFill>
                <a:latin typeface="Calibri" pitchFamily="34" charset="0"/>
                <a:ea typeface="Calibri" pitchFamily="34" charset="-122"/>
                <a:cs typeface="Calibri" pitchFamily="34" charset="-120"/>
              </a:rPr>
              <a:t>Prototype against a real catalogue before committing to Postgres-only.</a:t>
            </a:r>
            <a:endParaRPr lang="en-US" sz="950" dirty="0"/>
          </a:p>
        </p:txBody>
      </p:sp>
      <p:sp>
        <p:nvSpPr>
          <p:cNvPr id="34" name="Shape 32"/>
          <p:cNvSpPr/>
          <p:nvPr/>
        </p:nvSpPr>
        <p:spPr>
          <a:xfrm>
            <a:off x="548640" y="6053328"/>
            <a:ext cx="11064240" cy="566928"/>
          </a:xfrm>
          <a:prstGeom prst="roundRect">
            <a:avLst>
              <a:gd name="adj" fmla="val 11290"/>
            </a:avLst>
          </a:prstGeom>
          <a:solidFill>
            <a:srgbClr val="2E8B57"/>
          </a:solidFill>
          <a:ln/>
        </p:spPr>
      </p:sp>
      <p:sp>
        <p:nvSpPr>
          <p:cNvPr id="35" name="Text 33"/>
          <p:cNvSpPr txBox="1"/>
          <p:nvPr/>
        </p:nvSpPr>
        <p:spPr>
          <a:xfrm>
            <a:off x="777240" y="6053328"/>
            <a:ext cx="10607040" cy="56692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DOWNGRADED:  “trades will not buy software”. Contradicted - Jobber, Tradify and ServiceM8 are substantial self-serve businesses selling to exactly this customer. Acquisition is not the problem; retention is.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POSITIONING</a:t>
            </a:r>
            <a:endParaRPr lang="en-US" sz="1050" dirty="0"/>
          </a:p>
        </p:txBody>
      </p:sp>
      <p:sp>
        <p:nvSpPr>
          <p:cNvPr id="3" name="Text 1"/>
          <p:cNvSpPr txBox="1"/>
          <p:nvPr/>
        </p:nvSpPr>
        <p:spPr>
          <a:xfrm>
            <a:off x="548640" y="512064"/>
            <a:ext cx="11064240" cy="566928"/>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Why this wins, and where it does not</a:t>
            </a:r>
            <a:endParaRPr lang="en-US" sz="2800" dirty="0"/>
          </a:p>
        </p:txBody>
      </p:sp>
      <p:sp>
        <p:nvSpPr>
          <p:cNvPr id="4" name="Shape 2"/>
          <p:cNvSpPr/>
          <p:nvPr/>
        </p:nvSpPr>
        <p:spPr>
          <a:xfrm>
            <a:off x="548640" y="1143000"/>
            <a:ext cx="5394960" cy="3657600"/>
          </a:xfrm>
          <a:prstGeom prst="roundRect">
            <a:avLst>
              <a:gd name="adj" fmla="val 1750"/>
            </a:avLst>
          </a:prstGeom>
          <a:solidFill>
            <a:srgbClr val="F4F7FA"/>
          </a:solidFill>
          <a:ln w="12700">
            <a:solidFill>
              <a:srgbClr val="2E8B57"/>
            </a:solidFill>
            <a:prstDash val="solid"/>
          </a:ln>
        </p:spPr>
      </p:sp>
      <p:sp>
        <p:nvSpPr>
          <p:cNvPr id="5" name="Text 3"/>
          <p:cNvSpPr txBox="1"/>
          <p:nvPr/>
        </p:nvSpPr>
        <p:spPr>
          <a:xfrm>
            <a:off x="777240" y="1261872"/>
            <a:ext cx="2743200" cy="256032"/>
          </a:xfrm>
          <a:prstGeom prst="rect">
            <a:avLst/>
          </a:prstGeom>
          <a:noFill/>
          <a:ln/>
        </p:spPr>
        <p:txBody>
          <a:bodyPr wrap="square" lIns="0" tIns="0" rIns="0" bIns="0" rtlCol="0" anchor="ctr"/>
          <a:lstStyle/>
          <a:p>
            <a:pPr indent="0" marL="0">
              <a:buNone/>
            </a:pPr>
            <a:r>
              <a:rPr lang="en-US" sz="1050" b="1" spc="150" kern="0" dirty="0">
                <a:solidFill>
                  <a:srgbClr val="2E8B57"/>
                </a:solidFill>
                <a:latin typeface="Calibri" pitchFamily="34" charset="0"/>
                <a:ea typeface="Calibri" pitchFamily="34" charset="-122"/>
                <a:cs typeface="Calibri" pitchFamily="34" charset="-120"/>
              </a:rPr>
              <a:t>DEFENSIBLE</a:t>
            </a:r>
            <a:endParaRPr lang="en-US" sz="1050" dirty="0"/>
          </a:p>
        </p:txBody>
      </p:sp>
      <p:sp>
        <p:nvSpPr>
          <p:cNvPr id="6" name="Shape 4"/>
          <p:cNvSpPr/>
          <p:nvPr/>
        </p:nvSpPr>
        <p:spPr>
          <a:xfrm>
            <a:off x="841248" y="1700784"/>
            <a:ext cx="146304" cy="146304"/>
          </a:xfrm>
          <a:prstGeom prst="ellipse">
            <a:avLst/>
          </a:prstGeom>
          <a:solidFill>
            <a:srgbClr val="2E8B57"/>
          </a:solidFill>
          <a:ln/>
        </p:spPr>
      </p:sp>
      <p:sp>
        <p:nvSpPr>
          <p:cNvPr id="7" name="Text 5"/>
          <p:cNvSpPr txBox="1"/>
          <p:nvPr/>
        </p:nvSpPr>
        <p:spPr>
          <a:xfrm>
            <a:off x="1115568" y="1627632"/>
            <a:ext cx="4663440" cy="256032"/>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Feasibility before price</a:t>
            </a:r>
            <a:endParaRPr lang="en-US" sz="1150" dirty="0"/>
          </a:p>
        </p:txBody>
      </p:sp>
      <p:sp>
        <p:nvSpPr>
          <p:cNvPr id="8" name="Text 6"/>
          <p:cNvSpPr txBox="1"/>
          <p:nvPr/>
        </p:nvSpPr>
        <p:spPr>
          <a:xfrm>
            <a:off x="1115568" y="1874520"/>
            <a:ext cx="4663440" cy="329184"/>
          </a:xfrm>
          <a:prstGeom prst="rect">
            <a:avLst/>
          </a:prstGeom>
          <a:noFill/>
          <a:ln/>
        </p:spPr>
        <p:txBody>
          <a:bodyPr wrap="square" lIns="0" tIns="0" rIns="0" bIns="0" rtlCol="0" anchor="ctr"/>
          <a:lstStyle/>
          <a:p>
            <a:pPr indent="0" marL="0">
              <a:buNone/>
            </a:pPr>
            <a:r>
              <a:rPr lang="en-US" sz="850" dirty="0">
                <a:solidFill>
                  <a:srgbClr val="1A2733"/>
                </a:solidFill>
                <a:latin typeface="Calibri" pitchFamily="34" charset="0"/>
                <a:ea typeface="Calibri" pitchFamily="34" charset="-122"/>
                <a:cs typeface="Calibri" pitchFamily="34" charset="-120"/>
              </a:rPr>
              <a:t>Confirmed by absence across every product examined, in two independent threads</a:t>
            </a:r>
            <a:endParaRPr lang="en-US" sz="850" dirty="0"/>
          </a:p>
        </p:txBody>
      </p:sp>
      <p:sp>
        <p:nvSpPr>
          <p:cNvPr id="9" name="Shape 7"/>
          <p:cNvSpPr/>
          <p:nvPr/>
        </p:nvSpPr>
        <p:spPr>
          <a:xfrm>
            <a:off x="841248" y="2322576"/>
            <a:ext cx="146304" cy="146304"/>
          </a:xfrm>
          <a:prstGeom prst="ellipse">
            <a:avLst/>
          </a:prstGeom>
          <a:solidFill>
            <a:srgbClr val="2E8B57"/>
          </a:solidFill>
          <a:ln/>
        </p:spPr>
      </p:sp>
      <p:sp>
        <p:nvSpPr>
          <p:cNvPr id="10" name="Text 8"/>
          <p:cNvSpPr txBox="1"/>
          <p:nvPr/>
        </p:nvSpPr>
        <p:spPr>
          <a:xfrm>
            <a:off x="1115568" y="2249424"/>
            <a:ext cx="4663440" cy="256032"/>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Owner approves before sending</a:t>
            </a:r>
            <a:endParaRPr lang="en-US" sz="1150" dirty="0"/>
          </a:p>
        </p:txBody>
      </p:sp>
      <p:sp>
        <p:nvSpPr>
          <p:cNvPr id="11" name="Text 9"/>
          <p:cNvSpPr txBox="1"/>
          <p:nvPr/>
        </p:nvSpPr>
        <p:spPr>
          <a:xfrm>
            <a:off x="1115568" y="2496312"/>
            <a:ext cx="4663440" cy="329184"/>
          </a:xfrm>
          <a:prstGeom prst="rect">
            <a:avLst/>
          </a:prstGeom>
          <a:noFill/>
          <a:ln/>
        </p:spPr>
        <p:txBody>
          <a:bodyPr wrap="square" lIns="0" tIns="0" rIns="0" bIns="0" rtlCol="0" anchor="ctr"/>
          <a:lstStyle/>
          <a:p>
            <a:pPr indent="0" marL="0">
              <a:buNone/>
            </a:pPr>
            <a:r>
              <a:rPr lang="en-US" sz="850" dirty="0">
                <a:solidFill>
                  <a:srgbClr val="1A2733"/>
                </a:solidFill>
                <a:latin typeface="Calibri" pitchFamily="34" charset="0"/>
                <a:ea typeface="Calibri" pitchFamily="34" charset="-122"/>
                <a:cs typeface="Calibri" pitchFamily="34" charset="-120"/>
              </a:rPr>
              <a:t>Survived all four threads: competitive, legal and practical</a:t>
            </a:r>
            <a:endParaRPr lang="en-US" sz="850" dirty="0"/>
          </a:p>
        </p:txBody>
      </p:sp>
      <p:sp>
        <p:nvSpPr>
          <p:cNvPr id="12" name="Shape 10"/>
          <p:cNvSpPr/>
          <p:nvPr/>
        </p:nvSpPr>
        <p:spPr>
          <a:xfrm>
            <a:off x="841248" y="2944368"/>
            <a:ext cx="146304" cy="146304"/>
          </a:xfrm>
          <a:prstGeom prst="ellipse">
            <a:avLst/>
          </a:prstGeom>
          <a:solidFill>
            <a:srgbClr val="2E8B57"/>
          </a:solidFill>
          <a:ln/>
        </p:spPr>
      </p:sp>
      <p:sp>
        <p:nvSpPr>
          <p:cNvPr id="13" name="Text 11"/>
          <p:cNvSpPr txBox="1"/>
          <p:nvPr/>
        </p:nvSpPr>
        <p:spPr>
          <a:xfrm>
            <a:off x="1115568" y="2871216"/>
            <a:ext cx="4663440" cy="256032"/>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Multi-channel breadth</a:t>
            </a:r>
            <a:endParaRPr lang="en-US" sz="1150" dirty="0"/>
          </a:p>
        </p:txBody>
      </p:sp>
      <p:sp>
        <p:nvSpPr>
          <p:cNvPr id="14" name="Text 12"/>
          <p:cNvSpPr txBox="1"/>
          <p:nvPr/>
        </p:nvSpPr>
        <p:spPr>
          <a:xfrm>
            <a:off x="1115568" y="3118104"/>
            <a:ext cx="4663440" cy="329184"/>
          </a:xfrm>
          <a:prstGeom prst="rect">
            <a:avLst/>
          </a:prstGeom>
          <a:noFill/>
          <a:ln/>
        </p:spPr>
        <p:txBody>
          <a:bodyPr wrap="square" lIns="0" tIns="0" rIns="0" bIns="0" rtlCol="0" anchor="ctr"/>
          <a:lstStyle/>
          <a:p>
            <a:pPr indent="0" marL="0">
              <a:buNone/>
            </a:pPr>
            <a:r>
              <a:rPr lang="en-US" sz="850" dirty="0">
                <a:solidFill>
                  <a:srgbClr val="1A2733"/>
                </a:solidFill>
                <a:latin typeface="Calibri" pitchFamily="34" charset="0"/>
                <a:ea typeface="Calibri" pitchFamily="34" charset="-122"/>
                <a:cs typeface="Calibri" pitchFamily="34" charset="-120"/>
              </a:rPr>
              <a:t>Most competitors are WhatsApp-first or single-platform</a:t>
            </a:r>
            <a:endParaRPr lang="en-US" sz="850" dirty="0"/>
          </a:p>
        </p:txBody>
      </p:sp>
      <p:sp>
        <p:nvSpPr>
          <p:cNvPr id="15" name="Shape 13"/>
          <p:cNvSpPr/>
          <p:nvPr/>
        </p:nvSpPr>
        <p:spPr>
          <a:xfrm>
            <a:off x="841248" y="3566160"/>
            <a:ext cx="146304" cy="146304"/>
          </a:xfrm>
          <a:prstGeom prst="ellipse">
            <a:avLst/>
          </a:prstGeom>
          <a:solidFill>
            <a:srgbClr val="2E8B57"/>
          </a:solidFill>
          <a:ln/>
        </p:spPr>
      </p:sp>
      <p:sp>
        <p:nvSpPr>
          <p:cNvPr id="16" name="Text 14"/>
          <p:cNvSpPr txBox="1"/>
          <p:nvPr/>
        </p:nvSpPr>
        <p:spPr>
          <a:xfrm>
            <a:off x="1115568" y="3493008"/>
            <a:ext cx="4663440" cy="256032"/>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Compliance shipped by default</a:t>
            </a:r>
            <a:endParaRPr lang="en-US" sz="1150" dirty="0"/>
          </a:p>
        </p:txBody>
      </p:sp>
      <p:sp>
        <p:nvSpPr>
          <p:cNvPr id="17" name="Text 15"/>
          <p:cNvSpPr txBox="1"/>
          <p:nvPr/>
        </p:nvSpPr>
        <p:spPr>
          <a:xfrm>
            <a:off x="1115568" y="3739896"/>
            <a:ext cx="4663440" cy="329184"/>
          </a:xfrm>
          <a:prstGeom prst="rect">
            <a:avLst/>
          </a:prstGeom>
          <a:noFill/>
          <a:ln/>
        </p:spPr>
        <p:txBody>
          <a:bodyPr wrap="square" lIns="0" tIns="0" rIns="0" bIns="0" rtlCol="0" anchor="ctr"/>
          <a:lstStyle/>
          <a:p>
            <a:pPr indent="0" marL="0">
              <a:buNone/>
            </a:pPr>
            <a:r>
              <a:rPr lang="en-US" sz="850" dirty="0">
                <a:solidFill>
                  <a:srgbClr val="1A2733"/>
                </a:solidFill>
                <a:latin typeface="Calibri" pitchFamily="34" charset="0"/>
                <a:ea typeface="Calibri" pitchFamily="34" charset="-122"/>
                <a:cs typeface="Calibri" pitchFamily="34" charset="-120"/>
              </a:rPr>
              <a:t>Enforceable since Aug 2026; few vendors do it visibly</a:t>
            </a:r>
            <a:endParaRPr lang="en-US" sz="850" dirty="0"/>
          </a:p>
        </p:txBody>
      </p:sp>
      <p:sp>
        <p:nvSpPr>
          <p:cNvPr id="18" name="Shape 16"/>
          <p:cNvSpPr/>
          <p:nvPr/>
        </p:nvSpPr>
        <p:spPr>
          <a:xfrm>
            <a:off x="841248" y="4187952"/>
            <a:ext cx="146304" cy="146304"/>
          </a:xfrm>
          <a:prstGeom prst="ellipse">
            <a:avLst/>
          </a:prstGeom>
          <a:solidFill>
            <a:srgbClr val="2E8B57"/>
          </a:solidFill>
          <a:ln/>
        </p:spPr>
      </p:sp>
      <p:sp>
        <p:nvSpPr>
          <p:cNvPr id="19" name="Text 17"/>
          <p:cNvSpPr txBox="1"/>
          <p:nvPr/>
        </p:nvSpPr>
        <p:spPr>
          <a:xfrm>
            <a:off x="1115568" y="4114800"/>
            <a:ext cx="4663440" cy="256032"/>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Flat, predictable pricing</a:t>
            </a:r>
            <a:endParaRPr lang="en-US" sz="1150" dirty="0"/>
          </a:p>
        </p:txBody>
      </p:sp>
      <p:sp>
        <p:nvSpPr>
          <p:cNvPr id="20" name="Text 18"/>
          <p:cNvSpPr txBox="1"/>
          <p:nvPr/>
        </p:nvSpPr>
        <p:spPr>
          <a:xfrm>
            <a:off x="1115568" y="4361688"/>
            <a:ext cx="4663440" cy="329184"/>
          </a:xfrm>
          <a:prstGeom prst="rect">
            <a:avLst/>
          </a:prstGeom>
          <a:noFill/>
          <a:ln/>
        </p:spPr>
        <p:txBody>
          <a:bodyPr wrap="square" lIns="0" tIns="0" rIns="0" bIns="0" rtlCol="0" anchor="ctr"/>
          <a:lstStyle/>
          <a:p>
            <a:pPr indent="0" marL="0">
              <a:buNone/>
            </a:pPr>
            <a:r>
              <a:rPr lang="en-US" sz="850" dirty="0">
                <a:solidFill>
                  <a:srgbClr val="1A2733"/>
                </a:solidFill>
                <a:latin typeface="Calibri" pitchFamily="34" charset="0"/>
                <a:ea typeface="Calibri" pitchFamily="34" charset="-122"/>
                <a:cs typeface="Calibri" pitchFamily="34" charset="-120"/>
              </a:rPr>
              <a:t>Billing confusion is the loudest complaint in the category</a:t>
            </a:r>
            <a:endParaRPr lang="en-US" sz="850" dirty="0"/>
          </a:p>
        </p:txBody>
      </p:sp>
      <p:sp>
        <p:nvSpPr>
          <p:cNvPr id="21" name="Shape 19"/>
          <p:cNvSpPr/>
          <p:nvPr/>
        </p:nvSpPr>
        <p:spPr>
          <a:xfrm>
            <a:off x="6217920" y="1143000"/>
            <a:ext cx="5394960" cy="3657600"/>
          </a:xfrm>
          <a:prstGeom prst="roundRect">
            <a:avLst>
              <a:gd name="adj" fmla="val 1750"/>
            </a:avLst>
          </a:prstGeom>
          <a:solidFill>
            <a:srgbClr val="F7EDEE"/>
          </a:solidFill>
          <a:ln w="12700">
            <a:solidFill>
              <a:srgbClr val="B23A48"/>
            </a:solidFill>
            <a:prstDash val="solid"/>
          </a:ln>
        </p:spPr>
      </p:sp>
      <p:sp>
        <p:nvSpPr>
          <p:cNvPr id="22" name="Text 20"/>
          <p:cNvSpPr txBox="1"/>
          <p:nvPr/>
        </p:nvSpPr>
        <p:spPr>
          <a:xfrm>
            <a:off x="6446520" y="1261872"/>
            <a:ext cx="3657600" cy="256032"/>
          </a:xfrm>
          <a:prstGeom prst="rect">
            <a:avLst/>
          </a:prstGeom>
          <a:noFill/>
          <a:ln/>
        </p:spPr>
        <p:txBody>
          <a:bodyPr wrap="square" lIns="0" tIns="0" rIns="0" bIns="0" rtlCol="0" anchor="ctr"/>
          <a:lstStyle/>
          <a:p>
            <a:pPr indent="0" marL="0">
              <a:buNone/>
            </a:pPr>
            <a:r>
              <a:rPr lang="en-US" sz="1050" b="1" spc="150" kern="0" dirty="0">
                <a:solidFill>
                  <a:srgbClr val="B23A48"/>
                </a:solidFill>
                <a:latin typeface="Calibri" pitchFamily="34" charset="0"/>
                <a:ea typeface="Calibri" pitchFamily="34" charset="-122"/>
                <a:cs typeface="Calibri" pitchFamily="34" charset="-120"/>
              </a:rPr>
              <a:t>HONEST WEAKNESSES</a:t>
            </a:r>
            <a:endParaRPr lang="en-US" sz="1050" dirty="0"/>
          </a:p>
        </p:txBody>
      </p:sp>
      <p:sp>
        <p:nvSpPr>
          <p:cNvPr id="23" name="Shape 21"/>
          <p:cNvSpPr/>
          <p:nvPr/>
        </p:nvSpPr>
        <p:spPr>
          <a:xfrm>
            <a:off x="6510528" y="1700784"/>
            <a:ext cx="146304" cy="146304"/>
          </a:xfrm>
          <a:prstGeom prst="ellipse">
            <a:avLst/>
          </a:prstGeom>
          <a:solidFill>
            <a:srgbClr val="B23A48"/>
          </a:solidFill>
          <a:ln/>
        </p:spPr>
      </p:sp>
      <p:sp>
        <p:nvSpPr>
          <p:cNvPr id="24" name="Text 22"/>
          <p:cNvSpPr txBox="1"/>
          <p:nvPr/>
        </p:nvSpPr>
        <p:spPr>
          <a:xfrm>
            <a:off x="6784848" y="1627632"/>
            <a:ext cx="4663440" cy="256032"/>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Price is not a weapon</a:t>
            </a:r>
            <a:endParaRPr lang="en-US" sz="1150" dirty="0"/>
          </a:p>
        </p:txBody>
      </p:sp>
      <p:sp>
        <p:nvSpPr>
          <p:cNvPr id="25" name="Text 23"/>
          <p:cNvSpPr txBox="1"/>
          <p:nvPr/>
        </p:nvSpPr>
        <p:spPr>
          <a:xfrm>
            <a:off x="6784848" y="1874520"/>
            <a:ext cx="4663440" cy="329184"/>
          </a:xfrm>
          <a:prstGeom prst="rect">
            <a:avLst/>
          </a:prstGeom>
          <a:noFill/>
          <a:ln/>
        </p:spPr>
        <p:txBody>
          <a:bodyPr wrap="square" lIns="0" tIns="0" rIns="0" bIns="0" rtlCol="0" anchor="ctr"/>
          <a:lstStyle/>
          <a:p>
            <a:pPr indent="0" marL="0">
              <a:buNone/>
            </a:pPr>
            <a:r>
              <a:rPr lang="en-US" sz="850" dirty="0">
                <a:solidFill>
                  <a:srgbClr val="1A2733"/>
                </a:solidFill>
                <a:latin typeface="Calibri" pitchFamily="34" charset="0"/>
                <a:ea typeface="Calibri" pitchFamily="34" charset="-122"/>
                <a:cs typeface="Calibri" pitchFamily="34" charset="-120"/>
              </a:rPr>
              <a:t>The category is already affordable - one competitor is ~£25/mo with unlimited users</a:t>
            </a:r>
            <a:endParaRPr lang="en-US" sz="850" dirty="0"/>
          </a:p>
        </p:txBody>
      </p:sp>
      <p:sp>
        <p:nvSpPr>
          <p:cNvPr id="26" name="Shape 24"/>
          <p:cNvSpPr/>
          <p:nvPr/>
        </p:nvSpPr>
        <p:spPr>
          <a:xfrm>
            <a:off x="6510528" y="2322576"/>
            <a:ext cx="146304" cy="146304"/>
          </a:xfrm>
          <a:prstGeom prst="ellipse">
            <a:avLst/>
          </a:prstGeom>
          <a:solidFill>
            <a:srgbClr val="B23A48"/>
          </a:solidFill>
          <a:ln/>
        </p:spPr>
      </p:sp>
      <p:sp>
        <p:nvSpPr>
          <p:cNvPr id="27" name="Text 25"/>
          <p:cNvSpPr txBox="1"/>
          <p:nvPr/>
        </p:nvSpPr>
        <p:spPr>
          <a:xfrm>
            <a:off x="6784848" y="2249424"/>
            <a:ext cx="4663440" cy="256032"/>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We enter as a late follower</a:t>
            </a:r>
            <a:endParaRPr lang="en-US" sz="1150" dirty="0"/>
          </a:p>
        </p:txBody>
      </p:sp>
      <p:sp>
        <p:nvSpPr>
          <p:cNvPr id="28" name="Text 26"/>
          <p:cNvSpPr txBox="1"/>
          <p:nvPr/>
        </p:nvSpPr>
        <p:spPr>
          <a:xfrm>
            <a:off x="6784848" y="2496312"/>
            <a:ext cx="4663440" cy="329184"/>
          </a:xfrm>
          <a:prstGeom prst="rect">
            <a:avLst/>
          </a:prstGeom>
          <a:noFill/>
          <a:ln/>
        </p:spPr>
        <p:txBody>
          <a:bodyPr wrap="square" lIns="0" tIns="0" rIns="0" bIns="0" rtlCol="0" anchor="ctr"/>
          <a:lstStyle/>
          <a:p>
            <a:pPr indent="0" marL="0">
              <a:buNone/>
            </a:pPr>
            <a:r>
              <a:rPr lang="en-US" sz="850" dirty="0">
                <a:solidFill>
                  <a:srgbClr val="1A2733"/>
                </a:solidFill>
                <a:latin typeface="Calibri" pitchFamily="34" charset="0"/>
                <a:ea typeface="Calibri" pitchFamily="34" charset="-122"/>
                <a:cs typeface="Calibri" pitchFamily="34" charset="-120"/>
              </a:rPr>
              <a:t>UK incumbents already sell AI quoting to trades from £49-59/month</a:t>
            </a:r>
            <a:endParaRPr lang="en-US" sz="850" dirty="0"/>
          </a:p>
        </p:txBody>
      </p:sp>
      <p:sp>
        <p:nvSpPr>
          <p:cNvPr id="29" name="Shape 27"/>
          <p:cNvSpPr/>
          <p:nvPr/>
        </p:nvSpPr>
        <p:spPr>
          <a:xfrm>
            <a:off x="6510528" y="2944368"/>
            <a:ext cx="146304" cy="146304"/>
          </a:xfrm>
          <a:prstGeom prst="ellipse">
            <a:avLst/>
          </a:prstGeom>
          <a:solidFill>
            <a:srgbClr val="B23A48"/>
          </a:solidFill>
          <a:ln/>
        </p:spPr>
      </p:sp>
      <p:sp>
        <p:nvSpPr>
          <p:cNvPr id="30" name="Text 28"/>
          <p:cNvSpPr txBox="1"/>
          <p:nvPr/>
        </p:nvSpPr>
        <p:spPr>
          <a:xfrm>
            <a:off x="6784848" y="2871216"/>
            <a:ext cx="4663440" cy="256032"/>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Product mode's floor is now free</a:t>
            </a:r>
            <a:endParaRPr lang="en-US" sz="1150" dirty="0"/>
          </a:p>
        </p:txBody>
      </p:sp>
      <p:sp>
        <p:nvSpPr>
          <p:cNvPr id="31" name="Text 29"/>
          <p:cNvSpPr txBox="1"/>
          <p:nvPr/>
        </p:nvSpPr>
        <p:spPr>
          <a:xfrm>
            <a:off x="6784848" y="3118104"/>
            <a:ext cx="4663440" cy="329184"/>
          </a:xfrm>
          <a:prstGeom prst="rect">
            <a:avLst/>
          </a:prstGeom>
          <a:noFill/>
          <a:ln/>
        </p:spPr>
        <p:txBody>
          <a:bodyPr wrap="square" lIns="0" tIns="0" rIns="0" bIns="0" rtlCol="0" anchor="ctr"/>
          <a:lstStyle/>
          <a:p>
            <a:pPr indent="0" marL="0">
              <a:buNone/>
            </a:pPr>
            <a:r>
              <a:rPr lang="en-US" sz="850" dirty="0">
                <a:solidFill>
                  <a:srgbClr val="1A2733"/>
                </a:solidFill>
                <a:latin typeface="Calibri" pitchFamily="34" charset="0"/>
                <a:ea typeface="Calibri" pitchFamily="34" charset="-122"/>
                <a:cs typeface="Calibri" pitchFamily="34" charset="-120"/>
              </a:rPr>
              <a:t>Meta shipped an agent inside WhatsApp in June 2026</a:t>
            </a:r>
            <a:endParaRPr lang="en-US" sz="850" dirty="0"/>
          </a:p>
        </p:txBody>
      </p:sp>
      <p:sp>
        <p:nvSpPr>
          <p:cNvPr id="32" name="Shape 30"/>
          <p:cNvSpPr/>
          <p:nvPr/>
        </p:nvSpPr>
        <p:spPr>
          <a:xfrm>
            <a:off x="6510528" y="3566160"/>
            <a:ext cx="146304" cy="146304"/>
          </a:xfrm>
          <a:prstGeom prst="ellipse">
            <a:avLst/>
          </a:prstGeom>
          <a:solidFill>
            <a:srgbClr val="B23A48"/>
          </a:solidFill>
          <a:ln/>
        </p:spPr>
      </p:sp>
      <p:sp>
        <p:nvSpPr>
          <p:cNvPr id="33" name="Text 31"/>
          <p:cNvSpPr txBox="1"/>
          <p:nvPr/>
        </p:nvSpPr>
        <p:spPr>
          <a:xfrm>
            <a:off x="6784848" y="3493008"/>
            <a:ext cx="4663440" cy="256032"/>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Absence is not proof of demand</a:t>
            </a:r>
            <a:endParaRPr lang="en-US" sz="1150" dirty="0"/>
          </a:p>
        </p:txBody>
      </p:sp>
      <p:sp>
        <p:nvSpPr>
          <p:cNvPr id="34" name="Text 32"/>
          <p:cNvSpPr txBox="1"/>
          <p:nvPr/>
        </p:nvSpPr>
        <p:spPr>
          <a:xfrm>
            <a:off x="6784848" y="3739896"/>
            <a:ext cx="4663440" cy="329184"/>
          </a:xfrm>
          <a:prstGeom prst="rect">
            <a:avLst/>
          </a:prstGeom>
          <a:noFill/>
          <a:ln/>
        </p:spPr>
        <p:txBody>
          <a:bodyPr wrap="square" lIns="0" tIns="0" rIns="0" bIns="0" rtlCol="0" anchor="ctr"/>
          <a:lstStyle/>
          <a:p>
            <a:pPr indent="0" marL="0">
              <a:buNone/>
            </a:pPr>
            <a:r>
              <a:rPr lang="en-US" sz="850" dirty="0">
                <a:solidFill>
                  <a:srgbClr val="1A2733"/>
                </a:solidFill>
                <a:latin typeface="Calibri" pitchFamily="34" charset="0"/>
                <a:ea typeface="Calibri" pitchFamily="34" charset="-122"/>
                <a:cs typeface="Calibri" pitchFamily="34" charset="-120"/>
              </a:rPr>
              <a:t>Nobody may have thought of feasibility - or customers may not care</a:t>
            </a:r>
            <a:endParaRPr lang="en-US" sz="850" dirty="0"/>
          </a:p>
        </p:txBody>
      </p:sp>
      <p:sp>
        <p:nvSpPr>
          <p:cNvPr id="35" name="Shape 33"/>
          <p:cNvSpPr/>
          <p:nvPr/>
        </p:nvSpPr>
        <p:spPr>
          <a:xfrm>
            <a:off x="6510528" y="4187952"/>
            <a:ext cx="146304" cy="146304"/>
          </a:xfrm>
          <a:prstGeom prst="ellipse">
            <a:avLst/>
          </a:prstGeom>
          <a:solidFill>
            <a:srgbClr val="B23A48"/>
          </a:solidFill>
          <a:ln/>
        </p:spPr>
      </p:sp>
      <p:sp>
        <p:nvSpPr>
          <p:cNvPr id="36" name="Text 34"/>
          <p:cNvSpPr txBox="1"/>
          <p:nvPr/>
        </p:nvSpPr>
        <p:spPr>
          <a:xfrm>
            <a:off x="6784848" y="4114800"/>
            <a:ext cx="4663440" cy="256032"/>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Two modes, one small team</a:t>
            </a:r>
            <a:endParaRPr lang="en-US" sz="1150" dirty="0"/>
          </a:p>
        </p:txBody>
      </p:sp>
      <p:sp>
        <p:nvSpPr>
          <p:cNvPr id="37" name="Text 35"/>
          <p:cNvSpPr txBox="1"/>
          <p:nvPr/>
        </p:nvSpPr>
        <p:spPr>
          <a:xfrm>
            <a:off x="6784848" y="4361688"/>
            <a:ext cx="4663440" cy="329184"/>
          </a:xfrm>
          <a:prstGeom prst="rect">
            <a:avLst/>
          </a:prstGeom>
          <a:noFill/>
          <a:ln/>
        </p:spPr>
        <p:txBody>
          <a:bodyPr wrap="square" lIns="0" tIns="0" rIns="0" bIns="0" rtlCol="0" anchor="ctr"/>
          <a:lstStyle/>
          <a:p>
            <a:pPr indent="0" marL="0">
              <a:buNone/>
            </a:pPr>
            <a:r>
              <a:rPr lang="en-US" sz="850" dirty="0">
                <a:solidFill>
                  <a:srgbClr val="1A2733"/>
                </a:solidFill>
                <a:latin typeface="Calibri" pitchFamily="34" charset="0"/>
                <a:ea typeface="Calibri" pitchFamily="34" charset="-122"/>
                <a:cs typeface="Calibri" pitchFamily="34" charset="-120"/>
              </a:rPr>
              <a:t>The shared layer is the cheap part; the valuable parts share little</a:t>
            </a:r>
            <a:endParaRPr lang="en-US" sz="850" dirty="0"/>
          </a:p>
        </p:txBody>
      </p:sp>
      <p:sp>
        <p:nvSpPr>
          <p:cNvPr id="38" name="Shape 36"/>
          <p:cNvSpPr/>
          <p:nvPr/>
        </p:nvSpPr>
        <p:spPr>
          <a:xfrm>
            <a:off x="548640" y="4956048"/>
            <a:ext cx="11064240" cy="914400"/>
          </a:xfrm>
          <a:prstGeom prst="roundRect">
            <a:avLst>
              <a:gd name="adj" fmla="val 7000"/>
            </a:avLst>
          </a:prstGeom>
          <a:solidFill>
            <a:srgbClr val="21295C"/>
          </a:solidFill>
          <a:ln/>
        </p:spPr>
      </p:sp>
      <p:sp>
        <p:nvSpPr>
          <p:cNvPr id="39" name="Text 37"/>
          <p:cNvSpPr txBox="1"/>
          <p:nvPr/>
        </p:nvSpPr>
        <p:spPr>
          <a:xfrm>
            <a:off x="822960" y="5029200"/>
            <a:ext cx="4572000" cy="219456"/>
          </a:xfrm>
          <a:prstGeom prst="rect">
            <a:avLst/>
          </a:prstGeom>
          <a:noFill/>
          <a:ln/>
        </p:spPr>
        <p:txBody>
          <a:bodyPr wrap="square" lIns="0" tIns="0" rIns="0" bIns="0" rtlCol="0" anchor="ctr"/>
          <a:lstStyle/>
          <a:p>
            <a:pPr indent="0" marL="0">
              <a:buNone/>
            </a:pPr>
            <a:r>
              <a:rPr lang="en-US" sz="900" b="1" spc="150" kern="0" dirty="0">
                <a:solidFill>
                  <a:srgbClr val="F2A104"/>
                </a:solidFill>
                <a:latin typeface="Calibri" pitchFamily="34" charset="0"/>
                <a:ea typeface="Calibri" pitchFamily="34" charset="-122"/>
                <a:cs typeface="Calibri" pitchFamily="34" charset="-120"/>
              </a:rPr>
              <a:t>THE POSITIONING IN ONE LINE</a:t>
            </a:r>
            <a:endParaRPr lang="en-US" sz="900" dirty="0"/>
          </a:p>
        </p:txBody>
      </p:sp>
      <p:sp>
        <p:nvSpPr>
          <p:cNvPr id="40" name="Text 38"/>
          <p:cNvSpPr txBox="1"/>
          <p:nvPr/>
        </p:nvSpPr>
        <p:spPr>
          <a:xfrm>
            <a:off x="822960" y="5266944"/>
            <a:ext cx="1051560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only agent that knows whether the business can actually do the job — and never sends a price the owner has not seen.</a:t>
            </a:r>
            <a:endParaRPr lang="en-US" sz="1400" dirty="0"/>
          </a:p>
        </p:txBody>
      </p:sp>
      <p:sp>
        <p:nvSpPr>
          <p:cNvPr id="41" name="Shape 39"/>
          <p:cNvSpPr/>
          <p:nvPr/>
        </p:nvSpPr>
        <p:spPr>
          <a:xfrm>
            <a:off x="548640" y="6053328"/>
            <a:ext cx="11064240" cy="566928"/>
          </a:xfrm>
          <a:prstGeom prst="roundRect">
            <a:avLst>
              <a:gd name="adj" fmla="val 11290"/>
            </a:avLst>
          </a:prstGeom>
          <a:solidFill>
            <a:srgbClr val="F4F7FA"/>
          </a:solidFill>
          <a:ln w="12700">
            <a:solidFill>
              <a:srgbClr val="DCE5EE"/>
            </a:solidFill>
            <a:prstDash val="solid"/>
          </a:ln>
        </p:spPr>
      </p:sp>
      <p:sp>
        <p:nvSpPr>
          <p:cNvPr id="42" name="Text 40"/>
          <p:cNvSpPr txBox="1"/>
          <p:nvPr/>
        </p:nvSpPr>
        <p:spPr>
          <a:xfrm>
            <a:off x="777240" y="6053328"/>
            <a:ext cx="10607040" cy="566928"/>
          </a:xfrm>
          <a:prstGeom prst="rect">
            <a:avLst/>
          </a:prstGeom>
          <a:noFill/>
          <a:ln/>
        </p:spPr>
        <p:txBody>
          <a:bodyPr wrap="square" lIns="0" tIns="0" rIns="0" bIns="0" rtlCol="0" anchor="ctr"/>
          <a:lstStyle/>
          <a:p>
            <a:pPr indent="0" marL="0">
              <a:buNone/>
            </a:pPr>
            <a:r>
              <a:rPr lang="en-US" sz="1050" dirty="0">
                <a:solidFill>
                  <a:srgbClr val="1A2733"/>
                </a:solidFill>
                <a:latin typeface="Calibri" pitchFamily="34" charset="0"/>
                <a:ea typeface="Calibri" pitchFamily="34" charset="-122"/>
                <a:cs typeface="Calibri" pitchFamily="34" charset="-120"/>
              </a:rPr>
              <a:t>The marketplace pitch:  trades pay £16-37.50 per lead and pay even when the customer never replies, with each lead going to 10-20 competitors. “You already paid for this lead - the agent answers in seconds, at midnight, with a real price.”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737360" y="3931920"/>
            <a:ext cx="4389120" cy="4389120"/>
          </a:xfrm>
          <a:prstGeom prst="ellipse">
            <a:avLst/>
          </a:prstGeom>
          <a:solidFill>
            <a:srgbClr val="065A82"/>
          </a:solidFill>
          <a:ln/>
        </p:spPr>
      </p:sp>
      <p:sp>
        <p:nvSpPr>
          <p:cNvPr id="3" name="Text 1"/>
          <p:cNvSpPr txBox="1"/>
          <p:nvPr/>
        </p:nvSpPr>
        <p:spPr>
          <a:xfrm>
            <a:off x="731520" y="685800"/>
            <a:ext cx="7315200" cy="274320"/>
          </a:xfrm>
          <a:prstGeom prst="rect">
            <a:avLst/>
          </a:prstGeom>
          <a:noFill/>
          <a:ln/>
        </p:spPr>
        <p:txBody>
          <a:bodyPr wrap="square" lIns="0" tIns="0" rIns="0" bIns="0" rtlCol="0" anchor="ctr"/>
          <a:lstStyle/>
          <a:p>
            <a:pPr indent="0" marL="0">
              <a:buNone/>
            </a:pPr>
            <a:r>
              <a:rPr lang="en-US" sz="1100" b="1" spc="200" kern="0" dirty="0">
                <a:solidFill>
                  <a:srgbClr val="F2A104"/>
                </a:solidFill>
                <a:latin typeface="Calibri" pitchFamily="34" charset="0"/>
                <a:ea typeface="Calibri" pitchFamily="34" charset="-122"/>
                <a:cs typeface="Calibri" pitchFamily="34" charset="-120"/>
              </a:rPr>
              <a:t>BEFORE WRITING MORE CODE</a:t>
            </a:r>
            <a:endParaRPr lang="en-US" sz="1100" dirty="0"/>
          </a:p>
        </p:txBody>
      </p:sp>
      <p:sp>
        <p:nvSpPr>
          <p:cNvPr id="4" name="Text 2"/>
          <p:cNvSpPr txBox="1"/>
          <p:nvPr/>
        </p:nvSpPr>
        <p:spPr>
          <a:xfrm>
            <a:off x="731520" y="1005840"/>
            <a:ext cx="10058400" cy="603504"/>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Five cheap things that can still change the design</a:t>
            </a:r>
            <a:endParaRPr lang="en-US" sz="3000" dirty="0"/>
          </a:p>
        </p:txBody>
      </p:sp>
      <p:sp>
        <p:nvSpPr>
          <p:cNvPr id="5" name="Shape 3"/>
          <p:cNvSpPr/>
          <p:nvPr/>
        </p:nvSpPr>
        <p:spPr>
          <a:xfrm>
            <a:off x="731520" y="1874520"/>
            <a:ext cx="10698480" cy="722376"/>
          </a:xfrm>
          <a:prstGeom prst="roundRect">
            <a:avLst>
              <a:gd name="adj" fmla="val 8861"/>
            </a:avLst>
          </a:prstGeom>
          <a:solidFill>
            <a:srgbClr val="2E3A6B"/>
          </a:solidFill>
          <a:ln/>
        </p:spPr>
      </p:sp>
      <p:sp>
        <p:nvSpPr>
          <p:cNvPr id="6" name="Shape 4"/>
          <p:cNvSpPr/>
          <p:nvPr/>
        </p:nvSpPr>
        <p:spPr>
          <a:xfrm>
            <a:off x="914400" y="2057400"/>
            <a:ext cx="365760" cy="365760"/>
          </a:xfrm>
          <a:prstGeom prst="ellipse">
            <a:avLst/>
          </a:prstGeom>
          <a:solidFill>
            <a:srgbClr val="F2A104"/>
          </a:solidFill>
          <a:ln/>
        </p:spPr>
      </p:sp>
      <p:sp>
        <p:nvSpPr>
          <p:cNvPr id="7" name="Text 5"/>
          <p:cNvSpPr txBox="1"/>
          <p:nvPr/>
        </p:nvSpPr>
        <p:spPr>
          <a:xfrm>
            <a:off x="914400" y="2057400"/>
            <a:ext cx="365760" cy="365760"/>
          </a:xfrm>
          <a:prstGeom prst="rect">
            <a:avLst/>
          </a:prstGeom>
          <a:noFill/>
          <a:ln/>
        </p:spPr>
        <p:txBody>
          <a:bodyPr wrap="square" lIns="0" tIns="0" rIns="0" bIns="0" rtlCol="0" anchor="ctr"/>
          <a:lstStyle/>
          <a:p>
            <a:pPr algn="ctr" indent="0" marL="0">
              <a:buNone/>
            </a:pPr>
            <a:r>
              <a:rPr lang="en-US" sz="1000" b="1" dirty="0">
                <a:solidFill>
                  <a:srgbClr val="1A2733"/>
                </a:solidFill>
                <a:latin typeface="Calibri" pitchFamily="34" charset="0"/>
                <a:ea typeface="Calibri" pitchFamily="34" charset="-122"/>
                <a:cs typeface="Calibri" pitchFamily="34" charset="-120"/>
              </a:rPr>
              <a:t>1</a:t>
            </a:r>
            <a:endParaRPr lang="en-US" sz="1000" dirty="0"/>
          </a:p>
        </p:txBody>
      </p:sp>
      <p:sp>
        <p:nvSpPr>
          <p:cNvPr id="8" name="Text 6"/>
          <p:cNvSpPr txBox="1"/>
          <p:nvPr/>
        </p:nvSpPr>
        <p:spPr>
          <a:xfrm>
            <a:off x="1417320" y="1929384"/>
            <a:ext cx="4023360" cy="6126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Verify the channel pricing change</a:t>
            </a:r>
            <a:endParaRPr lang="en-US" sz="1350" dirty="0"/>
          </a:p>
        </p:txBody>
      </p:sp>
      <p:sp>
        <p:nvSpPr>
          <p:cNvPr id="9" name="Text 7"/>
          <p:cNvSpPr txBox="1"/>
          <p:nvPr/>
        </p:nvSpPr>
        <p:spPr>
          <a:xfrm>
            <a:off x="5532120" y="1929384"/>
            <a:ext cx="4434840" cy="612648"/>
          </a:xfrm>
          <a:prstGeom prst="rect">
            <a:avLst/>
          </a:prstGeom>
          <a:noFill/>
          <a:ln/>
        </p:spPr>
        <p:txBody>
          <a:bodyPr wrap="square" lIns="0" tIns="0" rIns="0" bIns="0" rtlCol="0" anchor="ctr"/>
          <a:lstStyle/>
          <a:p>
            <a:pPr indent="0" marL="0">
              <a:buNone/>
            </a:pPr>
            <a:r>
              <a:rPr lang="en-US" sz="1000" dirty="0">
                <a:solidFill>
                  <a:srgbClr val="BFD3E6"/>
                </a:solidFill>
                <a:latin typeface="Calibri" pitchFamily="34" charset="0"/>
                <a:ea typeface="Calibri" pitchFamily="34" charset="-122"/>
                <a:cs typeface="Calibri" pitchFamily="34" charset="-120"/>
              </a:rPr>
              <a:t>Affects unit economics and therefore every tier</a:t>
            </a:r>
            <a:endParaRPr lang="en-US" sz="1000" dirty="0"/>
          </a:p>
        </p:txBody>
      </p:sp>
      <p:sp>
        <p:nvSpPr>
          <p:cNvPr id="10" name="Text 8"/>
          <p:cNvSpPr txBox="1"/>
          <p:nvPr/>
        </p:nvSpPr>
        <p:spPr>
          <a:xfrm>
            <a:off x="10058400" y="1929384"/>
            <a:ext cx="1234440" cy="612648"/>
          </a:xfrm>
          <a:prstGeom prst="rect">
            <a:avLst/>
          </a:prstGeom>
          <a:noFill/>
          <a:ln/>
        </p:spPr>
        <p:txBody>
          <a:bodyPr wrap="square" lIns="0" tIns="0" rIns="0" bIns="0" rtlCol="0" anchor="ctr"/>
          <a:lstStyle/>
          <a:p>
            <a:pPr algn="r" indent="0" marL="0">
              <a:buNone/>
            </a:pPr>
            <a:r>
              <a:rPr lang="en-US" sz="1000" b="1" dirty="0">
                <a:solidFill>
                  <a:srgbClr val="F2A104"/>
                </a:solidFill>
                <a:latin typeface="Calibri" pitchFamily="34" charset="0"/>
                <a:ea typeface="Calibri" pitchFamily="34" charset="-122"/>
                <a:cs typeface="Calibri" pitchFamily="34" charset="-120"/>
              </a:rPr>
              <a:t>This week</a:t>
            </a:r>
            <a:endParaRPr lang="en-US" sz="1000" dirty="0"/>
          </a:p>
        </p:txBody>
      </p:sp>
      <p:sp>
        <p:nvSpPr>
          <p:cNvPr id="11" name="Shape 9"/>
          <p:cNvSpPr/>
          <p:nvPr/>
        </p:nvSpPr>
        <p:spPr>
          <a:xfrm>
            <a:off x="731520" y="2724912"/>
            <a:ext cx="10698480" cy="722376"/>
          </a:xfrm>
          <a:prstGeom prst="roundRect">
            <a:avLst>
              <a:gd name="adj" fmla="val 8861"/>
            </a:avLst>
          </a:prstGeom>
          <a:solidFill>
            <a:srgbClr val="2E3A6B"/>
          </a:solidFill>
          <a:ln/>
        </p:spPr>
      </p:sp>
      <p:sp>
        <p:nvSpPr>
          <p:cNvPr id="12" name="Shape 10"/>
          <p:cNvSpPr/>
          <p:nvPr/>
        </p:nvSpPr>
        <p:spPr>
          <a:xfrm>
            <a:off x="914400" y="2907792"/>
            <a:ext cx="365760" cy="365760"/>
          </a:xfrm>
          <a:prstGeom prst="ellipse">
            <a:avLst/>
          </a:prstGeom>
          <a:solidFill>
            <a:srgbClr val="F2A104"/>
          </a:solidFill>
          <a:ln/>
        </p:spPr>
      </p:sp>
      <p:sp>
        <p:nvSpPr>
          <p:cNvPr id="13" name="Text 11"/>
          <p:cNvSpPr txBox="1"/>
          <p:nvPr/>
        </p:nvSpPr>
        <p:spPr>
          <a:xfrm>
            <a:off x="914400" y="2907792"/>
            <a:ext cx="365760" cy="365760"/>
          </a:xfrm>
          <a:prstGeom prst="rect">
            <a:avLst/>
          </a:prstGeom>
          <a:noFill/>
          <a:ln/>
        </p:spPr>
        <p:txBody>
          <a:bodyPr wrap="square" lIns="0" tIns="0" rIns="0" bIns="0" rtlCol="0" anchor="ctr"/>
          <a:lstStyle/>
          <a:p>
            <a:pPr algn="ctr" indent="0" marL="0">
              <a:buNone/>
            </a:pPr>
            <a:r>
              <a:rPr lang="en-US" sz="1000" b="1" dirty="0">
                <a:solidFill>
                  <a:srgbClr val="1A2733"/>
                </a:solidFill>
                <a:latin typeface="Calibri" pitchFamily="34" charset="0"/>
                <a:ea typeface="Calibri" pitchFamily="34" charset="-122"/>
                <a:cs typeface="Calibri" pitchFamily="34" charset="-120"/>
              </a:rPr>
              <a:t>2</a:t>
            </a:r>
            <a:endParaRPr lang="en-US" sz="1000" dirty="0"/>
          </a:p>
        </p:txBody>
      </p:sp>
      <p:sp>
        <p:nvSpPr>
          <p:cNvPr id="14" name="Text 12"/>
          <p:cNvSpPr txBox="1"/>
          <p:nvPr/>
        </p:nvSpPr>
        <p:spPr>
          <a:xfrm>
            <a:off x="1417320" y="2779776"/>
            <a:ext cx="4023360" cy="6126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25-40 customer calls</a:t>
            </a:r>
            <a:endParaRPr lang="en-US" sz="1350" dirty="0"/>
          </a:p>
        </p:txBody>
      </p:sp>
      <p:sp>
        <p:nvSpPr>
          <p:cNvPr id="15" name="Text 13"/>
          <p:cNvSpPr txBox="1"/>
          <p:nvPr/>
        </p:nvSpPr>
        <p:spPr>
          <a:xfrm>
            <a:off x="5532120" y="2779776"/>
            <a:ext cx="4434840" cy="612648"/>
          </a:xfrm>
          <a:prstGeom prst="rect">
            <a:avLst/>
          </a:prstGeom>
          <a:noFill/>
          <a:ln/>
        </p:spPr>
        <p:txBody>
          <a:bodyPr wrap="square" lIns="0" tIns="0" rIns="0" bIns="0" rtlCol="0" anchor="ctr"/>
          <a:lstStyle/>
          <a:p>
            <a:pPr indent="0" marL="0">
              <a:buNone/>
            </a:pPr>
            <a:r>
              <a:rPr lang="en-US" sz="1000" dirty="0">
                <a:solidFill>
                  <a:srgbClr val="BFD3E6"/>
                </a:solidFill>
                <a:latin typeface="Calibri" pitchFamily="34" charset="0"/>
                <a:ea typeface="Calibri" pitchFamily="34" charset="-122"/>
                <a:cs typeface="Calibri" pitchFamily="34" charset="-120"/>
              </a:rPr>
              <a:t>Phone or message? Also tests whether the feasibility gap is real demand</a:t>
            </a:r>
            <a:endParaRPr lang="en-US" sz="1000" dirty="0"/>
          </a:p>
        </p:txBody>
      </p:sp>
      <p:sp>
        <p:nvSpPr>
          <p:cNvPr id="16" name="Text 14"/>
          <p:cNvSpPr txBox="1"/>
          <p:nvPr/>
        </p:nvSpPr>
        <p:spPr>
          <a:xfrm>
            <a:off x="10058400" y="2779776"/>
            <a:ext cx="1234440" cy="612648"/>
          </a:xfrm>
          <a:prstGeom prst="rect">
            <a:avLst/>
          </a:prstGeom>
          <a:noFill/>
          <a:ln/>
        </p:spPr>
        <p:txBody>
          <a:bodyPr wrap="square" lIns="0" tIns="0" rIns="0" bIns="0" rtlCol="0" anchor="ctr"/>
          <a:lstStyle/>
          <a:p>
            <a:pPr algn="r" indent="0" marL="0">
              <a:buNone/>
            </a:pPr>
            <a:r>
              <a:rPr lang="en-US" sz="1000" b="1" dirty="0">
                <a:solidFill>
                  <a:srgbClr val="F2A104"/>
                </a:solidFill>
                <a:latin typeface="Calibri" pitchFamily="34" charset="0"/>
                <a:ea typeface="Calibri" pitchFamily="34" charset="-122"/>
                <a:cs typeface="Calibri" pitchFamily="34" charset="-120"/>
              </a:rPr>
              <a:t>2 days</a:t>
            </a:r>
            <a:endParaRPr lang="en-US" sz="1000" dirty="0"/>
          </a:p>
        </p:txBody>
      </p:sp>
      <p:sp>
        <p:nvSpPr>
          <p:cNvPr id="17" name="Shape 15"/>
          <p:cNvSpPr/>
          <p:nvPr/>
        </p:nvSpPr>
        <p:spPr>
          <a:xfrm>
            <a:off x="731520" y="3575304"/>
            <a:ext cx="10698480" cy="722376"/>
          </a:xfrm>
          <a:prstGeom prst="roundRect">
            <a:avLst>
              <a:gd name="adj" fmla="val 8861"/>
            </a:avLst>
          </a:prstGeom>
          <a:solidFill>
            <a:srgbClr val="2E3A6B"/>
          </a:solidFill>
          <a:ln/>
        </p:spPr>
      </p:sp>
      <p:sp>
        <p:nvSpPr>
          <p:cNvPr id="18" name="Shape 16"/>
          <p:cNvSpPr/>
          <p:nvPr/>
        </p:nvSpPr>
        <p:spPr>
          <a:xfrm>
            <a:off x="914400" y="3758184"/>
            <a:ext cx="365760" cy="365760"/>
          </a:xfrm>
          <a:prstGeom prst="ellipse">
            <a:avLst/>
          </a:prstGeom>
          <a:solidFill>
            <a:srgbClr val="F2A104"/>
          </a:solidFill>
          <a:ln/>
        </p:spPr>
      </p:sp>
      <p:sp>
        <p:nvSpPr>
          <p:cNvPr id="19" name="Text 17"/>
          <p:cNvSpPr txBox="1"/>
          <p:nvPr/>
        </p:nvSpPr>
        <p:spPr>
          <a:xfrm>
            <a:off x="914400" y="3758184"/>
            <a:ext cx="365760" cy="365760"/>
          </a:xfrm>
          <a:prstGeom prst="rect">
            <a:avLst/>
          </a:prstGeom>
          <a:noFill/>
          <a:ln/>
        </p:spPr>
        <p:txBody>
          <a:bodyPr wrap="square" lIns="0" tIns="0" rIns="0" bIns="0" rtlCol="0" anchor="ctr"/>
          <a:lstStyle/>
          <a:p>
            <a:pPr algn="ctr" indent="0" marL="0">
              <a:buNone/>
            </a:pPr>
            <a:r>
              <a:rPr lang="en-US" sz="1000" b="1" dirty="0">
                <a:solidFill>
                  <a:srgbClr val="1A2733"/>
                </a:solidFill>
                <a:latin typeface="Calibri" pitchFamily="34" charset="0"/>
                <a:ea typeface="Calibri" pitchFamily="34" charset="-122"/>
                <a:cs typeface="Calibri" pitchFamily="34" charset="-120"/>
              </a:rPr>
              <a:t>3</a:t>
            </a:r>
            <a:endParaRPr lang="en-US" sz="1000" dirty="0"/>
          </a:p>
        </p:txBody>
      </p:sp>
      <p:sp>
        <p:nvSpPr>
          <p:cNvPr id="20" name="Text 18"/>
          <p:cNvSpPr txBox="1"/>
          <p:nvPr/>
        </p:nvSpPr>
        <p:spPr>
          <a:xfrm>
            <a:off x="1417320" y="3630168"/>
            <a:ext cx="4023360" cy="6126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Ask the platform about checkout links</a:t>
            </a:r>
            <a:endParaRPr lang="en-US" sz="1350" dirty="0"/>
          </a:p>
        </p:txBody>
      </p:sp>
      <p:sp>
        <p:nvSpPr>
          <p:cNvPr id="21" name="Text 19"/>
          <p:cNvSpPr txBox="1"/>
          <p:nvPr/>
        </p:nvSpPr>
        <p:spPr>
          <a:xfrm>
            <a:off x="5532120" y="3630168"/>
            <a:ext cx="4434840" cy="612648"/>
          </a:xfrm>
          <a:prstGeom prst="rect">
            <a:avLst/>
          </a:prstGeom>
          <a:noFill/>
          <a:ln/>
        </p:spPr>
        <p:txBody>
          <a:bodyPr wrap="square" lIns="0" tIns="0" rIns="0" bIns="0" rtlCol="0" anchor="ctr"/>
          <a:lstStyle/>
          <a:p>
            <a:pPr indent="0" marL="0">
              <a:buNone/>
            </a:pPr>
            <a:r>
              <a:rPr lang="en-US" sz="1000" dirty="0">
                <a:solidFill>
                  <a:srgbClr val="BFD3E6"/>
                </a:solidFill>
                <a:latin typeface="Calibri" pitchFamily="34" charset="0"/>
                <a:ea typeface="Calibri" pitchFamily="34" charset="-122"/>
                <a:cs typeface="Calibri" pitchFamily="34" charset="-120"/>
              </a:rPr>
              <a:t>May avoid a 4-8 week privacy review before launch</a:t>
            </a:r>
            <a:endParaRPr lang="en-US" sz="1000" dirty="0"/>
          </a:p>
        </p:txBody>
      </p:sp>
      <p:sp>
        <p:nvSpPr>
          <p:cNvPr id="22" name="Text 20"/>
          <p:cNvSpPr txBox="1"/>
          <p:nvPr/>
        </p:nvSpPr>
        <p:spPr>
          <a:xfrm>
            <a:off x="10058400" y="3630168"/>
            <a:ext cx="1234440" cy="612648"/>
          </a:xfrm>
          <a:prstGeom prst="rect">
            <a:avLst/>
          </a:prstGeom>
          <a:noFill/>
          <a:ln/>
        </p:spPr>
        <p:txBody>
          <a:bodyPr wrap="square" lIns="0" tIns="0" rIns="0" bIns="0" rtlCol="0" anchor="ctr"/>
          <a:lstStyle/>
          <a:p>
            <a:pPr algn="r" indent="0" marL="0">
              <a:buNone/>
            </a:pPr>
            <a:r>
              <a:rPr lang="en-US" sz="1000" b="1" dirty="0">
                <a:solidFill>
                  <a:srgbClr val="F2A104"/>
                </a:solidFill>
                <a:latin typeface="Calibri" pitchFamily="34" charset="0"/>
                <a:ea typeface="Calibri" pitchFamily="34" charset="-122"/>
                <a:cs typeface="Calibri" pitchFamily="34" charset="-120"/>
              </a:rPr>
              <a:t>1 email</a:t>
            </a:r>
            <a:endParaRPr lang="en-US" sz="1000" dirty="0"/>
          </a:p>
        </p:txBody>
      </p:sp>
      <p:sp>
        <p:nvSpPr>
          <p:cNvPr id="23" name="Shape 21"/>
          <p:cNvSpPr/>
          <p:nvPr/>
        </p:nvSpPr>
        <p:spPr>
          <a:xfrm>
            <a:off x="731520" y="4425696"/>
            <a:ext cx="10698480" cy="722376"/>
          </a:xfrm>
          <a:prstGeom prst="roundRect">
            <a:avLst>
              <a:gd name="adj" fmla="val 8861"/>
            </a:avLst>
          </a:prstGeom>
          <a:solidFill>
            <a:srgbClr val="2E3A6B"/>
          </a:solidFill>
          <a:ln/>
        </p:spPr>
      </p:sp>
      <p:sp>
        <p:nvSpPr>
          <p:cNvPr id="24" name="Shape 22"/>
          <p:cNvSpPr/>
          <p:nvPr/>
        </p:nvSpPr>
        <p:spPr>
          <a:xfrm>
            <a:off x="914400" y="4608576"/>
            <a:ext cx="365760" cy="365760"/>
          </a:xfrm>
          <a:prstGeom prst="ellipse">
            <a:avLst/>
          </a:prstGeom>
          <a:solidFill>
            <a:srgbClr val="F2A104"/>
          </a:solidFill>
          <a:ln/>
        </p:spPr>
      </p:sp>
      <p:sp>
        <p:nvSpPr>
          <p:cNvPr id="25" name="Text 23"/>
          <p:cNvSpPr txBox="1"/>
          <p:nvPr/>
        </p:nvSpPr>
        <p:spPr>
          <a:xfrm>
            <a:off x="914400" y="4608576"/>
            <a:ext cx="365760" cy="365760"/>
          </a:xfrm>
          <a:prstGeom prst="rect">
            <a:avLst/>
          </a:prstGeom>
          <a:noFill/>
          <a:ln/>
        </p:spPr>
        <p:txBody>
          <a:bodyPr wrap="square" lIns="0" tIns="0" rIns="0" bIns="0" rtlCol="0" anchor="ctr"/>
          <a:lstStyle/>
          <a:p>
            <a:pPr algn="ctr" indent="0" marL="0">
              <a:buNone/>
            </a:pPr>
            <a:r>
              <a:rPr lang="en-US" sz="1000" b="1" dirty="0">
                <a:solidFill>
                  <a:srgbClr val="1A2733"/>
                </a:solidFill>
                <a:latin typeface="Calibri" pitchFamily="34" charset="0"/>
                <a:ea typeface="Calibri" pitchFamily="34" charset="-122"/>
                <a:cs typeface="Calibri" pitchFamily="34" charset="-120"/>
              </a:rPr>
              <a:t>4</a:t>
            </a:r>
            <a:endParaRPr lang="en-US" sz="1000" dirty="0"/>
          </a:p>
        </p:txBody>
      </p:sp>
      <p:sp>
        <p:nvSpPr>
          <p:cNvPr id="26" name="Text 24"/>
          <p:cNvSpPr txBox="1"/>
          <p:nvPr/>
        </p:nvSpPr>
        <p:spPr>
          <a:xfrm>
            <a:off x="1417320" y="4480560"/>
            <a:ext cx="4023360" cy="6126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Instrument rate-card review time</a:t>
            </a:r>
            <a:endParaRPr lang="en-US" sz="1350" dirty="0"/>
          </a:p>
        </p:txBody>
      </p:sp>
      <p:sp>
        <p:nvSpPr>
          <p:cNvPr id="27" name="Text 25"/>
          <p:cNvSpPr txBox="1"/>
          <p:nvPr/>
        </p:nvSpPr>
        <p:spPr>
          <a:xfrm>
            <a:off x="5532120" y="4480560"/>
            <a:ext cx="4434840" cy="612648"/>
          </a:xfrm>
          <a:prstGeom prst="rect">
            <a:avLst/>
          </a:prstGeom>
          <a:noFill/>
          <a:ln/>
        </p:spPr>
        <p:txBody>
          <a:bodyPr wrap="square" lIns="0" tIns="0" rIns="0" bIns="0" rtlCol="0" anchor="ctr"/>
          <a:lstStyle/>
          <a:p>
            <a:pPr indent="0" marL="0">
              <a:buNone/>
            </a:pPr>
            <a:r>
              <a:rPr lang="en-US" sz="1000" dirty="0">
                <a:solidFill>
                  <a:srgbClr val="BFD3E6"/>
                </a:solidFill>
                <a:latin typeface="Calibri" pitchFamily="34" charset="0"/>
                <a:ea typeface="Calibri" pitchFamily="34" charset="-122"/>
                <a:cs typeface="Calibri" pitchFamily="34" charset="-120"/>
              </a:rPr>
              <a:t>Validates or kills the 15-minute onboarding target</a:t>
            </a:r>
            <a:endParaRPr lang="en-US" sz="1000" dirty="0"/>
          </a:p>
        </p:txBody>
      </p:sp>
      <p:sp>
        <p:nvSpPr>
          <p:cNvPr id="28" name="Text 26"/>
          <p:cNvSpPr txBox="1"/>
          <p:nvPr/>
        </p:nvSpPr>
        <p:spPr>
          <a:xfrm>
            <a:off x="10058400" y="4480560"/>
            <a:ext cx="1234440" cy="612648"/>
          </a:xfrm>
          <a:prstGeom prst="rect">
            <a:avLst/>
          </a:prstGeom>
          <a:noFill/>
          <a:ln/>
        </p:spPr>
        <p:txBody>
          <a:bodyPr wrap="square" lIns="0" tIns="0" rIns="0" bIns="0" rtlCol="0" anchor="ctr"/>
          <a:lstStyle/>
          <a:p>
            <a:pPr algn="r" indent="0" marL="0">
              <a:buNone/>
            </a:pPr>
            <a:r>
              <a:rPr lang="en-US" sz="1000" b="1" dirty="0">
                <a:solidFill>
                  <a:srgbClr val="F2A104"/>
                </a:solidFill>
                <a:latin typeface="Calibri" pitchFamily="34" charset="0"/>
                <a:ea typeface="Calibri" pitchFamily="34" charset="-122"/>
                <a:cs typeface="Calibri" pitchFamily="34" charset="-120"/>
              </a:rPr>
              <a:t>2 weeks</a:t>
            </a:r>
            <a:endParaRPr lang="en-US" sz="1000" dirty="0"/>
          </a:p>
        </p:txBody>
      </p:sp>
      <p:sp>
        <p:nvSpPr>
          <p:cNvPr id="29" name="Shape 27"/>
          <p:cNvSpPr/>
          <p:nvPr/>
        </p:nvSpPr>
        <p:spPr>
          <a:xfrm>
            <a:off x="731520" y="5276088"/>
            <a:ext cx="10698480" cy="722376"/>
          </a:xfrm>
          <a:prstGeom prst="roundRect">
            <a:avLst>
              <a:gd name="adj" fmla="val 8861"/>
            </a:avLst>
          </a:prstGeom>
          <a:solidFill>
            <a:srgbClr val="2E3A6B"/>
          </a:solidFill>
          <a:ln/>
        </p:spPr>
      </p:sp>
      <p:sp>
        <p:nvSpPr>
          <p:cNvPr id="30" name="Shape 28"/>
          <p:cNvSpPr/>
          <p:nvPr/>
        </p:nvSpPr>
        <p:spPr>
          <a:xfrm>
            <a:off x="914400" y="5458968"/>
            <a:ext cx="365760" cy="365760"/>
          </a:xfrm>
          <a:prstGeom prst="ellipse">
            <a:avLst/>
          </a:prstGeom>
          <a:solidFill>
            <a:srgbClr val="F2A104"/>
          </a:solidFill>
          <a:ln/>
        </p:spPr>
      </p:sp>
      <p:sp>
        <p:nvSpPr>
          <p:cNvPr id="31" name="Text 29"/>
          <p:cNvSpPr txBox="1"/>
          <p:nvPr/>
        </p:nvSpPr>
        <p:spPr>
          <a:xfrm>
            <a:off x="914400" y="5458968"/>
            <a:ext cx="365760" cy="365760"/>
          </a:xfrm>
          <a:prstGeom prst="rect">
            <a:avLst/>
          </a:prstGeom>
          <a:noFill/>
          <a:ln/>
        </p:spPr>
        <p:txBody>
          <a:bodyPr wrap="square" lIns="0" tIns="0" rIns="0" bIns="0" rtlCol="0" anchor="ctr"/>
          <a:lstStyle/>
          <a:p>
            <a:pPr algn="ctr" indent="0" marL="0">
              <a:buNone/>
            </a:pPr>
            <a:r>
              <a:rPr lang="en-US" sz="1000" b="1" dirty="0">
                <a:solidFill>
                  <a:srgbClr val="1A2733"/>
                </a:solidFill>
                <a:latin typeface="Calibri" pitchFamily="34" charset="0"/>
                <a:ea typeface="Calibri" pitchFamily="34" charset="-122"/>
                <a:cs typeface="Calibri" pitchFamily="34" charset="-120"/>
              </a:rPr>
              <a:t>5</a:t>
            </a:r>
            <a:endParaRPr lang="en-US" sz="1000" dirty="0"/>
          </a:p>
        </p:txBody>
      </p:sp>
      <p:sp>
        <p:nvSpPr>
          <p:cNvPr id="32" name="Text 30"/>
          <p:cNvSpPr txBox="1"/>
          <p:nvPr/>
        </p:nvSpPr>
        <p:spPr>
          <a:xfrm>
            <a:off x="1417320" y="5330952"/>
            <a:ext cx="4023360" cy="6126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Legal opinion on owner approval</a:t>
            </a:r>
            <a:endParaRPr lang="en-US" sz="1350" dirty="0"/>
          </a:p>
        </p:txBody>
      </p:sp>
      <p:sp>
        <p:nvSpPr>
          <p:cNvPr id="33" name="Text 31"/>
          <p:cNvSpPr txBox="1"/>
          <p:nvPr/>
        </p:nvSpPr>
        <p:spPr>
          <a:xfrm>
            <a:off x="5532120" y="5330952"/>
            <a:ext cx="4434840" cy="612648"/>
          </a:xfrm>
          <a:prstGeom prst="rect">
            <a:avLst/>
          </a:prstGeom>
          <a:noFill/>
          <a:ln/>
        </p:spPr>
        <p:txBody>
          <a:bodyPr wrap="square" lIns="0" tIns="0" rIns="0" bIns="0" rtlCol="0" anchor="ctr"/>
          <a:lstStyle/>
          <a:p>
            <a:pPr indent="0" marL="0">
              <a:buNone/>
            </a:pPr>
            <a:r>
              <a:rPr lang="en-US" sz="1000" dirty="0">
                <a:solidFill>
                  <a:srgbClr val="BFD3E6"/>
                </a:solidFill>
                <a:latin typeface="Calibri" pitchFamily="34" charset="0"/>
                <a:ea typeface="Calibri" pitchFamily="34" charset="-122"/>
                <a:cs typeface="Calibri" pitchFamily="34" charset="-120"/>
              </a:rPr>
              <a:t>Does approval change the legal character of an automated quote?</a:t>
            </a:r>
            <a:endParaRPr lang="en-US" sz="1000" dirty="0"/>
          </a:p>
        </p:txBody>
      </p:sp>
      <p:sp>
        <p:nvSpPr>
          <p:cNvPr id="34" name="Text 32"/>
          <p:cNvSpPr txBox="1"/>
          <p:nvPr/>
        </p:nvSpPr>
        <p:spPr>
          <a:xfrm>
            <a:off x="10058400" y="5330952"/>
            <a:ext cx="1234440" cy="612648"/>
          </a:xfrm>
          <a:prstGeom prst="rect">
            <a:avLst/>
          </a:prstGeom>
          <a:noFill/>
          <a:ln/>
        </p:spPr>
        <p:txBody>
          <a:bodyPr wrap="square" lIns="0" tIns="0" rIns="0" bIns="0" rtlCol="0" anchor="ctr"/>
          <a:lstStyle/>
          <a:p>
            <a:pPr algn="r" indent="0" marL="0">
              <a:buNone/>
            </a:pPr>
            <a:r>
              <a:rPr lang="en-US" sz="1000" b="1" dirty="0">
                <a:solidFill>
                  <a:srgbClr val="F2A104"/>
                </a:solidFill>
                <a:latin typeface="Calibri" pitchFamily="34" charset="0"/>
                <a:ea typeface="Calibri" pitchFamily="34" charset="-122"/>
                <a:cs typeface="Calibri" pitchFamily="34" charset="-120"/>
              </a:rPr>
              <a:t>External</a:t>
            </a:r>
            <a:endParaRPr lang="en-US" sz="1000" dirty="0"/>
          </a:p>
        </p:txBody>
      </p:sp>
      <p:sp>
        <p:nvSpPr>
          <p:cNvPr id="35" name="Text 33"/>
          <p:cNvSpPr txBox="1"/>
          <p:nvPr/>
        </p:nvSpPr>
        <p:spPr>
          <a:xfrm>
            <a:off x="731520" y="6263640"/>
            <a:ext cx="10698480" cy="274320"/>
          </a:xfrm>
          <a:prstGeom prst="rect">
            <a:avLst/>
          </a:prstGeom>
          <a:noFill/>
          <a:ln/>
        </p:spPr>
        <p:txBody>
          <a:bodyPr wrap="square" lIns="0" tIns="0" rIns="0" bIns="0" rtlCol="0" anchor="ctr"/>
          <a:lstStyle/>
          <a:p>
            <a:pPr indent="0" marL="0">
              <a:buNone/>
            </a:pPr>
            <a:r>
              <a:rPr lang="en-US" sz="1100" i="1" dirty="0">
                <a:solidFill>
                  <a:srgbClr val="8FA6C0"/>
                </a:solidFill>
                <a:latin typeface="Calibri" pitchFamily="34" charset="0"/>
                <a:ea typeface="Calibri" pitchFamily="34" charset="-122"/>
                <a:cs typeface="Calibri" pitchFamily="34" charset="-120"/>
              </a:rPr>
              <a:t>Full detail: SYSTEM_DESIGN.md  ·  STRATEGY_FINDINGS.md  ·  research/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Unified AI Customer Agent Platform - Product &amp; System Overview</dc:title>
  <dc:subject>PptxGenJS Presentation</dc:subject>
  <dc:creator>Rivon</dc:creator>
  <cp:lastModifiedBy>Rivon</cp:lastModifiedBy>
  <cp:revision>1</cp:revision>
  <dcterms:created xsi:type="dcterms:W3CDTF">2026-09-26T06:25:15Z</dcterms:created>
  <dcterms:modified xsi:type="dcterms:W3CDTF">2026-09-26T06:25:15Z</dcterms:modified>
</cp:coreProperties>
</file>